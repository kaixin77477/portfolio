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64" r:id="rId6"/>
    <p:sldId id="277" r:id="rId7"/>
    <p:sldId id="279" r:id="rId8"/>
    <p:sldId id="295" r:id="rId9"/>
    <p:sldId id="304" r:id="rId10"/>
    <p:sldId id="299" r:id="rId11"/>
    <p:sldId id="296" r:id="rId12"/>
    <p:sldId id="292" r:id="rId13"/>
    <p:sldId id="302" r:id="rId14"/>
    <p:sldId id="305" r:id="rId15"/>
    <p:sldId id="303" r:id="rId16"/>
    <p:sldId id="285" r:id="rId17"/>
    <p:sldId id="290" r:id="rId18"/>
    <p:sldId id="301" r:id="rId19"/>
    <p:sldId id="270" r:id="rId20"/>
    <p:sldId id="278" r:id="rId21"/>
    <p:sldId id="282" r:id="rId22"/>
    <p:sldId id="271" r:id="rId23"/>
    <p:sldId id="281" r:id="rId24"/>
    <p:sldId id="284" r:id="rId25"/>
    <p:sldId id="291" r:id="rId26"/>
    <p:sldId id="293" r:id="rId27"/>
    <p:sldId id="297" r:id="rId28"/>
    <p:sldId id="266" r:id="rId29"/>
    <p:sldId id="272" r:id="rId30"/>
    <p:sldId id="306" r:id="rId31"/>
    <p:sldId id="275" r:id="rId32"/>
    <p:sldId id="286" r:id="rId33"/>
    <p:sldId id="276" r:id="rId34"/>
    <p:sldId id="298"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A5E9"/>
    <a:srgbClr val="1E2761"/>
    <a:srgbClr val="A855F7"/>
    <a:srgbClr val="9999FF"/>
    <a:srgbClr val="E34BD8"/>
    <a:srgbClr val="F59E0B"/>
    <a:srgbClr val="22C55E"/>
    <a:srgbClr val="4F8EF7"/>
    <a:srgbClr val="14B8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9C46F5-EF0C-B904-1891-E8BA95BB0E46}" v="15" dt="2026-05-05T09:07:41.454"/>
    <p1510:client id="{40EBED2F-B5AD-A3B1-25CC-117D978154C6}" v="195" dt="2026-05-04T15:37:56.692"/>
    <p1510:client id="{63D54FB4-97B4-B849-BC4F-09777D060FC7}" v="8546" dt="2026-05-05T09:33:48.704"/>
    <p1510:client id="{6B78BF2E-9089-4470-8D5D-2004808AB4A1}" v="4327" dt="2026-05-05T11:59:02.372"/>
    <p1510:client id="{7E245220-90BF-5236-0F19-31D5567B90FF}" v="1" dt="2026-05-05T10:07:48.071"/>
    <p1510:client id="{812B1FB4-E311-8D10-A5A1-E3E33A1DEEC7}" v="4" dt="2026-05-05T10:25:34.281"/>
    <p1510:client id="{83E67948-1B18-70E9-3F66-3624526A4654}" v="252" dt="2026-05-04T23:01:49.280"/>
    <p1510:client id="{97D3A2E2-FD5F-2022-0700-CDDCE7DBB72D}" v="28" dt="2026-05-04T22:18:05.273"/>
    <p1510:client id="{9D785C11-D1C9-5248-EE48-4C7AF7E10FB0}" v="4202" dt="2026-05-04T17:43:26.800"/>
    <p1510:client id="{C2ABD05A-5010-4082-B4CA-050A523C7AD7}" v="1458" dt="2026-05-04T19:57:12.8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68A5FF-0850-464D-AEC4-FA7082B23632}"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GB"/>
        </a:p>
      </dgm:t>
    </dgm:pt>
    <dgm:pt modelId="{4BC8D993-B7DE-4553-8AD0-05F26CA2B40A}">
      <dgm:prSet phldrT="[Text]"/>
      <dgm:spPr/>
      <dgm:t>
        <a:bodyPr/>
        <a:lstStyle/>
        <a:p>
          <a:pPr>
            <a:buNone/>
          </a:pPr>
          <a:r>
            <a:rPr lang="en-GB"/>
            <a:t>Raw JSON</a:t>
          </a:r>
        </a:p>
      </dgm:t>
    </dgm:pt>
    <dgm:pt modelId="{990407E7-15A8-42E7-B207-F43A4E16CF7F}" type="parTrans" cxnId="{49440F42-E04D-4C70-9F54-04F01F80DFD1}">
      <dgm:prSet/>
      <dgm:spPr/>
      <dgm:t>
        <a:bodyPr/>
        <a:lstStyle/>
        <a:p>
          <a:endParaRPr lang="en-GB"/>
        </a:p>
      </dgm:t>
    </dgm:pt>
    <dgm:pt modelId="{CCBB0112-3A0F-4FF9-B351-45D2494228BE}" type="sibTrans" cxnId="{49440F42-E04D-4C70-9F54-04F01F80DFD1}">
      <dgm:prSet/>
      <dgm:spPr/>
      <dgm:t>
        <a:bodyPr/>
        <a:lstStyle/>
        <a:p>
          <a:endParaRPr lang="en-GB"/>
        </a:p>
      </dgm:t>
    </dgm:pt>
    <dgm:pt modelId="{FB187BDF-6F2D-4EB6-972D-E20C5C6DD31C}">
      <dgm:prSet phldrT="[Text]"/>
      <dgm:spPr/>
      <dgm:t>
        <a:bodyPr/>
        <a:lstStyle/>
        <a:p>
          <a:pPr>
            <a:buNone/>
          </a:pPr>
          <a:r>
            <a:rPr lang="en-GB"/>
            <a:t>Validation</a:t>
          </a:r>
        </a:p>
      </dgm:t>
    </dgm:pt>
    <dgm:pt modelId="{00B84927-BB6A-4C59-BE62-926695D5EBC1}" type="parTrans" cxnId="{092CA807-8A83-4297-BF27-B4223998DAB9}">
      <dgm:prSet/>
      <dgm:spPr/>
      <dgm:t>
        <a:bodyPr/>
        <a:lstStyle/>
        <a:p>
          <a:endParaRPr lang="en-GB"/>
        </a:p>
      </dgm:t>
    </dgm:pt>
    <dgm:pt modelId="{836745D2-ACCC-4433-AEB5-D0ECD81373F4}" type="sibTrans" cxnId="{092CA807-8A83-4297-BF27-B4223998DAB9}">
      <dgm:prSet/>
      <dgm:spPr/>
      <dgm:t>
        <a:bodyPr/>
        <a:lstStyle/>
        <a:p>
          <a:endParaRPr lang="en-GB"/>
        </a:p>
      </dgm:t>
    </dgm:pt>
    <dgm:pt modelId="{E0157E57-9231-414E-8E1B-54B79F5AFDDC}">
      <dgm:prSet phldrT="[Text]"/>
      <dgm:spPr/>
      <dgm:t>
        <a:bodyPr/>
        <a:lstStyle/>
        <a:p>
          <a:pPr>
            <a:buNone/>
          </a:pPr>
          <a:r>
            <a:rPr lang="en-GB"/>
            <a:t>Cleaned request </a:t>
          </a:r>
        </a:p>
      </dgm:t>
    </dgm:pt>
    <dgm:pt modelId="{92584FD7-C791-4E8F-9358-AB951444BEDE}" type="parTrans" cxnId="{748B3F84-36EB-426A-A632-63A7F2FF27A4}">
      <dgm:prSet/>
      <dgm:spPr/>
      <dgm:t>
        <a:bodyPr/>
        <a:lstStyle/>
        <a:p>
          <a:endParaRPr lang="en-GB"/>
        </a:p>
      </dgm:t>
    </dgm:pt>
    <dgm:pt modelId="{561746A1-89DB-4295-8A10-2CEBD720E417}" type="sibTrans" cxnId="{748B3F84-36EB-426A-A632-63A7F2FF27A4}">
      <dgm:prSet/>
      <dgm:spPr/>
      <dgm:t>
        <a:bodyPr/>
        <a:lstStyle/>
        <a:p>
          <a:endParaRPr lang="en-GB"/>
        </a:p>
      </dgm:t>
    </dgm:pt>
    <dgm:pt modelId="{3B159F2B-A901-4BA5-A80C-3CD0CF2F56B4}">
      <dgm:prSet/>
      <dgm:spPr/>
      <dgm:t>
        <a:bodyPr/>
        <a:lstStyle/>
        <a:p>
          <a:pPr>
            <a:buNone/>
          </a:pPr>
          <a:r>
            <a:rPr lang="en-GB"/>
            <a:t>Model input</a:t>
          </a:r>
        </a:p>
      </dgm:t>
    </dgm:pt>
    <dgm:pt modelId="{A0BAAD29-AFF8-451C-8881-577DC4D5B175}" type="parTrans" cxnId="{72AC330D-FC03-48D6-BC0F-E8DA271F88AB}">
      <dgm:prSet/>
      <dgm:spPr/>
      <dgm:t>
        <a:bodyPr/>
        <a:lstStyle/>
        <a:p>
          <a:endParaRPr lang="en-GB"/>
        </a:p>
      </dgm:t>
    </dgm:pt>
    <dgm:pt modelId="{15461B8E-E249-4BDD-9436-62CDF5C6376C}" type="sibTrans" cxnId="{72AC330D-FC03-48D6-BC0F-E8DA271F88AB}">
      <dgm:prSet/>
      <dgm:spPr/>
      <dgm:t>
        <a:bodyPr/>
        <a:lstStyle/>
        <a:p>
          <a:endParaRPr lang="en-GB"/>
        </a:p>
      </dgm:t>
    </dgm:pt>
    <dgm:pt modelId="{ADD65F33-CF78-4469-810F-3001077D7E24}" type="pres">
      <dgm:prSet presAssocID="{B168A5FF-0850-464D-AEC4-FA7082B23632}" presName="rootnode" presStyleCnt="0">
        <dgm:presLayoutVars>
          <dgm:chMax/>
          <dgm:chPref/>
          <dgm:dir/>
          <dgm:animLvl val="lvl"/>
        </dgm:presLayoutVars>
      </dgm:prSet>
      <dgm:spPr/>
    </dgm:pt>
    <dgm:pt modelId="{4893BBA1-A7DD-4243-B2F2-408101891DAC}" type="pres">
      <dgm:prSet presAssocID="{4BC8D993-B7DE-4553-8AD0-05F26CA2B40A}" presName="composite" presStyleCnt="0"/>
      <dgm:spPr/>
    </dgm:pt>
    <dgm:pt modelId="{5F2C1B81-3014-422B-A9E6-99A870DC939F}" type="pres">
      <dgm:prSet presAssocID="{4BC8D993-B7DE-4553-8AD0-05F26CA2B40A}" presName="bentUpArrow1" presStyleLbl="alignImgPlace1" presStyleIdx="0" presStyleCnt="3"/>
      <dgm:spPr/>
    </dgm:pt>
    <dgm:pt modelId="{D8947848-9755-4306-8B28-1CE9E4B40CBE}" type="pres">
      <dgm:prSet presAssocID="{4BC8D993-B7DE-4553-8AD0-05F26CA2B40A}" presName="ParentText" presStyleLbl="node1" presStyleIdx="0" presStyleCnt="4">
        <dgm:presLayoutVars>
          <dgm:chMax val="1"/>
          <dgm:chPref val="1"/>
          <dgm:bulletEnabled val="1"/>
        </dgm:presLayoutVars>
      </dgm:prSet>
      <dgm:spPr/>
    </dgm:pt>
    <dgm:pt modelId="{3F026F3D-040F-4BFD-9751-3AC0CBDAD527}" type="pres">
      <dgm:prSet presAssocID="{4BC8D993-B7DE-4553-8AD0-05F26CA2B40A}" presName="ChildText" presStyleLbl="revTx" presStyleIdx="0" presStyleCnt="3">
        <dgm:presLayoutVars>
          <dgm:chMax val="0"/>
          <dgm:chPref val="0"/>
          <dgm:bulletEnabled val="1"/>
        </dgm:presLayoutVars>
      </dgm:prSet>
      <dgm:spPr/>
    </dgm:pt>
    <dgm:pt modelId="{401A7DFA-1FD7-450D-9310-4F39BD244898}" type="pres">
      <dgm:prSet presAssocID="{CCBB0112-3A0F-4FF9-B351-45D2494228BE}" presName="sibTrans" presStyleCnt="0"/>
      <dgm:spPr/>
    </dgm:pt>
    <dgm:pt modelId="{E7852D36-B256-4400-B982-7FD610E9289C}" type="pres">
      <dgm:prSet presAssocID="{FB187BDF-6F2D-4EB6-972D-E20C5C6DD31C}" presName="composite" presStyleCnt="0"/>
      <dgm:spPr/>
    </dgm:pt>
    <dgm:pt modelId="{618147DA-9CA3-4297-9F9D-41E237A55115}" type="pres">
      <dgm:prSet presAssocID="{FB187BDF-6F2D-4EB6-972D-E20C5C6DD31C}" presName="bentUpArrow1" presStyleLbl="alignImgPlace1" presStyleIdx="1" presStyleCnt="3"/>
      <dgm:spPr/>
    </dgm:pt>
    <dgm:pt modelId="{926A92E4-3769-4DC9-9E42-7524A9874353}" type="pres">
      <dgm:prSet presAssocID="{FB187BDF-6F2D-4EB6-972D-E20C5C6DD31C}" presName="ParentText" presStyleLbl="node1" presStyleIdx="1" presStyleCnt="4">
        <dgm:presLayoutVars>
          <dgm:chMax val="1"/>
          <dgm:chPref val="1"/>
          <dgm:bulletEnabled val="1"/>
        </dgm:presLayoutVars>
      </dgm:prSet>
      <dgm:spPr/>
    </dgm:pt>
    <dgm:pt modelId="{A783BF6B-20DF-42AF-8CA4-42625E052ACE}" type="pres">
      <dgm:prSet presAssocID="{FB187BDF-6F2D-4EB6-972D-E20C5C6DD31C}" presName="ChildText" presStyleLbl="revTx" presStyleIdx="1" presStyleCnt="3">
        <dgm:presLayoutVars>
          <dgm:chMax val="0"/>
          <dgm:chPref val="0"/>
          <dgm:bulletEnabled val="1"/>
        </dgm:presLayoutVars>
      </dgm:prSet>
      <dgm:spPr/>
    </dgm:pt>
    <dgm:pt modelId="{30CA2E67-8ECD-4AD6-92E6-871345AF056E}" type="pres">
      <dgm:prSet presAssocID="{836745D2-ACCC-4433-AEB5-D0ECD81373F4}" presName="sibTrans" presStyleCnt="0"/>
      <dgm:spPr/>
    </dgm:pt>
    <dgm:pt modelId="{0CA05F9D-755C-4F68-A043-3EF04663F7AA}" type="pres">
      <dgm:prSet presAssocID="{E0157E57-9231-414E-8E1B-54B79F5AFDDC}" presName="composite" presStyleCnt="0"/>
      <dgm:spPr/>
    </dgm:pt>
    <dgm:pt modelId="{0E496B22-85DA-4D8A-893D-11F95BA25FD0}" type="pres">
      <dgm:prSet presAssocID="{E0157E57-9231-414E-8E1B-54B79F5AFDDC}" presName="bentUpArrow1" presStyleLbl="alignImgPlace1" presStyleIdx="2" presStyleCnt="3"/>
      <dgm:spPr/>
    </dgm:pt>
    <dgm:pt modelId="{8CB3878D-19FA-4FF0-8458-A6F8B3B7BED5}" type="pres">
      <dgm:prSet presAssocID="{E0157E57-9231-414E-8E1B-54B79F5AFDDC}" presName="ParentText" presStyleLbl="node1" presStyleIdx="2" presStyleCnt="4">
        <dgm:presLayoutVars>
          <dgm:chMax val="1"/>
          <dgm:chPref val="1"/>
          <dgm:bulletEnabled val="1"/>
        </dgm:presLayoutVars>
      </dgm:prSet>
      <dgm:spPr/>
    </dgm:pt>
    <dgm:pt modelId="{DEF1BA0F-3EF8-41F5-B73E-50B5BDF9D9F5}" type="pres">
      <dgm:prSet presAssocID="{E0157E57-9231-414E-8E1B-54B79F5AFDDC}" presName="ChildText" presStyleLbl="revTx" presStyleIdx="2" presStyleCnt="3">
        <dgm:presLayoutVars>
          <dgm:chMax val="0"/>
          <dgm:chPref val="0"/>
          <dgm:bulletEnabled val="1"/>
        </dgm:presLayoutVars>
      </dgm:prSet>
      <dgm:spPr/>
    </dgm:pt>
    <dgm:pt modelId="{BA90637F-FC66-400A-A672-EC597CD831C8}" type="pres">
      <dgm:prSet presAssocID="{561746A1-89DB-4295-8A10-2CEBD720E417}" presName="sibTrans" presStyleCnt="0"/>
      <dgm:spPr/>
    </dgm:pt>
    <dgm:pt modelId="{49670B2A-3B06-45E0-B5EE-64E3E01E3DE0}" type="pres">
      <dgm:prSet presAssocID="{3B159F2B-A901-4BA5-A80C-3CD0CF2F56B4}" presName="composite" presStyleCnt="0"/>
      <dgm:spPr/>
    </dgm:pt>
    <dgm:pt modelId="{CBD972C1-82F1-4502-9ADF-5DEA65294732}" type="pres">
      <dgm:prSet presAssocID="{3B159F2B-A901-4BA5-A80C-3CD0CF2F56B4}" presName="ParentText" presStyleLbl="node1" presStyleIdx="3" presStyleCnt="4">
        <dgm:presLayoutVars>
          <dgm:chMax val="1"/>
          <dgm:chPref val="1"/>
          <dgm:bulletEnabled val="1"/>
        </dgm:presLayoutVars>
      </dgm:prSet>
      <dgm:spPr/>
    </dgm:pt>
  </dgm:ptLst>
  <dgm:cxnLst>
    <dgm:cxn modelId="{092CA807-8A83-4297-BF27-B4223998DAB9}" srcId="{B168A5FF-0850-464D-AEC4-FA7082B23632}" destId="{FB187BDF-6F2D-4EB6-972D-E20C5C6DD31C}" srcOrd="1" destOrd="0" parTransId="{00B84927-BB6A-4C59-BE62-926695D5EBC1}" sibTransId="{836745D2-ACCC-4433-AEB5-D0ECD81373F4}"/>
    <dgm:cxn modelId="{72AC330D-FC03-48D6-BC0F-E8DA271F88AB}" srcId="{B168A5FF-0850-464D-AEC4-FA7082B23632}" destId="{3B159F2B-A901-4BA5-A80C-3CD0CF2F56B4}" srcOrd="3" destOrd="0" parTransId="{A0BAAD29-AFF8-451C-8881-577DC4D5B175}" sibTransId="{15461B8E-E249-4BDD-9436-62CDF5C6376C}"/>
    <dgm:cxn modelId="{49440F42-E04D-4C70-9F54-04F01F80DFD1}" srcId="{B168A5FF-0850-464D-AEC4-FA7082B23632}" destId="{4BC8D993-B7DE-4553-8AD0-05F26CA2B40A}" srcOrd="0" destOrd="0" parTransId="{990407E7-15A8-42E7-B207-F43A4E16CF7F}" sibTransId="{CCBB0112-3A0F-4FF9-B351-45D2494228BE}"/>
    <dgm:cxn modelId="{F394F143-93C7-4030-B466-A227C7352AD0}" type="presOf" srcId="{B168A5FF-0850-464D-AEC4-FA7082B23632}" destId="{ADD65F33-CF78-4469-810F-3001077D7E24}" srcOrd="0" destOrd="0" presId="urn:microsoft.com/office/officeart/2005/8/layout/StepDownProcess"/>
    <dgm:cxn modelId="{629BDC78-2830-4AE1-9454-9D16428F66A0}" type="presOf" srcId="{E0157E57-9231-414E-8E1B-54B79F5AFDDC}" destId="{8CB3878D-19FA-4FF0-8458-A6F8B3B7BED5}" srcOrd="0" destOrd="0" presId="urn:microsoft.com/office/officeart/2005/8/layout/StepDownProcess"/>
    <dgm:cxn modelId="{7831447C-2453-4620-95B0-18AF51BB86F0}" type="presOf" srcId="{4BC8D993-B7DE-4553-8AD0-05F26CA2B40A}" destId="{D8947848-9755-4306-8B28-1CE9E4B40CBE}" srcOrd="0" destOrd="0" presId="urn:microsoft.com/office/officeart/2005/8/layout/StepDownProcess"/>
    <dgm:cxn modelId="{748B3F84-36EB-426A-A632-63A7F2FF27A4}" srcId="{B168A5FF-0850-464D-AEC4-FA7082B23632}" destId="{E0157E57-9231-414E-8E1B-54B79F5AFDDC}" srcOrd="2" destOrd="0" parTransId="{92584FD7-C791-4E8F-9358-AB951444BEDE}" sibTransId="{561746A1-89DB-4295-8A10-2CEBD720E417}"/>
    <dgm:cxn modelId="{0C862B8B-1329-45F5-AB34-B115DDC8A3D4}" type="presOf" srcId="{3B159F2B-A901-4BA5-A80C-3CD0CF2F56B4}" destId="{CBD972C1-82F1-4502-9ADF-5DEA65294732}" srcOrd="0" destOrd="0" presId="urn:microsoft.com/office/officeart/2005/8/layout/StepDownProcess"/>
    <dgm:cxn modelId="{491DE4D5-D5B8-4C4E-9A77-0C5CF05FEF7F}" type="presOf" srcId="{FB187BDF-6F2D-4EB6-972D-E20C5C6DD31C}" destId="{926A92E4-3769-4DC9-9E42-7524A9874353}" srcOrd="0" destOrd="0" presId="urn:microsoft.com/office/officeart/2005/8/layout/StepDownProcess"/>
    <dgm:cxn modelId="{2332E525-38E6-462E-A65F-5638462314FB}" type="presParOf" srcId="{ADD65F33-CF78-4469-810F-3001077D7E24}" destId="{4893BBA1-A7DD-4243-B2F2-408101891DAC}" srcOrd="0" destOrd="0" presId="urn:microsoft.com/office/officeart/2005/8/layout/StepDownProcess"/>
    <dgm:cxn modelId="{D5A8D1CD-09AF-4B4B-8D15-EDE680EE9681}" type="presParOf" srcId="{4893BBA1-A7DD-4243-B2F2-408101891DAC}" destId="{5F2C1B81-3014-422B-A9E6-99A870DC939F}" srcOrd="0" destOrd="0" presId="urn:microsoft.com/office/officeart/2005/8/layout/StepDownProcess"/>
    <dgm:cxn modelId="{01C95F39-BB86-439E-B023-6694FE4F004E}" type="presParOf" srcId="{4893BBA1-A7DD-4243-B2F2-408101891DAC}" destId="{D8947848-9755-4306-8B28-1CE9E4B40CBE}" srcOrd="1" destOrd="0" presId="urn:microsoft.com/office/officeart/2005/8/layout/StepDownProcess"/>
    <dgm:cxn modelId="{B2151777-866D-4F0D-B19A-38BC4CC302ED}" type="presParOf" srcId="{4893BBA1-A7DD-4243-B2F2-408101891DAC}" destId="{3F026F3D-040F-4BFD-9751-3AC0CBDAD527}" srcOrd="2" destOrd="0" presId="urn:microsoft.com/office/officeart/2005/8/layout/StepDownProcess"/>
    <dgm:cxn modelId="{EE81231C-1FCF-427B-A613-22FB4489E23D}" type="presParOf" srcId="{ADD65F33-CF78-4469-810F-3001077D7E24}" destId="{401A7DFA-1FD7-450D-9310-4F39BD244898}" srcOrd="1" destOrd="0" presId="urn:microsoft.com/office/officeart/2005/8/layout/StepDownProcess"/>
    <dgm:cxn modelId="{D61EAF97-3226-4E21-B09B-48DDEC022161}" type="presParOf" srcId="{ADD65F33-CF78-4469-810F-3001077D7E24}" destId="{E7852D36-B256-4400-B982-7FD610E9289C}" srcOrd="2" destOrd="0" presId="urn:microsoft.com/office/officeart/2005/8/layout/StepDownProcess"/>
    <dgm:cxn modelId="{A1E32134-3915-401A-8518-B4D399BD25E1}" type="presParOf" srcId="{E7852D36-B256-4400-B982-7FD610E9289C}" destId="{618147DA-9CA3-4297-9F9D-41E237A55115}" srcOrd="0" destOrd="0" presId="urn:microsoft.com/office/officeart/2005/8/layout/StepDownProcess"/>
    <dgm:cxn modelId="{8A16D536-1ED2-44B0-9384-B7D59AEE56DC}" type="presParOf" srcId="{E7852D36-B256-4400-B982-7FD610E9289C}" destId="{926A92E4-3769-4DC9-9E42-7524A9874353}" srcOrd="1" destOrd="0" presId="urn:microsoft.com/office/officeart/2005/8/layout/StepDownProcess"/>
    <dgm:cxn modelId="{AB7F6254-18DF-47C6-BC9A-778D6A1FC6A8}" type="presParOf" srcId="{E7852D36-B256-4400-B982-7FD610E9289C}" destId="{A783BF6B-20DF-42AF-8CA4-42625E052ACE}" srcOrd="2" destOrd="0" presId="urn:microsoft.com/office/officeart/2005/8/layout/StepDownProcess"/>
    <dgm:cxn modelId="{CBD12A12-A81A-436F-AAA4-22FC15367F9C}" type="presParOf" srcId="{ADD65F33-CF78-4469-810F-3001077D7E24}" destId="{30CA2E67-8ECD-4AD6-92E6-871345AF056E}" srcOrd="3" destOrd="0" presId="urn:microsoft.com/office/officeart/2005/8/layout/StepDownProcess"/>
    <dgm:cxn modelId="{3A75A1AE-4C68-495C-81D4-ABB11E7566AB}" type="presParOf" srcId="{ADD65F33-CF78-4469-810F-3001077D7E24}" destId="{0CA05F9D-755C-4F68-A043-3EF04663F7AA}" srcOrd="4" destOrd="0" presId="urn:microsoft.com/office/officeart/2005/8/layout/StepDownProcess"/>
    <dgm:cxn modelId="{72A9CA27-483A-4764-BF30-DA2FE1F9724A}" type="presParOf" srcId="{0CA05F9D-755C-4F68-A043-3EF04663F7AA}" destId="{0E496B22-85DA-4D8A-893D-11F95BA25FD0}" srcOrd="0" destOrd="0" presId="urn:microsoft.com/office/officeart/2005/8/layout/StepDownProcess"/>
    <dgm:cxn modelId="{63F6B67D-DBC3-4136-B8F4-D97E182FB1FF}" type="presParOf" srcId="{0CA05F9D-755C-4F68-A043-3EF04663F7AA}" destId="{8CB3878D-19FA-4FF0-8458-A6F8B3B7BED5}" srcOrd="1" destOrd="0" presId="urn:microsoft.com/office/officeart/2005/8/layout/StepDownProcess"/>
    <dgm:cxn modelId="{F4FBE215-DF27-4A15-B7CC-97A07036C9A8}" type="presParOf" srcId="{0CA05F9D-755C-4F68-A043-3EF04663F7AA}" destId="{DEF1BA0F-3EF8-41F5-B73E-50B5BDF9D9F5}" srcOrd="2" destOrd="0" presId="urn:microsoft.com/office/officeart/2005/8/layout/StepDownProcess"/>
    <dgm:cxn modelId="{A092E4BE-EC4D-4F00-BA81-3E8077F56C8E}" type="presParOf" srcId="{ADD65F33-CF78-4469-810F-3001077D7E24}" destId="{BA90637F-FC66-400A-A672-EC597CD831C8}" srcOrd="5" destOrd="0" presId="urn:microsoft.com/office/officeart/2005/8/layout/StepDownProcess"/>
    <dgm:cxn modelId="{7DC1E9CA-56E5-40F2-AF93-C290E364F2BF}" type="presParOf" srcId="{ADD65F33-CF78-4469-810F-3001077D7E24}" destId="{49670B2A-3B06-45E0-B5EE-64E3E01E3DE0}" srcOrd="6" destOrd="0" presId="urn:microsoft.com/office/officeart/2005/8/layout/StepDownProcess"/>
    <dgm:cxn modelId="{EF4C6D6F-B814-4EE5-A723-486C4C4BF427}" type="presParOf" srcId="{49670B2A-3B06-45E0-B5EE-64E3E01E3DE0}" destId="{CBD972C1-82F1-4502-9ADF-5DEA65294732}"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FBA186-B9AF-45BC-88FE-C71A5F57EBF2}"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GB"/>
        </a:p>
      </dgm:t>
    </dgm:pt>
    <dgm:pt modelId="{3E2444F2-2EF2-4D7E-9FC6-8F2193B3E4C0}">
      <dgm:prSet phldrT="[Text]"/>
      <dgm:spPr/>
      <dgm:t>
        <a:bodyPr/>
        <a:lstStyle/>
        <a:p>
          <a:r>
            <a:rPr lang="en-GB"/>
            <a:t>Cleaned request</a:t>
          </a:r>
        </a:p>
      </dgm:t>
    </dgm:pt>
    <dgm:pt modelId="{3B13DCC5-430F-47ED-A29A-B044D8C8B9BF}" type="parTrans" cxnId="{6D50751E-ADD2-4696-B5A9-3CC1D9F58E5D}">
      <dgm:prSet/>
      <dgm:spPr/>
      <dgm:t>
        <a:bodyPr/>
        <a:lstStyle/>
        <a:p>
          <a:endParaRPr lang="en-GB"/>
        </a:p>
      </dgm:t>
    </dgm:pt>
    <dgm:pt modelId="{210C0518-9BFC-4B00-B47F-10D2C0FAA231}" type="sibTrans" cxnId="{6D50751E-ADD2-4696-B5A9-3CC1D9F58E5D}">
      <dgm:prSet/>
      <dgm:spPr/>
      <dgm:t>
        <a:bodyPr/>
        <a:lstStyle/>
        <a:p>
          <a:endParaRPr lang="en-GB"/>
        </a:p>
      </dgm:t>
    </dgm:pt>
    <dgm:pt modelId="{CC38B0C7-84C1-4C01-B5F9-74742677A9C7}">
      <dgm:prSet phldrT="[Text]"/>
      <dgm:spPr/>
      <dgm:t>
        <a:bodyPr/>
        <a:lstStyle/>
        <a:p>
          <a:r>
            <a:rPr lang="en-GB"/>
            <a:t>Tom’s model logic</a:t>
          </a:r>
        </a:p>
      </dgm:t>
    </dgm:pt>
    <dgm:pt modelId="{B9247AAB-963C-4297-83F3-A2E59984C4DF}" type="parTrans" cxnId="{D52193B8-B9E2-4D05-B72B-25DA2DABE905}">
      <dgm:prSet/>
      <dgm:spPr/>
      <dgm:t>
        <a:bodyPr/>
        <a:lstStyle/>
        <a:p>
          <a:endParaRPr lang="en-GB"/>
        </a:p>
      </dgm:t>
    </dgm:pt>
    <dgm:pt modelId="{D9C023E4-A1D0-4478-B319-6B6F3E884DC6}" type="sibTrans" cxnId="{D52193B8-B9E2-4D05-B72B-25DA2DABE905}">
      <dgm:prSet/>
      <dgm:spPr/>
      <dgm:t>
        <a:bodyPr/>
        <a:lstStyle/>
        <a:p>
          <a:endParaRPr lang="en-GB"/>
        </a:p>
      </dgm:t>
    </dgm:pt>
    <dgm:pt modelId="{5766F155-A5F7-4389-994E-D6D67292EB1B}">
      <dgm:prSet phldrT="[Text]"/>
      <dgm:spPr/>
      <dgm:t>
        <a:bodyPr/>
        <a:lstStyle/>
        <a:p>
          <a:r>
            <a:rPr lang="en-GB"/>
            <a:t>Optimised allocation</a:t>
          </a:r>
        </a:p>
      </dgm:t>
    </dgm:pt>
    <dgm:pt modelId="{C889EBA4-1B53-43D6-AC07-D26B3F8EB5FA}" type="parTrans" cxnId="{065B38AF-5901-487D-AB37-26D7056344C2}">
      <dgm:prSet/>
      <dgm:spPr/>
      <dgm:t>
        <a:bodyPr/>
        <a:lstStyle/>
        <a:p>
          <a:endParaRPr lang="en-GB"/>
        </a:p>
      </dgm:t>
    </dgm:pt>
    <dgm:pt modelId="{14607F6C-1903-43EE-88D8-5DB7688F6D26}" type="sibTrans" cxnId="{065B38AF-5901-487D-AB37-26D7056344C2}">
      <dgm:prSet/>
      <dgm:spPr/>
      <dgm:t>
        <a:bodyPr/>
        <a:lstStyle/>
        <a:p>
          <a:endParaRPr lang="en-GB"/>
        </a:p>
      </dgm:t>
    </dgm:pt>
    <dgm:pt modelId="{B9FEC6E4-3E4C-4227-A20B-E485BC14B865}">
      <dgm:prSet phldrT="[Text]"/>
      <dgm:spPr/>
      <dgm:t>
        <a:bodyPr/>
        <a:lstStyle/>
        <a:p>
          <a:r>
            <a:rPr lang="en-GB"/>
            <a:t>Monte </a:t>
          </a:r>
          <a:r>
            <a:rPr lang="en-GB" err="1"/>
            <a:t>carlo</a:t>
          </a:r>
          <a:r>
            <a:rPr lang="en-GB"/>
            <a:t> projection</a:t>
          </a:r>
        </a:p>
      </dgm:t>
    </dgm:pt>
    <dgm:pt modelId="{BF3BEAF1-8C84-4635-8947-85AB6B75A790}" type="parTrans" cxnId="{6AA3F883-85A7-4760-9542-DDADCCA46B84}">
      <dgm:prSet/>
      <dgm:spPr/>
      <dgm:t>
        <a:bodyPr/>
        <a:lstStyle/>
        <a:p>
          <a:endParaRPr lang="en-GB"/>
        </a:p>
      </dgm:t>
    </dgm:pt>
    <dgm:pt modelId="{D51ED6C3-1110-4E02-97A7-C944279E74D8}" type="sibTrans" cxnId="{6AA3F883-85A7-4760-9542-DDADCCA46B84}">
      <dgm:prSet/>
      <dgm:spPr/>
      <dgm:t>
        <a:bodyPr/>
        <a:lstStyle/>
        <a:p>
          <a:endParaRPr lang="en-GB"/>
        </a:p>
      </dgm:t>
    </dgm:pt>
    <dgm:pt modelId="{B83B375B-4598-4C60-9D46-79A8DAFD8494}" type="pres">
      <dgm:prSet presAssocID="{FCFBA186-B9AF-45BC-88FE-C71A5F57EBF2}" presName="rootnode" presStyleCnt="0">
        <dgm:presLayoutVars>
          <dgm:chMax/>
          <dgm:chPref/>
          <dgm:dir/>
          <dgm:animLvl val="lvl"/>
        </dgm:presLayoutVars>
      </dgm:prSet>
      <dgm:spPr/>
    </dgm:pt>
    <dgm:pt modelId="{FCE814C9-D66C-46E6-A4B8-E845EEEADB74}" type="pres">
      <dgm:prSet presAssocID="{3E2444F2-2EF2-4D7E-9FC6-8F2193B3E4C0}" presName="composite" presStyleCnt="0"/>
      <dgm:spPr/>
    </dgm:pt>
    <dgm:pt modelId="{3173376E-9A6C-4B55-B79A-D9490E31B135}" type="pres">
      <dgm:prSet presAssocID="{3E2444F2-2EF2-4D7E-9FC6-8F2193B3E4C0}" presName="bentUpArrow1" presStyleLbl="alignImgPlace1" presStyleIdx="0" presStyleCnt="3"/>
      <dgm:spPr/>
    </dgm:pt>
    <dgm:pt modelId="{8C679480-FEBD-4964-8A7C-32387329B46A}" type="pres">
      <dgm:prSet presAssocID="{3E2444F2-2EF2-4D7E-9FC6-8F2193B3E4C0}" presName="ParentText" presStyleLbl="node1" presStyleIdx="0" presStyleCnt="4">
        <dgm:presLayoutVars>
          <dgm:chMax val="1"/>
          <dgm:chPref val="1"/>
          <dgm:bulletEnabled val="1"/>
        </dgm:presLayoutVars>
      </dgm:prSet>
      <dgm:spPr/>
    </dgm:pt>
    <dgm:pt modelId="{0C4E1BF4-FFA6-48FC-85D9-F49476C6E0F4}" type="pres">
      <dgm:prSet presAssocID="{3E2444F2-2EF2-4D7E-9FC6-8F2193B3E4C0}" presName="ChildText" presStyleLbl="revTx" presStyleIdx="0" presStyleCnt="3">
        <dgm:presLayoutVars>
          <dgm:chMax val="0"/>
          <dgm:chPref val="0"/>
          <dgm:bulletEnabled val="1"/>
        </dgm:presLayoutVars>
      </dgm:prSet>
      <dgm:spPr/>
    </dgm:pt>
    <dgm:pt modelId="{4D8F451B-8404-4C07-B0FA-38E8782A1598}" type="pres">
      <dgm:prSet presAssocID="{210C0518-9BFC-4B00-B47F-10D2C0FAA231}" presName="sibTrans" presStyleCnt="0"/>
      <dgm:spPr/>
    </dgm:pt>
    <dgm:pt modelId="{8837BF58-54FE-44DF-B7BA-9EE25EB27BC9}" type="pres">
      <dgm:prSet presAssocID="{CC38B0C7-84C1-4C01-B5F9-74742677A9C7}" presName="composite" presStyleCnt="0"/>
      <dgm:spPr/>
    </dgm:pt>
    <dgm:pt modelId="{C7147ED8-E406-4098-9B7C-33F2F208CAA3}" type="pres">
      <dgm:prSet presAssocID="{CC38B0C7-84C1-4C01-B5F9-74742677A9C7}" presName="bentUpArrow1" presStyleLbl="alignImgPlace1" presStyleIdx="1" presStyleCnt="3"/>
      <dgm:spPr/>
    </dgm:pt>
    <dgm:pt modelId="{2402D057-9B06-4B6F-9335-35AA83989587}" type="pres">
      <dgm:prSet presAssocID="{CC38B0C7-84C1-4C01-B5F9-74742677A9C7}" presName="ParentText" presStyleLbl="node1" presStyleIdx="1" presStyleCnt="4">
        <dgm:presLayoutVars>
          <dgm:chMax val="1"/>
          <dgm:chPref val="1"/>
          <dgm:bulletEnabled val="1"/>
        </dgm:presLayoutVars>
      </dgm:prSet>
      <dgm:spPr/>
    </dgm:pt>
    <dgm:pt modelId="{DFF74A41-FBCA-48A4-BEDE-EFBD67BD49F2}" type="pres">
      <dgm:prSet presAssocID="{CC38B0C7-84C1-4C01-B5F9-74742677A9C7}" presName="ChildText" presStyleLbl="revTx" presStyleIdx="1" presStyleCnt="3">
        <dgm:presLayoutVars>
          <dgm:chMax val="0"/>
          <dgm:chPref val="0"/>
          <dgm:bulletEnabled val="1"/>
        </dgm:presLayoutVars>
      </dgm:prSet>
      <dgm:spPr/>
    </dgm:pt>
    <dgm:pt modelId="{5F08195A-ED63-42F8-BD6A-2794C87EB0F5}" type="pres">
      <dgm:prSet presAssocID="{D9C023E4-A1D0-4478-B319-6B6F3E884DC6}" presName="sibTrans" presStyleCnt="0"/>
      <dgm:spPr/>
    </dgm:pt>
    <dgm:pt modelId="{A4478867-E286-4032-9B67-F0B4C8D9BF07}" type="pres">
      <dgm:prSet presAssocID="{5766F155-A5F7-4389-994E-D6D67292EB1B}" presName="composite" presStyleCnt="0"/>
      <dgm:spPr/>
    </dgm:pt>
    <dgm:pt modelId="{3827A8E1-8BF6-4736-BF7D-FC9558E079A5}" type="pres">
      <dgm:prSet presAssocID="{5766F155-A5F7-4389-994E-D6D67292EB1B}" presName="bentUpArrow1" presStyleLbl="alignImgPlace1" presStyleIdx="2" presStyleCnt="3"/>
      <dgm:spPr/>
    </dgm:pt>
    <dgm:pt modelId="{3ACE48BC-777B-4187-A2B1-52221A05A373}" type="pres">
      <dgm:prSet presAssocID="{5766F155-A5F7-4389-994E-D6D67292EB1B}" presName="ParentText" presStyleLbl="node1" presStyleIdx="2" presStyleCnt="4">
        <dgm:presLayoutVars>
          <dgm:chMax val="1"/>
          <dgm:chPref val="1"/>
          <dgm:bulletEnabled val="1"/>
        </dgm:presLayoutVars>
      </dgm:prSet>
      <dgm:spPr/>
    </dgm:pt>
    <dgm:pt modelId="{EC118012-8D5B-417C-A23C-1B2CF2617C80}" type="pres">
      <dgm:prSet presAssocID="{5766F155-A5F7-4389-994E-D6D67292EB1B}" presName="ChildText" presStyleLbl="revTx" presStyleIdx="2" presStyleCnt="3">
        <dgm:presLayoutVars>
          <dgm:chMax val="0"/>
          <dgm:chPref val="0"/>
          <dgm:bulletEnabled val="1"/>
        </dgm:presLayoutVars>
      </dgm:prSet>
      <dgm:spPr/>
    </dgm:pt>
    <dgm:pt modelId="{7EC8AC44-38E6-449C-8E6B-C4E51F203F71}" type="pres">
      <dgm:prSet presAssocID="{14607F6C-1903-43EE-88D8-5DB7688F6D26}" presName="sibTrans" presStyleCnt="0"/>
      <dgm:spPr/>
    </dgm:pt>
    <dgm:pt modelId="{87AC936C-66E3-4F7D-8845-F3E4856292FD}" type="pres">
      <dgm:prSet presAssocID="{B9FEC6E4-3E4C-4227-A20B-E485BC14B865}" presName="composite" presStyleCnt="0"/>
      <dgm:spPr/>
    </dgm:pt>
    <dgm:pt modelId="{F09E5D96-DDFE-4076-A54D-E386095EF22A}" type="pres">
      <dgm:prSet presAssocID="{B9FEC6E4-3E4C-4227-A20B-E485BC14B865}" presName="ParentText" presStyleLbl="node1" presStyleIdx="3" presStyleCnt="4">
        <dgm:presLayoutVars>
          <dgm:chMax val="1"/>
          <dgm:chPref val="1"/>
          <dgm:bulletEnabled val="1"/>
        </dgm:presLayoutVars>
      </dgm:prSet>
      <dgm:spPr/>
    </dgm:pt>
  </dgm:ptLst>
  <dgm:cxnLst>
    <dgm:cxn modelId="{6D5E6809-6089-40ED-B53F-C6EF73520215}" type="presOf" srcId="{5766F155-A5F7-4389-994E-D6D67292EB1B}" destId="{3ACE48BC-777B-4187-A2B1-52221A05A373}" srcOrd="0" destOrd="0" presId="urn:microsoft.com/office/officeart/2005/8/layout/StepDownProcess"/>
    <dgm:cxn modelId="{6D530618-A143-4F18-8096-6658244ED0A7}" type="presOf" srcId="{3E2444F2-2EF2-4D7E-9FC6-8F2193B3E4C0}" destId="{8C679480-FEBD-4964-8A7C-32387329B46A}" srcOrd="0" destOrd="0" presId="urn:microsoft.com/office/officeart/2005/8/layout/StepDownProcess"/>
    <dgm:cxn modelId="{6D50751E-ADD2-4696-B5A9-3CC1D9F58E5D}" srcId="{FCFBA186-B9AF-45BC-88FE-C71A5F57EBF2}" destId="{3E2444F2-2EF2-4D7E-9FC6-8F2193B3E4C0}" srcOrd="0" destOrd="0" parTransId="{3B13DCC5-430F-47ED-A29A-B044D8C8B9BF}" sibTransId="{210C0518-9BFC-4B00-B47F-10D2C0FAA231}"/>
    <dgm:cxn modelId="{6110902C-5AF5-4A31-A8EE-B42F732BF273}" type="presOf" srcId="{FCFBA186-B9AF-45BC-88FE-C71A5F57EBF2}" destId="{B83B375B-4598-4C60-9D46-79A8DAFD8494}" srcOrd="0" destOrd="0" presId="urn:microsoft.com/office/officeart/2005/8/layout/StepDownProcess"/>
    <dgm:cxn modelId="{6AA3F883-85A7-4760-9542-DDADCCA46B84}" srcId="{FCFBA186-B9AF-45BC-88FE-C71A5F57EBF2}" destId="{B9FEC6E4-3E4C-4227-A20B-E485BC14B865}" srcOrd="3" destOrd="0" parTransId="{BF3BEAF1-8C84-4635-8947-85AB6B75A790}" sibTransId="{D51ED6C3-1110-4E02-97A7-C944279E74D8}"/>
    <dgm:cxn modelId="{065B38AF-5901-487D-AB37-26D7056344C2}" srcId="{FCFBA186-B9AF-45BC-88FE-C71A5F57EBF2}" destId="{5766F155-A5F7-4389-994E-D6D67292EB1B}" srcOrd="2" destOrd="0" parTransId="{C889EBA4-1B53-43D6-AC07-D26B3F8EB5FA}" sibTransId="{14607F6C-1903-43EE-88D8-5DB7688F6D26}"/>
    <dgm:cxn modelId="{D52193B8-B9E2-4D05-B72B-25DA2DABE905}" srcId="{FCFBA186-B9AF-45BC-88FE-C71A5F57EBF2}" destId="{CC38B0C7-84C1-4C01-B5F9-74742677A9C7}" srcOrd="1" destOrd="0" parTransId="{B9247AAB-963C-4297-83F3-A2E59984C4DF}" sibTransId="{D9C023E4-A1D0-4478-B319-6B6F3E884DC6}"/>
    <dgm:cxn modelId="{873FC7C6-3962-4DB1-9035-204BD3836F9B}" type="presOf" srcId="{CC38B0C7-84C1-4C01-B5F9-74742677A9C7}" destId="{2402D057-9B06-4B6F-9335-35AA83989587}" srcOrd="0" destOrd="0" presId="urn:microsoft.com/office/officeart/2005/8/layout/StepDownProcess"/>
    <dgm:cxn modelId="{2C6E85DC-5998-49C6-B4EF-B79F9DE37CBB}" type="presOf" srcId="{B9FEC6E4-3E4C-4227-A20B-E485BC14B865}" destId="{F09E5D96-DDFE-4076-A54D-E386095EF22A}" srcOrd="0" destOrd="0" presId="urn:microsoft.com/office/officeart/2005/8/layout/StepDownProcess"/>
    <dgm:cxn modelId="{C9DA74C7-BAB8-4031-BB7D-E692572564D9}" type="presParOf" srcId="{B83B375B-4598-4C60-9D46-79A8DAFD8494}" destId="{FCE814C9-D66C-46E6-A4B8-E845EEEADB74}" srcOrd="0" destOrd="0" presId="urn:microsoft.com/office/officeart/2005/8/layout/StepDownProcess"/>
    <dgm:cxn modelId="{26ADED12-E65E-48EA-9BF6-8BF809F9A8ED}" type="presParOf" srcId="{FCE814C9-D66C-46E6-A4B8-E845EEEADB74}" destId="{3173376E-9A6C-4B55-B79A-D9490E31B135}" srcOrd="0" destOrd="0" presId="urn:microsoft.com/office/officeart/2005/8/layout/StepDownProcess"/>
    <dgm:cxn modelId="{C511EE5B-2228-441B-800E-DA1C00768FA5}" type="presParOf" srcId="{FCE814C9-D66C-46E6-A4B8-E845EEEADB74}" destId="{8C679480-FEBD-4964-8A7C-32387329B46A}" srcOrd="1" destOrd="0" presId="urn:microsoft.com/office/officeart/2005/8/layout/StepDownProcess"/>
    <dgm:cxn modelId="{39D5AEBB-41CC-41C6-987F-862B9689CC21}" type="presParOf" srcId="{FCE814C9-D66C-46E6-A4B8-E845EEEADB74}" destId="{0C4E1BF4-FFA6-48FC-85D9-F49476C6E0F4}" srcOrd="2" destOrd="0" presId="urn:microsoft.com/office/officeart/2005/8/layout/StepDownProcess"/>
    <dgm:cxn modelId="{8E4007A6-F113-4E59-8DD3-C074FC5FC020}" type="presParOf" srcId="{B83B375B-4598-4C60-9D46-79A8DAFD8494}" destId="{4D8F451B-8404-4C07-B0FA-38E8782A1598}" srcOrd="1" destOrd="0" presId="urn:microsoft.com/office/officeart/2005/8/layout/StepDownProcess"/>
    <dgm:cxn modelId="{77002B5B-7F12-4FE4-9FFF-D933F08380A9}" type="presParOf" srcId="{B83B375B-4598-4C60-9D46-79A8DAFD8494}" destId="{8837BF58-54FE-44DF-B7BA-9EE25EB27BC9}" srcOrd="2" destOrd="0" presId="urn:microsoft.com/office/officeart/2005/8/layout/StepDownProcess"/>
    <dgm:cxn modelId="{71E7CB66-8125-4A51-8658-3C5BEFC9907C}" type="presParOf" srcId="{8837BF58-54FE-44DF-B7BA-9EE25EB27BC9}" destId="{C7147ED8-E406-4098-9B7C-33F2F208CAA3}" srcOrd="0" destOrd="0" presId="urn:microsoft.com/office/officeart/2005/8/layout/StepDownProcess"/>
    <dgm:cxn modelId="{F0874F45-E496-4BD3-9A36-58DE8924E89E}" type="presParOf" srcId="{8837BF58-54FE-44DF-B7BA-9EE25EB27BC9}" destId="{2402D057-9B06-4B6F-9335-35AA83989587}" srcOrd="1" destOrd="0" presId="urn:microsoft.com/office/officeart/2005/8/layout/StepDownProcess"/>
    <dgm:cxn modelId="{F7E2D211-4A58-4D67-A968-79F83976153D}" type="presParOf" srcId="{8837BF58-54FE-44DF-B7BA-9EE25EB27BC9}" destId="{DFF74A41-FBCA-48A4-BEDE-EFBD67BD49F2}" srcOrd="2" destOrd="0" presId="urn:microsoft.com/office/officeart/2005/8/layout/StepDownProcess"/>
    <dgm:cxn modelId="{052347EF-5A54-4E3F-BBB0-9839228BC81B}" type="presParOf" srcId="{B83B375B-4598-4C60-9D46-79A8DAFD8494}" destId="{5F08195A-ED63-42F8-BD6A-2794C87EB0F5}" srcOrd="3" destOrd="0" presId="urn:microsoft.com/office/officeart/2005/8/layout/StepDownProcess"/>
    <dgm:cxn modelId="{C3EE5834-3A5E-49CE-A526-DC8A703AFC07}" type="presParOf" srcId="{B83B375B-4598-4C60-9D46-79A8DAFD8494}" destId="{A4478867-E286-4032-9B67-F0B4C8D9BF07}" srcOrd="4" destOrd="0" presId="urn:microsoft.com/office/officeart/2005/8/layout/StepDownProcess"/>
    <dgm:cxn modelId="{9A462F03-C9EA-48D9-9817-9A851FB1EC68}" type="presParOf" srcId="{A4478867-E286-4032-9B67-F0B4C8D9BF07}" destId="{3827A8E1-8BF6-4736-BF7D-FC9558E079A5}" srcOrd="0" destOrd="0" presId="urn:microsoft.com/office/officeart/2005/8/layout/StepDownProcess"/>
    <dgm:cxn modelId="{FC6AF037-D63F-453D-829F-B11B6939FF7B}" type="presParOf" srcId="{A4478867-E286-4032-9B67-F0B4C8D9BF07}" destId="{3ACE48BC-777B-4187-A2B1-52221A05A373}" srcOrd="1" destOrd="0" presId="urn:microsoft.com/office/officeart/2005/8/layout/StepDownProcess"/>
    <dgm:cxn modelId="{2F8F86EB-6754-462A-957A-094F1FCCE35A}" type="presParOf" srcId="{A4478867-E286-4032-9B67-F0B4C8D9BF07}" destId="{EC118012-8D5B-417C-A23C-1B2CF2617C80}" srcOrd="2" destOrd="0" presId="urn:microsoft.com/office/officeart/2005/8/layout/StepDownProcess"/>
    <dgm:cxn modelId="{7F24E3EE-7637-470F-91F3-2A441878CECA}" type="presParOf" srcId="{B83B375B-4598-4C60-9D46-79A8DAFD8494}" destId="{7EC8AC44-38E6-449C-8E6B-C4E51F203F71}" srcOrd="5" destOrd="0" presId="urn:microsoft.com/office/officeart/2005/8/layout/StepDownProcess"/>
    <dgm:cxn modelId="{96087603-BE56-4FF3-BABB-5081FEE251C5}" type="presParOf" srcId="{B83B375B-4598-4C60-9D46-79A8DAFD8494}" destId="{87AC936C-66E3-4F7D-8845-F3E4856292FD}" srcOrd="6" destOrd="0" presId="urn:microsoft.com/office/officeart/2005/8/layout/StepDownProcess"/>
    <dgm:cxn modelId="{CF2D5B8E-9F1C-499C-8033-801AA8FBA581}" type="presParOf" srcId="{87AC936C-66E3-4F7D-8845-F3E4856292FD}" destId="{F09E5D96-DDFE-4076-A54D-E386095EF22A}"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C1B81-3014-422B-A9E6-99A870DC939F}">
      <dsp:nvSpPr>
        <dsp:cNvPr id="0" name=""/>
        <dsp:cNvSpPr/>
      </dsp:nvSpPr>
      <dsp:spPr>
        <a:xfrm rot="5400000">
          <a:off x="782699" y="807548"/>
          <a:ext cx="709203" cy="80740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947848-9755-4306-8B28-1CE9E4B40CBE}">
      <dsp:nvSpPr>
        <dsp:cNvPr id="0" name=""/>
        <dsp:cNvSpPr/>
      </dsp:nvSpPr>
      <dsp:spPr>
        <a:xfrm>
          <a:off x="594804" y="21382"/>
          <a:ext cx="1193880" cy="83567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Raw JSON</a:t>
          </a:r>
        </a:p>
      </dsp:txBody>
      <dsp:txXfrm>
        <a:off x="635606" y="62184"/>
        <a:ext cx="1112276" cy="754073"/>
      </dsp:txXfrm>
    </dsp:sp>
    <dsp:sp modelId="{3F026F3D-040F-4BFD-9751-3AC0CBDAD527}">
      <dsp:nvSpPr>
        <dsp:cNvPr id="0" name=""/>
        <dsp:cNvSpPr/>
      </dsp:nvSpPr>
      <dsp:spPr>
        <a:xfrm>
          <a:off x="1788684" y="101083"/>
          <a:ext cx="868314" cy="675431"/>
        </a:xfrm>
        <a:prstGeom prst="rect">
          <a:avLst/>
        </a:prstGeom>
        <a:noFill/>
        <a:ln>
          <a:noFill/>
        </a:ln>
        <a:effectLst/>
      </dsp:spPr>
      <dsp:style>
        <a:lnRef idx="0">
          <a:scrgbClr r="0" g="0" b="0"/>
        </a:lnRef>
        <a:fillRef idx="0">
          <a:scrgbClr r="0" g="0" b="0"/>
        </a:fillRef>
        <a:effectRef idx="0">
          <a:scrgbClr r="0" g="0" b="0"/>
        </a:effectRef>
        <a:fontRef idx="minor"/>
      </dsp:style>
    </dsp:sp>
    <dsp:sp modelId="{618147DA-9CA3-4297-9F9D-41E237A55115}">
      <dsp:nvSpPr>
        <dsp:cNvPr id="0" name=""/>
        <dsp:cNvSpPr/>
      </dsp:nvSpPr>
      <dsp:spPr>
        <a:xfrm rot="5400000">
          <a:off x="1772553" y="1746290"/>
          <a:ext cx="709203" cy="80740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6A92E4-3769-4DC9-9E42-7524A9874353}">
      <dsp:nvSpPr>
        <dsp:cNvPr id="0" name=""/>
        <dsp:cNvSpPr/>
      </dsp:nvSpPr>
      <dsp:spPr>
        <a:xfrm>
          <a:off x="1584657" y="960124"/>
          <a:ext cx="1193880" cy="83567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Validation</a:t>
          </a:r>
        </a:p>
      </dsp:txBody>
      <dsp:txXfrm>
        <a:off x="1625459" y="1000926"/>
        <a:ext cx="1112276" cy="754073"/>
      </dsp:txXfrm>
    </dsp:sp>
    <dsp:sp modelId="{A783BF6B-20DF-42AF-8CA4-42625E052ACE}">
      <dsp:nvSpPr>
        <dsp:cNvPr id="0" name=""/>
        <dsp:cNvSpPr/>
      </dsp:nvSpPr>
      <dsp:spPr>
        <a:xfrm>
          <a:off x="2778538" y="1039825"/>
          <a:ext cx="868314" cy="675431"/>
        </a:xfrm>
        <a:prstGeom prst="rect">
          <a:avLst/>
        </a:prstGeom>
        <a:noFill/>
        <a:ln>
          <a:noFill/>
        </a:ln>
        <a:effectLst/>
      </dsp:spPr>
      <dsp:style>
        <a:lnRef idx="0">
          <a:scrgbClr r="0" g="0" b="0"/>
        </a:lnRef>
        <a:fillRef idx="0">
          <a:scrgbClr r="0" g="0" b="0"/>
        </a:fillRef>
        <a:effectRef idx="0">
          <a:scrgbClr r="0" g="0" b="0"/>
        </a:effectRef>
        <a:fontRef idx="minor"/>
      </dsp:style>
    </dsp:sp>
    <dsp:sp modelId="{0E496B22-85DA-4D8A-893D-11F95BA25FD0}">
      <dsp:nvSpPr>
        <dsp:cNvPr id="0" name=""/>
        <dsp:cNvSpPr/>
      </dsp:nvSpPr>
      <dsp:spPr>
        <a:xfrm rot="5400000">
          <a:off x="2762407" y="2685031"/>
          <a:ext cx="709203" cy="80740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B3878D-19FA-4FF0-8458-A6F8B3B7BED5}">
      <dsp:nvSpPr>
        <dsp:cNvPr id="0" name=""/>
        <dsp:cNvSpPr/>
      </dsp:nvSpPr>
      <dsp:spPr>
        <a:xfrm>
          <a:off x="2574511" y="1898866"/>
          <a:ext cx="1193880" cy="83567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Cleaned request </a:t>
          </a:r>
        </a:p>
      </dsp:txBody>
      <dsp:txXfrm>
        <a:off x="2615313" y="1939668"/>
        <a:ext cx="1112276" cy="754073"/>
      </dsp:txXfrm>
    </dsp:sp>
    <dsp:sp modelId="{DEF1BA0F-3EF8-41F5-B73E-50B5BDF9D9F5}">
      <dsp:nvSpPr>
        <dsp:cNvPr id="0" name=""/>
        <dsp:cNvSpPr/>
      </dsp:nvSpPr>
      <dsp:spPr>
        <a:xfrm>
          <a:off x="3768392" y="1978566"/>
          <a:ext cx="868314" cy="675431"/>
        </a:xfrm>
        <a:prstGeom prst="rect">
          <a:avLst/>
        </a:prstGeom>
        <a:noFill/>
        <a:ln>
          <a:noFill/>
        </a:ln>
        <a:effectLst/>
      </dsp:spPr>
      <dsp:style>
        <a:lnRef idx="0">
          <a:scrgbClr r="0" g="0" b="0"/>
        </a:lnRef>
        <a:fillRef idx="0">
          <a:scrgbClr r="0" g="0" b="0"/>
        </a:fillRef>
        <a:effectRef idx="0">
          <a:scrgbClr r="0" g="0" b="0"/>
        </a:effectRef>
        <a:fontRef idx="minor"/>
      </dsp:style>
    </dsp:sp>
    <dsp:sp modelId="{CBD972C1-82F1-4502-9ADF-5DEA65294732}">
      <dsp:nvSpPr>
        <dsp:cNvPr id="0" name=""/>
        <dsp:cNvSpPr/>
      </dsp:nvSpPr>
      <dsp:spPr>
        <a:xfrm>
          <a:off x="3564365" y="2837607"/>
          <a:ext cx="1193880" cy="83567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Model input</a:t>
          </a:r>
        </a:p>
      </dsp:txBody>
      <dsp:txXfrm>
        <a:off x="3605167" y="2878409"/>
        <a:ext cx="1112276" cy="754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73376E-9A6C-4B55-B79A-D9490E31B135}">
      <dsp:nvSpPr>
        <dsp:cNvPr id="0" name=""/>
        <dsp:cNvSpPr/>
      </dsp:nvSpPr>
      <dsp:spPr>
        <a:xfrm rot="5400000">
          <a:off x="964861" y="888273"/>
          <a:ext cx="780097" cy="888113"/>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679480-FEBD-4964-8A7C-32387329B46A}">
      <dsp:nvSpPr>
        <dsp:cNvPr id="0" name=""/>
        <dsp:cNvSpPr/>
      </dsp:nvSpPr>
      <dsp:spPr>
        <a:xfrm>
          <a:off x="758182" y="23520"/>
          <a:ext cx="1313224" cy="91921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Cleaned request</a:t>
          </a:r>
        </a:p>
      </dsp:txBody>
      <dsp:txXfrm>
        <a:off x="803062" y="68400"/>
        <a:ext cx="1223464" cy="829454"/>
      </dsp:txXfrm>
    </dsp:sp>
    <dsp:sp modelId="{0C4E1BF4-FFA6-48FC-85D9-F49476C6E0F4}">
      <dsp:nvSpPr>
        <dsp:cNvPr id="0" name=""/>
        <dsp:cNvSpPr/>
      </dsp:nvSpPr>
      <dsp:spPr>
        <a:xfrm>
          <a:off x="2071407" y="111188"/>
          <a:ext cx="955114" cy="742950"/>
        </a:xfrm>
        <a:prstGeom prst="rect">
          <a:avLst/>
        </a:prstGeom>
        <a:noFill/>
        <a:ln>
          <a:noFill/>
        </a:ln>
        <a:effectLst/>
      </dsp:spPr>
      <dsp:style>
        <a:lnRef idx="0">
          <a:scrgbClr r="0" g="0" b="0"/>
        </a:lnRef>
        <a:fillRef idx="0">
          <a:scrgbClr r="0" g="0" b="0"/>
        </a:fillRef>
        <a:effectRef idx="0">
          <a:scrgbClr r="0" g="0" b="0"/>
        </a:effectRef>
        <a:fontRef idx="minor"/>
      </dsp:style>
    </dsp:sp>
    <dsp:sp modelId="{C7147ED8-E406-4098-9B7C-33F2F208CAA3}">
      <dsp:nvSpPr>
        <dsp:cNvPr id="0" name=""/>
        <dsp:cNvSpPr/>
      </dsp:nvSpPr>
      <dsp:spPr>
        <a:xfrm rot="5400000">
          <a:off x="2053664" y="1920855"/>
          <a:ext cx="780097" cy="888113"/>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02D057-9B06-4B6F-9335-35AA83989587}">
      <dsp:nvSpPr>
        <dsp:cNvPr id="0" name=""/>
        <dsp:cNvSpPr/>
      </dsp:nvSpPr>
      <dsp:spPr>
        <a:xfrm>
          <a:off x="1846985" y="1056101"/>
          <a:ext cx="1313224" cy="91921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Tom’s model logic</a:t>
          </a:r>
        </a:p>
      </dsp:txBody>
      <dsp:txXfrm>
        <a:off x="1891865" y="1100981"/>
        <a:ext cx="1223464" cy="829454"/>
      </dsp:txXfrm>
    </dsp:sp>
    <dsp:sp modelId="{DFF74A41-FBCA-48A4-BEDE-EFBD67BD49F2}">
      <dsp:nvSpPr>
        <dsp:cNvPr id="0" name=""/>
        <dsp:cNvSpPr/>
      </dsp:nvSpPr>
      <dsp:spPr>
        <a:xfrm>
          <a:off x="3160210" y="1143769"/>
          <a:ext cx="955114" cy="742950"/>
        </a:xfrm>
        <a:prstGeom prst="rect">
          <a:avLst/>
        </a:prstGeom>
        <a:noFill/>
        <a:ln>
          <a:noFill/>
        </a:ln>
        <a:effectLst/>
      </dsp:spPr>
      <dsp:style>
        <a:lnRef idx="0">
          <a:scrgbClr r="0" g="0" b="0"/>
        </a:lnRef>
        <a:fillRef idx="0">
          <a:scrgbClr r="0" g="0" b="0"/>
        </a:fillRef>
        <a:effectRef idx="0">
          <a:scrgbClr r="0" g="0" b="0"/>
        </a:effectRef>
        <a:fontRef idx="minor"/>
      </dsp:style>
    </dsp:sp>
    <dsp:sp modelId="{3827A8E1-8BF6-4736-BF7D-FC9558E079A5}">
      <dsp:nvSpPr>
        <dsp:cNvPr id="0" name=""/>
        <dsp:cNvSpPr/>
      </dsp:nvSpPr>
      <dsp:spPr>
        <a:xfrm rot="5400000">
          <a:off x="3142467" y="2953437"/>
          <a:ext cx="780097" cy="888113"/>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CE48BC-777B-4187-A2B1-52221A05A373}">
      <dsp:nvSpPr>
        <dsp:cNvPr id="0" name=""/>
        <dsp:cNvSpPr/>
      </dsp:nvSpPr>
      <dsp:spPr>
        <a:xfrm>
          <a:off x="2935789" y="2088683"/>
          <a:ext cx="1313224" cy="91921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Optimised allocation</a:t>
          </a:r>
        </a:p>
      </dsp:txBody>
      <dsp:txXfrm>
        <a:off x="2980669" y="2133563"/>
        <a:ext cx="1223464" cy="829454"/>
      </dsp:txXfrm>
    </dsp:sp>
    <dsp:sp modelId="{EC118012-8D5B-417C-A23C-1B2CF2617C80}">
      <dsp:nvSpPr>
        <dsp:cNvPr id="0" name=""/>
        <dsp:cNvSpPr/>
      </dsp:nvSpPr>
      <dsp:spPr>
        <a:xfrm>
          <a:off x="4249014" y="2176351"/>
          <a:ext cx="955114" cy="742950"/>
        </a:xfrm>
        <a:prstGeom prst="rect">
          <a:avLst/>
        </a:prstGeom>
        <a:noFill/>
        <a:ln>
          <a:noFill/>
        </a:ln>
        <a:effectLst/>
      </dsp:spPr>
      <dsp:style>
        <a:lnRef idx="0">
          <a:scrgbClr r="0" g="0" b="0"/>
        </a:lnRef>
        <a:fillRef idx="0">
          <a:scrgbClr r="0" g="0" b="0"/>
        </a:fillRef>
        <a:effectRef idx="0">
          <a:scrgbClr r="0" g="0" b="0"/>
        </a:effectRef>
        <a:fontRef idx="minor"/>
      </dsp:style>
    </dsp:sp>
    <dsp:sp modelId="{F09E5D96-DDFE-4076-A54D-E386095EF22A}">
      <dsp:nvSpPr>
        <dsp:cNvPr id="0" name=""/>
        <dsp:cNvSpPr/>
      </dsp:nvSpPr>
      <dsp:spPr>
        <a:xfrm>
          <a:off x="4024592" y="3121264"/>
          <a:ext cx="1313224" cy="91921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Monte </a:t>
          </a:r>
          <a:r>
            <a:rPr lang="en-GB" sz="1700" kern="1200" err="1"/>
            <a:t>carlo</a:t>
          </a:r>
          <a:r>
            <a:rPr lang="en-GB" sz="1700" kern="1200"/>
            <a:t> projection</a:t>
          </a:r>
        </a:p>
      </dsp:txBody>
      <dsp:txXfrm>
        <a:off x="4069472" y="3166144"/>
        <a:ext cx="1223464" cy="829454"/>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2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Our presentation today will address the key elements surrounding our project and its development. </a:t>
            </a:r>
          </a:p>
          <a:p>
            <a:endParaRPr lang="en-US"/>
          </a:p>
          <a:p>
            <a:r>
              <a:rPr lang="en-US"/>
              <a:t>the presentation has been broken down into the following sub-</a:t>
            </a:r>
            <a:r>
              <a:rPr lang="en-US" err="1"/>
              <a:t>catagories</a:t>
            </a:r>
            <a:r>
              <a:rPr lang="en-US"/>
              <a:t> that will feature throughout.</a:t>
            </a:r>
          </a:p>
        </p:txBody>
      </p:sp>
    </p:spTree>
    <p:extLst>
      <p:ext uri="{BB962C8B-B14F-4D97-AF65-F5344CB8AC3E}">
        <p14:creationId xmlns:p14="http://schemas.microsoft.com/office/powerpoint/2010/main" val="3096661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1.  Financial advice is expensive </a:t>
            </a:r>
          </a:p>
          <a:p>
            <a:r>
              <a:rPr lang="en-GB" sz="1200" noProof="0">
                <a:solidFill>
                  <a:srgbClr val="64748B"/>
                </a:solidFill>
                <a:latin typeface="Calibri" pitchFamily="34" charset="0"/>
                <a:ea typeface="Calibri" pitchFamily="34" charset="-122"/>
                <a:cs typeface="Calibri" pitchFamily="34" charset="-120"/>
              </a:rPr>
              <a:t>Professional advisors charge 1–3% AUM, putting them out of reach of beginners</a:t>
            </a:r>
          </a:p>
          <a:p>
            <a:endParaRPr lang="en-GB" sz="1200" noProof="0">
              <a:solidFill>
                <a:srgbClr val="64748B"/>
              </a:solidFill>
              <a:latin typeface="Calibri" pitchFamily="34" charset="0"/>
              <a:ea typeface="Calibri" pitchFamily="34" charset="-122"/>
              <a:cs typeface="Calibri" pitchFamily="34" charset="-120"/>
            </a:endParaRPr>
          </a:p>
          <a:p>
            <a:r>
              <a:rPr lang="en-GB" sz="1200" noProof="0">
                <a:solidFill>
                  <a:srgbClr val="64748B"/>
                </a:solidFill>
                <a:latin typeface="Calibri" pitchFamily="34" charset="0"/>
                <a:ea typeface="Calibri" pitchFamily="34" charset="-122"/>
                <a:cs typeface="Calibri" pitchFamily="34" charset="-120"/>
              </a:rPr>
              <a:t>Alternatively, ”Robo-advisors” are becoming more popular but many still feel uneasy towards their usage, and some can become uneconomical due to trading fee’s.</a:t>
            </a:r>
            <a:endParaRPr lang="en-GB" sz="1200" noProof="0"/>
          </a:p>
          <a:p>
            <a:endParaRPr lang="en-US"/>
          </a:p>
          <a:p>
            <a:r>
              <a:rPr lang="en-US"/>
              <a:t>2. </a:t>
            </a:r>
            <a:r>
              <a:rPr lang="en-US" err="1"/>
              <a:t>Investemnt</a:t>
            </a:r>
            <a:r>
              <a:rPr lang="en-US"/>
              <a:t> platforms can be </a:t>
            </a:r>
            <a:r>
              <a:rPr lang="en-US" err="1"/>
              <a:t>intimaidating</a:t>
            </a:r>
            <a:r>
              <a:rPr lang="en-US"/>
              <a:t> </a:t>
            </a:r>
          </a:p>
          <a:p>
            <a:pPr marL="0" indent="0">
              <a:buNone/>
            </a:pPr>
            <a:endParaRPr lang="en-GB" sz="1200" noProof="0">
              <a:solidFill>
                <a:srgbClr val="64748B"/>
              </a:solidFill>
              <a:latin typeface="Calibri" pitchFamily="34" charset="0"/>
              <a:cs typeface="Calibri" pitchFamily="34" charset="-120"/>
            </a:endParaRPr>
          </a:p>
          <a:p>
            <a:pPr marL="0" indent="0">
              <a:buNone/>
            </a:pPr>
            <a:r>
              <a:rPr lang="en-GB" sz="1200" noProof="0">
                <a:solidFill>
                  <a:srgbClr val="64748B"/>
                </a:solidFill>
                <a:latin typeface="Calibri" pitchFamily="34" charset="0"/>
                <a:cs typeface="Calibri" pitchFamily="34" charset="-120"/>
              </a:rPr>
              <a:t>Illiterate investors can often misjudge markets and assets, with mismatching portfolio arrangements to suit their goals.</a:t>
            </a:r>
            <a:endParaRPr lang="en-GB" sz="1200" noProof="0"/>
          </a:p>
          <a:p>
            <a:endParaRPr lang="en-US"/>
          </a:p>
          <a:p>
            <a:r>
              <a:rPr lang="en-US"/>
              <a:t>3. DIY investors over-</a:t>
            </a:r>
            <a:r>
              <a:rPr lang="en-US" err="1"/>
              <a:t>concerntrate</a:t>
            </a:r>
            <a:r>
              <a:rPr lang="en-US"/>
              <a:t> </a:t>
            </a:r>
          </a:p>
          <a:p>
            <a:pPr marL="0" indent="0">
              <a:buNone/>
            </a:pPr>
            <a:r>
              <a:rPr lang="en-GB" sz="1200" noProof="0">
                <a:solidFill>
                  <a:srgbClr val="64748B"/>
                </a:solidFill>
                <a:latin typeface="Calibri" pitchFamily="34" charset="0"/>
                <a:ea typeface="Calibri" pitchFamily="34" charset="-122"/>
                <a:cs typeface="Calibri" pitchFamily="34" charset="-120"/>
              </a:rPr>
              <a:t>Investment Platforms do not provide the platform to make well considered decision internally, leaving users relying on personal knowledge .</a:t>
            </a:r>
          </a:p>
          <a:p>
            <a:pPr marL="0" indent="0">
              <a:buNone/>
            </a:pPr>
            <a:endParaRPr lang="en-GB" sz="1200" noProof="0">
              <a:solidFill>
                <a:srgbClr val="64748B"/>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a:solidFill>
                  <a:srgbClr val="64748B"/>
                </a:solidFill>
                <a:latin typeface="Calibri" pitchFamily="34" charset="0"/>
                <a:ea typeface="Calibri" pitchFamily="34" charset="-122"/>
                <a:cs typeface="Calibri" pitchFamily="34" charset="-120"/>
              </a:rPr>
              <a:t>Without diversification frameworks, retail investors load on familiar names, exposing themselves to additional risks .</a:t>
            </a:r>
          </a:p>
          <a:p>
            <a:pPr marL="0" indent="0">
              <a:buNone/>
            </a:pPr>
            <a:endParaRPr lang="en-GB" sz="1200" noProof="0">
              <a:solidFill>
                <a:srgbClr val="64748B"/>
              </a:solidFill>
              <a:latin typeface="Calibri" pitchFamily="34" charset="0"/>
              <a:ea typeface="Calibri" pitchFamily="34" charset="-122"/>
              <a:cs typeface="Calibri" pitchFamily="34" charset="-120"/>
            </a:endParaRPr>
          </a:p>
          <a:p>
            <a:pPr marL="0" indent="0">
              <a:buNone/>
            </a:pPr>
            <a:r>
              <a:rPr lang="en-GB" sz="1200" noProof="0">
                <a:solidFill>
                  <a:srgbClr val="64748B"/>
                </a:solidFill>
                <a:latin typeface="Calibri" pitchFamily="34" charset="0"/>
                <a:ea typeface="Calibri" pitchFamily="34" charset="-122"/>
                <a:cs typeface="Calibri" pitchFamily="34" charset="-120"/>
              </a:rPr>
              <a:t>Existing tools are essentially missing the middle – either assume prior knowledge of risk, asset classes and portfolio theory, or provide only basic calculation tools for compounding interest.</a:t>
            </a:r>
            <a:endParaRPr lang="en-GB" sz="1200" noProof="0"/>
          </a:p>
          <a:p>
            <a:endParaRPr lang="en-US"/>
          </a:p>
          <a:p>
            <a:endParaRPr lang="en-US"/>
          </a:p>
          <a:p>
            <a:endParaRPr lang="en-US"/>
          </a:p>
        </p:txBody>
      </p:sp>
    </p:spTree>
    <p:extLst>
      <p:ext uri="{BB962C8B-B14F-4D97-AF65-F5344CB8AC3E}">
        <p14:creationId xmlns:p14="http://schemas.microsoft.com/office/powerpoint/2010/main" val="2044711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Our proposition sets to address the lack of public retail investor tools, targeting new-to-novice investors, our tool will set out to provide an analytical tool for investors to make better choices</a:t>
            </a:r>
          </a:p>
        </p:txBody>
      </p:sp>
    </p:spTree>
    <p:extLst>
      <p:ext uri="{BB962C8B-B14F-4D97-AF65-F5344CB8AC3E}">
        <p14:creationId xmlns:p14="http://schemas.microsoft.com/office/powerpoint/2010/main" val="2158186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Given the vast array of investment frameworks, providing a system that combines these can allow for </a:t>
            </a:r>
            <a:r>
              <a:rPr lang="en-US" err="1"/>
              <a:t>maximisation</a:t>
            </a:r>
            <a:r>
              <a:rPr lang="en-US"/>
              <a:t> off analytical </a:t>
            </a:r>
            <a:r>
              <a:rPr lang="en-US" err="1"/>
              <a:t>rigour</a:t>
            </a:r>
            <a:r>
              <a:rPr lang="en-US"/>
              <a:t> and optimal portfolio </a:t>
            </a:r>
            <a:r>
              <a:rPr lang="en-US" err="1"/>
              <a:t>arrangemnets</a:t>
            </a:r>
            <a:r>
              <a:rPr lang="en-US"/>
              <a:t>, these are combined with a machine learning model and memory system that, can provide adaptive </a:t>
            </a:r>
            <a:r>
              <a:rPr lang="en-US" err="1"/>
              <a:t>interprations</a:t>
            </a:r>
            <a:r>
              <a:rPr lang="en-US"/>
              <a:t> and assist in return and risk </a:t>
            </a:r>
            <a:r>
              <a:rPr lang="en-US" err="1"/>
              <a:t>foracsting</a:t>
            </a:r>
            <a:r>
              <a:rPr lang="en-US"/>
              <a:t> </a:t>
            </a:r>
          </a:p>
        </p:txBody>
      </p:sp>
    </p:spTree>
    <p:extLst>
      <p:ext uri="{BB962C8B-B14F-4D97-AF65-F5344CB8AC3E}">
        <p14:creationId xmlns:p14="http://schemas.microsoft.com/office/powerpoint/2010/main" val="3172805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err="1"/>
              <a:t>thse</a:t>
            </a:r>
            <a:r>
              <a:rPr lang="en-US"/>
              <a:t> Core financial models have been developed since mid 20</a:t>
            </a:r>
            <a:r>
              <a:rPr lang="en-US" baseline="30000"/>
              <a:t>th</a:t>
            </a:r>
            <a:r>
              <a:rPr lang="en-US"/>
              <a:t> century and continue to prove as pillars in investment analysis and why these are the backbone to the programs calculation and data processing powers.</a:t>
            </a:r>
          </a:p>
        </p:txBody>
      </p:sp>
    </p:spTree>
    <p:extLst>
      <p:ext uri="{BB962C8B-B14F-4D97-AF65-F5344CB8AC3E}">
        <p14:creationId xmlns:p14="http://schemas.microsoft.com/office/powerpoint/2010/main" val="56004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Data testing shows </a:t>
            </a:r>
            <a:r>
              <a:rPr lang="en-US" err="1"/>
              <a:t>diverificarion</a:t>
            </a:r>
            <a:r>
              <a:rPr lang="en-US"/>
              <a:t> is crucial in mitigating investment risks, a </a:t>
            </a:r>
            <a:r>
              <a:rPr lang="en-US" err="1"/>
              <a:t>fundamentl</a:t>
            </a:r>
            <a:r>
              <a:rPr lang="en-US"/>
              <a:t> error mist novice investors make.</a:t>
            </a:r>
          </a:p>
          <a:p>
            <a:endParaRPr lang="en-US"/>
          </a:p>
          <a:p>
            <a:r>
              <a:rPr lang="en-US" err="1"/>
              <a:t>Effectivly</a:t>
            </a:r>
            <a:r>
              <a:rPr lang="en-US"/>
              <a:t> </a:t>
            </a:r>
            <a:r>
              <a:rPr lang="en-US" err="1"/>
              <a:t>analysising</a:t>
            </a:r>
            <a:r>
              <a:rPr lang="en-US"/>
              <a:t> and </a:t>
            </a:r>
            <a:r>
              <a:rPr lang="en-US" err="1"/>
              <a:t>encorporating</a:t>
            </a:r>
            <a:r>
              <a:rPr lang="en-US"/>
              <a:t> risk into investment rational is pivotal in shaping portfolios and their asset allocations, reflecting on the investors appetite for risk </a:t>
            </a:r>
          </a:p>
          <a:p>
            <a:endParaRPr lang="en-US"/>
          </a:p>
          <a:p>
            <a:r>
              <a:rPr lang="en-US" err="1"/>
              <a:t>Suplimenting</a:t>
            </a:r>
            <a:r>
              <a:rPr lang="en-US"/>
              <a:t> results with </a:t>
            </a:r>
            <a:r>
              <a:rPr lang="en-US" err="1"/>
              <a:t>regreesion</a:t>
            </a:r>
            <a:r>
              <a:rPr lang="en-US"/>
              <a:t> and </a:t>
            </a:r>
            <a:r>
              <a:rPr lang="en-US" err="1"/>
              <a:t>ramdon</a:t>
            </a:r>
            <a:r>
              <a:rPr lang="en-US"/>
              <a:t> seed testing such Monte </a:t>
            </a:r>
            <a:r>
              <a:rPr lang="en-US" err="1"/>
              <a:t>carlo</a:t>
            </a:r>
            <a:r>
              <a:rPr lang="en-US"/>
              <a:t> simulations allows for an extended </a:t>
            </a:r>
            <a:r>
              <a:rPr lang="en-US" err="1"/>
              <a:t>bredth</a:t>
            </a:r>
            <a:r>
              <a:rPr lang="en-US"/>
              <a:t> to return forecasting and risk appraisals, cultivating a large set of random scenarios alongside a Machine </a:t>
            </a:r>
            <a:r>
              <a:rPr lang="en-US" err="1"/>
              <a:t>larning</a:t>
            </a:r>
            <a:r>
              <a:rPr lang="en-US"/>
              <a:t> engine, captures an intense amount of possible outcomes and simplifies this that we can use to better understand the portfolios future</a:t>
            </a:r>
          </a:p>
        </p:txBody>
      </p:sp>
    </p:spTree>
    <p:extLst>
      <p:ext uri="{BB962C8B-B14F-4D97-AF65-F5344CB8AC3E}">
        <p14:creationId xmlns:p14="http://schemas.microsoft.com/office/powerpoint/2010/main" val="3746845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Running </a:t>
            </a:r>
            <a:r>
              <a:rPr lang="en-US" err="1"/>
              <a:t>tradditinal</a:t>
            </a:r>
            <a:r>
              <a:rPr lang="en-US"/>
              <a:t> excel models of these frameworks allowed us test the various </a:t>
            </a:r>
            <a:r>
              <a:rPr lang="en-US" err="1"/>
              <a:t>cababilites</a:t>
            </a:r>
            <a:r>
              <a:rPr lang="en-US"/>
              <a:t> and processes of the </a:t>
            </a:r>
            <a:r>
              <a:rPr lang="en-US" err="1"/>
              <a:t>programe</a:t>
            </a:r>
            <a:r>
              <a:rPr lang="en-US"/>
              <a:t> to ensure validity amongst the results, these were tested on individual asset technical analysis, and sub-sets of controlled historic stock price data captured through the Bloomberg terminal  to test portfolio construction capabilities. </a:t>
            </a:r>
          </a:p>
        </p:txBody>
      </p:sp>
    </p:spTree>
    <p:extLst>
      <p:ext uri="{BB962C8B-B14F-4D97-AF65-F5344CB8AC3E}">
        <p14:creationId xmlns:p14="http://schemas.microsoft.com/office/powerpoint/2010/main" val="3059814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C457F-4381-0661-0C6C-0244F2912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9297C-F13B-4960-8F3A-75D650DAD20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BDC51C9-0B24-383D-45E9-D06837362A89}"/>
              </a:ext>
            </a:extLst>
          </p:cNvPr>
          <p:cNvSpPr>
            <a:spLocks noGrp="1"/>
          </p:cNvSpPr>
          <p:nvPr>
            <p:ph type="body" idx="1"/>
          </p:nvPr>
        </p:nvSpPr>
        <p:spPr>
          <a:xfrm>
            <a:off x="514350" y="4400550"/>
            <a:ext cx="4114800" cy="3600450"/>
          </a:xfrm>
          <a:prstGeom prst="rect">
            <a:avLst/>
          </a:prstGeom>
        </p:spPr>
        <p:txBody>
          <a:bodyPr/>
          <a:lstStyle/>
          <a:p>
            <a:pPr marL="285750" indent="-285750">
              <a:buFont typeface="Arial" panose="020B0604020202020204" pitchFamily="34" charset="0"/>
              <a:buChar char="•"/>
            </a:pPr>
            <a:r>
              <a:rPr lang="en-GB"/>
              <a:t>We researched who, type of people who would most likely use a </a:t>
            </a:r>
            <a:r>
              <a:rPr lang="en-GB" err="1"/>
              <a:t>robo</a:t>
            </a:r>
            <a:r>
              <a:rPr lang="en-GB"/>
              <a:t>-advisor</a:t>
            </a:r>
          </a:p>
          <a:p>
            <a:r>
              <a:rPr lang="en-GB"/>
              <a:t>This is documented in our portfolio</a:t>
            </a:r>
          </a:p>
          <a:p>
            <a:endParaRPr lang="en-GB"/>
          </a:p>
        </p:txBody>
      </p:sp>
    </p:spTree>
    <p:extLst>
      <p:ext uri="{BB962C8B-B14F-4D97-AF65-F5344CB8AC3E}">
        <p14:creationId xmlns:p14="http://schemas.microsoft.com/office/powerpoint/2010/main" val="2397727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B369-DE76-A55D-1F61-817A69904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C4C2B-D5B8-9987-9516-33AD2873A82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7626A17-61D2-A44E-E0D6-A33A6C04A132}"/>
              </a:ext>
            </a:extLst>
          </p:cNvPr>
          <p:cNvSpPr>
            <a:spLocks noGrp="1"/>
          </p:cNvSpPr>
          <p:nvPr>
            <p:ph type="body" idx="1"/>
          </p:nvPr>
        </p:nvSpPr>
        <p:spPr>
          <a:xfrm>
            <a:off x="514350" y="4400550"/>
            <a:ext cx="4114800" cy="3600450"/>
          </a:xfrm>
          <a:prstGeom prst="rect">
            <a:avLst/>
          </a:prstGeom>
        </p:spPr>
        <p:txBody>
          <a:bodyPr/>
          <a:lstStyle/>
          <a:p>
            <a:pPr marL="285750" indent="-285750">
              <a:buFont typeface="Arial" panose="020B0604020202020204" pitchFamily="34" charset="0"/>
              <a:buChar char="•"/>
            </a:pPr>
            <a:r>
              <a:rPr lang="en-GB"/>
              <a:t>We researched who, type of people who would most likely use a </a:t>
            </a:r>
            <a:r>
              <a:rPr lang="en-GB" err="1"/>
              <a:t>robo</a:t>
            </a:r>
            <a:r>
              <a:rPr lang="en-GB"/>
              <a:t>-advisor</a:t>
            </a:r>
          </a:p>
          <a:p>
            <a:r>
              <a:rPr lang="en-GB"/>
              <a:t>This is documented in our portfolio</a:t>
            </a:r>
          </a:p>
          <a:p>
            <a:endParaRPr lang="en-GB"/>
          </a:p>
        </p:txBody>
      </p:sp>
    </p:spTree>
    <p:extLst>
      <p:ext uri="{BB962C8B-B14F-4D97-AF65-F5344CB8AC3E}">
        <p14:creationId xmlns:p14="http://schemas.microsoft.com/office/powerpoint/2010/main" val="749649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C4DBC-8D1A-42F3-F82D-49E25E411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65823-02C3-6216-2F39-82678E755B67}"/>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7D255B3-26A6-12C3-B150-8960EF3AADAD}"/>
              </a:ext>
            </a:extLst>
          </p:cNvPr>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900481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857E6-4FFE-15F2-C88B-9637B7A75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0807D-03D9-E65A-7DAA-8ACC77C35D6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9DE37C4-2849-747A-E11D-035CD6F002A2}"/>
              </a:ext>
            </a:extLst>
          </p:cNvPr>
          <p:cNvSpPr>
            <a:spLocks noGrp="1"/>
          </p:cNvSpPr>
          <p:nvPr>
            <p:ph type="body" idx="1"/>
          </p:nvPr>
        </p:nvSpPr>
        <p:spPr>
          <a:xfrm>
            <a:off x="514350" y="4400550"/>
            <a:ext cx="4114800" cy="3600450"/>
          </a:xfrm>
          <a:prstGeom prst="rect">
            <a:avLst/>
          </a:prstGeom>
        </p:spPr>
        <p:txBody>
          <a:bodyPr/>
          <a:lstStyle/>
          <a:p>
            <a:pPr marL="285750" indent="-285750">
              <a:buFont typeface="Arial" panose="020B0604020202020204" pitchFamily="34" charset="0"/>
              <a:buChar char="•"/>
            </a:pPr>
            <a:r>
              <a:rPr lang="en-GB"/>
              <a:t>We researched who, type of people who would most likely use a </a:t>
            </a:r>
            <a:r>
              <a:rPr lang="en-GB" err="1"/>
              <a:t>robo</a:t>
            </a:r>
            <a:r>
              <a:rPr lang="en-GB"/>
              <a:t>-advisor</a:t>
            </a:r>
          </a:p>
          <a:p>
            <a:r>
              <a:rPr lang="en-GB"/>
              <a:t>This is documented in our portfolio</a:t>
            </a:r>
          </a:p>
          <a:p>
            <a:endParaRPr lang="en-GB"/>
          </a:p>
        </p:txBody>
      </p:sp>
    </p:spTree>
    <p:extLst>
      <p:ext uri="{BB962C8B-B14F-4D97-AF65-F5344CB8AC3E}">
        <p14:creationId xmlns:p14="http://schemas.microsoft.com/office/powerpoint/2010/main" val="3193506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sz="1200" b="1" i="0" kern="1200">
                <a:solidFill>
                  <a:schemeClr val="tx1"/>
                </a:solidFill>
                <a:effectLst/>
                <a:latin typeface="+mn-lt"/>
                <a:ea typeface="+mn-ea"/>
                <a:cs typeface="+mn-cs"/>
              </a:rPr>
              <a:t>CSS (Cascading Style Sheets)</a:t>
            </a:r>
            <a:r>
              <a:rPr lang="en-GB" sz="1200" b="0" i="0" kern="1200">
                <a:solidFill>
                  <a:schemeClr val="tx1"/>
                </a:solidFill>
                <a:effectLst/>
                <a:latin typeface="+mn-lt"/>
                <a:ea typeface="+mn-ea"/>
                <a:cs typeface="+mn-cs"/>
              </a:rPr>
              <a:t> is a stylesheet language used to control the </a:t>
            </a:r>
            <a:r>
              <a:rPr lang="en-GB" sz="1200" b="1" i="0" kern="1200">
                <a:solidFill>
                  <a:schemeClr val="tx1"/>
                </a:solidFill>
                <a:effectLst/>
                <a:latin typeface="+mn-lt"/>
                <a:ea typeface="+mn-ea"/>
                <a:cs typeface="+mn-cs"/>
              </a:rPr>
              <a:t>presentation</a:t>
            </a:r>
            <a:r>
              <a:rPr lang="en-GB" sz="1200" b="0" i="0" kern="1200">
                <a:solidFill>
                  <a:schemeClr val="tx1"/>
                </a:solidFill>
                <a:effectLst/>
                <a:latin typeface="+mn-lt"/>
                <a:ea typeface="+mn-ea"/>
                <a:cs typeface="+mn-cs"/>
              </a:rPr>
              <a:t> of HTML or XML documents. It defines how elements should be displayed on screen, paper, or other media, enabling developers to separate content (HTML) from design. This separation improves maintainability, reusability, and consistency across web pages.</a:t>
            </a:r>
          </a:p>
          <a:p>
            <a:r>
              <a:rPr lang="en-GB" sz="1200" b="0" i="0" kern="1200">
                <a:solidFill>
                  <a:schemeClr val="tx1"/>
                </a:solidFill>
                <a:effectLst/>
                <a:latin typeface="+mn-lt"/>
                <a:ea typeface="+mn-ea"/>
                <a:cs typeface="+mn-cs"/>
              </a:rPr>
              <a:t>CSS works by applying </a:t>
            </a:r>
            <a:r>
              <a:rPr lang="en-GB" sz="1200" b="1" i="0" kern="1200">
                <a:solidFill>
                  <a:schemeClr val="tx1"/>
                </a:solidFill>
                <a:effectLst/>
                <a:latin typeface="+mn-lt"/>
                <a:ea typeface="+mn-ea"/>
                <a:cs typeface="+mn-cs"/>
              </a:rPr>
              <a:t>rules</a:t>
            </a:r>
            <a:r>
              <a:rPr lang="en-GB" sz="1200" b="0" i="0" kern="1200">
                <a:solidFill>
                  <a:schemeClr val="tx1"/>
                </a:solidFill>
                <a:effectLst/>
                <a:latin typeface="+mn-lt"/>
                <a:ea typeface="+mn-ea"/>
                <a:cs typeface="+mn-cs"/>
              </a:rPr>
              <a:t> to HTML elements. Each rule consists of a </a:t>
            </a:r>
            <a:r>
              <a:rPr lang="en-GB" sz="1200" b="1" i="0" kern="1200">
                <a:solidFill>
                  <a:schemeClr val="tx1"/>
                </a:solidFill>
                <a:effectLst/>
                <a:latin typeface="+mn-lt"/>
                <a:ea typeface="+mn-ea"/>
                <a:cs typeface="+mn-cs"/>
              </a:rPr>
              <a:t>selector</a:t>
            </a:r>
            <a:r>
              <a:rPr lang="en-GB" sz="1200" b="0" i="0" kern="1200">
                <a:solidFill>
                  <a:schemeClr val="tx1"/>
                </a:solidFill>
                <a:effectLst/>
                <a:latin typeface="+mn-lt"/>
                <a:ea typeface="+mn-ea"/>
                <a:cs typeface="+mn-cs"/>
              </a:rPr>
              <a:t> (which targets elements) and a set of </a:t>
            </a:r>
            <a:r>
              <a:rPr lang="en-GB" sz="1200" b="1" i="0" kern="1200">
                <a:solidFill>
                  <a:schemeClr val="tx1"/>
                </a:solidFill>
                <a:effectLst/>
                <a:latin typeface="+mn-lt"/>
                <a:ea typeface="+mn-ea"/>
                <a:cs typeface="+mn-cs"/>
              </a:rPr>
              <a:t>declarations</a:t>
            </a:r>
            <a:r>
              <a:rPr lang="en-GB" sz="1200" b="0" i="0" kern="1200">
                <a:solidFill>
                  <a:schemeClr val="tx1"/>
                </a:solidFill>
                <a:effectLst/>
                <a:latin typeface="+mn-lt"/>
                <a:ea typeface="+mn-ea"/>
                <a:cs typeface="+mn-cs"/>
              </a:rPr>
              <a:t> (property-value pairs) that define the style. </a:t>
            </a:r>
          </a:p>
          <a:p>
            <a:r>
              <a:rPr lang="en-GB" sz="1200" b="1" i="0" kern="1200">
                <a:solidFill>
                  <a:schemeClr val="tx1"/>
                </a:solidFill>
                <a:effectLst/>
                <a:latin typeface="+mn-lt"/>
                <a:ea typeface="+mn-ea"/>
                <a:cs typeface="+mn-cs"/>
              </a:rPr>
              <a:t>Plotly</a:t>
            </a:r>
            <a:r>
              <a:rPr lang="en-GB" sz="1200" b="0" i="0" kern="1200">
                <a:solidFill>
                  <a:schemeClr val="tx1"/>
                </a:solidFill>
                <a:effectLst/>
                <a:latin typeface="+mn-lt"/>
                <a:ea typeface="+mn-ea"/>
                <a:cs typeface="+mn-cs"/>
              </a:rPr>
              <a:t> is an interactive, open-source plotting library for Python that supports over 40 unique chart types, covering a wide range of statistical, financial, geographic, scientific, and 3-dimensional use-cases. Built on top of the Plotly JavaScript library (</a:t>
            </a:r>
            <a:r>
              <a:rPr lang="en-GB" sz="1200" b="0" i="0" kern="1200" err="1">
                <a:solidFill>
                  <a:schemeClr val="tx1"/>
                </a:solidFill>
                <a:effectLst/>
                <a:latin typeface="+mn-lt"/>
                <a:ea typeface="+mn-ea"/>
                <a:cs typeface="+mn-cs"/>
              </a:rPr>
              <a:t>plotly.js</a:t>
            </a:r>
            <a:r>
              <a:rPr lang="en-GB" sz="1200" b="0" i="0" kern="1200">
                <a:solidFill>
                  <a:schemeClr val="tx1"/>
                </a:solidFill>
                <a:effectLst/>
                <a:latin typeface="+mn-lt"/>
                <a:ea typeface="+mn-ea"/>
                <a:cs typeface="+mn-cs"/>
              </a:rPr>
              <a:t>), Plotly enables Python users to create beautiful interactive web-based visualizations that can be displayed in </a:t>
            </a:r>
            <a:r>
              <a:rPr lang="en-GB" sz="1200" b="0" i="0" kern="1200" err="1">
                <a:solidFill>
                  <a:schemeClr val="tx1"/>
                </a:solidFill>
                <a:effectLst/>
                <a:latin typeface="+mn-lt"/>
                <a:ea typeface="+mn-ea"/>
                <a:cs typeface="+mn-cs"/>
              </a:rPr>
              <a:t>Jupyter</a:t>
            </a:r>
            <a:r>
              <a:rPr lang="en-GB" sz="1200" b="0" i="0" kern="1200">
                <a:solidFill>
                  <a:schemeClr val="tx1"/>
                </a:solidFill>
                <a:effectLst/>
                <a:latin typeface="+mn-lt"/>
                <a:ea typeface="+mn-ea"/>
                <a:cs typeface="+mn-cs"/>
              </a:rPr>
              <a:t> notebooks, saved to standalone HTML files, or served as part of pure Python-built web applications using Dash.</a:t>
            </a:r>
            <a:endParaRPr lang="en-US"/>
          </a:p>
        </p:txBody>
      </p:sp>
    </p:spTree>
    <p:extLst>
      <p:ext uri="{BB962C8B-B14F-4D97-AF65-F5344CB8AC3E}">
        <p14:creationId xmlns:p14="http://schemas.microsoft.com/office/powerpoint/2010/main" val="1315987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a:t>Tooltips </a:t>
            </a:r>
          </a:p>
        </p:txBody>
      </p:sp>
    </p:spTree>
    <p:extLst>
      <p:ext uri="{BB962C8B-B14F-4D97-AF65-F5344CB8AC3E}">
        <p14:creationId xmlns:p14="http://schemas.microsoft.com/office/powerpoint/2010/main" val="3235990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a:t>On Kay’s version, expected returns are a little high, but reduced when vol targeting added as this reduces risky weighting</a:t>
            </a:r>
          </a:p>
          <a:p>
            <a:endParaRPr lang="en-GB"/>
          </a:p>
        </p:txBody>
      </p:sp>
    </p:spTree>
    <p:extLst>
      <p:ext uri="{BB962C8B-B14F-4D97-AF65-F5344CB8AC3E}">
        <p14:creationId xmlns:p14="http://schemas.microsoft.com/office/powerpoint/2010/main" val="3526313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26848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23C8-2C3A-9CC7-3949-D9BF3DE54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5C8BB-C401-B261-89AC-8CA4793DC7E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FD3D727-0F2E-D342-C29A-55A3B9722A78}"/>
              </a:ext>
            </a:extLst>
          </p:cNvPr>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3409696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915F-A33A-4183-CE1C-B19A7E80C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8B766-B7F7-54A9-89A2-4C941878EED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1BB2CCF-6BFE-B963-3389-13C81993C531}"/>
              </a:ext>
            </a:extLst>
          </p:cNvPr>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710621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4E8DF-E969-E431-4932-96318CCAA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67F1D-525D-5242-2667-B0606FC2E1E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C5F886A-8C9F-BB13-1E62-4E90518680E4}"/>
              </a:ext>
            </a:extLst>
          </p:cNvPr>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237989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931399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0D1C0-9085-A823-280D-3613DCB15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DAAE2-7D48-8D7E-49DC-7DCC43931969}"/>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6B71C5D-D99E-DA84-029A-E28F821AC18B}"/>
              </a:ext>
            </a:extLst>
          </p:cNvPr>
          <p:cNvSpPr>
            <a:spLocks noGrp="1"/>
          </p:cNvSpPr>
          <p:nvPr>
            <p:ph type="body" idx="1"/>
          </p:nvPr>
        </p:nvSpPr>
        <p:spPr>
          <a:xfrm>
            <a:off x="514350" y="4400550"/>
            <a:ext cx="4114800" cy="3600450"/>
          </a:xfrm>
          <a:prstGeom prst="rect">
            <a:avLst/>
          </a:prstGeom>
        </p:spPr>
        <p:txBody>
          <a:bodyPr/>
          <a:lstStyle/>
          <a:p>
            <a:r>
              <a:rPr lang="en-GB" sz="1200" b="1" i="0" kern="1200">
                <a:solidFill>
                  <a:schemeClr val="tx1"/>
                </a:solidFill>
                <a:effectLst/>
                <a:latin typeface="+mn-lt"/>
                <a:ea typeface="+mn-ea"/>
                <a:cs typeface="+mn-cs"/>
              </a:rPr>
              <a:t>CSS (Cascading Style Sheets)</a:t>
            </a:r>
            <a:r>
              <a:rPr lang="en-GB" sz="1200" b="0" i="0" kern="1200">
                <a:solidFill>
                  <a:schemeClr val="tx1"/>
                </a:solidFill>
                <a:effectLst/>
                <a:latin typeface="+mn-lt"/>
                <a:ea typeface="+mn-ea"/>
                <a:cs typeface="+mn-cs"/>
              </a:rPr>
              <a:t> is a stylesheet language used to control the </a:t>
            </a:r>
            <a:r>
              <a:rPr lang="en-GB" sz="1200" b="1" i="0" kern="1200">
                <a:solidFill>
                  <a:schemeClr val="tx1"/>
                </a:solidFill>
                <a:effectLst/>
                <a:latin typeface="+mn-lt"/>
                <a:ea typeface="+mn-ea"/>
                <a:cs typeface="+mn-cs"/>
              </a:rPr>
              <a:t>presentation</a:t>
            </a:r>
            <a:r>
              <a:rPr lang="en-GB" sz="1200" b="0" i="0" kern="1200">
                <a:solidFill>
                  <a:schemeClr val="tx1"/>
                </a:solidFill>
                <a:effectLst/>
                <a:latin typeface="+mn-lt"/>
                <a:ea typeface="+mn-ea"/>
                <a:cs typeface="+mn-cs"/>
              </a:rPr>
              <a:t> of HTML or XML documents. It defines how elements should be displayed on screen, paper, or other media, enabling developers to separate content (HTML) from design. This separation improves maintainability, reusability, and consistency across web pages.</a:t>
            </a:r>
          </a:p>
          <a:p>
            <a:r>
              <a:rPr lang="en-GB" sz="1200" b="0" i="0" kern="1200">
                <a:solidFill>
                  <a:schemeClr val="tx1"/>
                </a:solidFill>
                <a:effectLst/>
                <a:latin typeface="+mn-lt"/>
                <a:ea typeface="+mn-ea"/>
                <a:cs typeface="+mn-cs"/>
              </a:rPr>
              <a:t>CSS works by applying </a:t>
            </a:r>
            <a:r>
              <a:rPr lang="en-GB" sz="1200" b="1" i="0" kern="1200">
                <a:solidFill>
                  <a:schemeClr val="tx1"/>
                </a:solidFill>
                <a:effectLst/>
                <a:latin typeface="+mn-lt"/>
                <a:ea typeface="+mn-ea"/>
                <a:cs typeface="+mn-cs"/>
              </a:rPr>
              <a:t>rules</a:t>
            </a:r>
            <a:r>
              <a:rPr lang="en-GB" sz="1200" b="0" i="0" kern="1200">
                <a:solidFill>
                  <a:schemeClr val="tx1"/>
                </a:solidFill>
                <a:effectLst/>
                <a:latin typeface="+mn-lt"/>
                <a:ea typeface="+mn-ea"/>
                <a:cs typeface="+mn-cs"/>
              </a:rPr>
              <a:t> to HTML elements. Each rule consists of a </a:t>
            </a:r>
            <a:r>
              <a:rPr lang="en-GB" sz="1200" b="1" i="0" kern="1200">
                <a:solidFill>
                  <a:schemeClr val="tx1"/>
                </a:solidFill>
                <a:effectLst/>
                <a:latin typeface="+mn-lt"/>
                <a:ea typeface="+mn-ea"/>
                <a:cs typeface="+mn-cs"/>
              </a:rPr>
              <a:t>selector</a:t>
            </a:r>
            <a:r>
              <a:rPr lang="en-GB" sz="1200" b="0" i="0" kern="1200">
                <a:solidFill>
                  <a:schemeClr val="tx1"/>
                </a:solidFill>
                <a:effectLst/>
                <a:latin typeface="+mn-lt"/>
                <a:ea typeface="+mn-ea"/>
                <a:cs typeface="+mn-cs"/>
              </a:rPr>
              <a:t> (which targets elements) and a set of </a:t>
            </a:r>
            <a:r>
              <a:rPr lang="en-GB" sz="1200" b="1" i="0" kern="1200">
                <a:solidFill>
                  <a:schemeClr val="tx1"/>
                </a:solidFill>
                <a:effectLst/>
                <a:latin typeface="+mn-lt"/>
                <a:ea typeface="+mn-ea"/>
                <a:cs typeface="+mn-cs"/>
              </a:rPr>
              <a:t>declarations</a:t>
            </a:r>
            <a:r>
              <a:rPr lang="en-GB" sz="1200" b="0" i="0" kern="1200">
                <a:solidFill>
                  <a:schemeClr val="tx1"/>
                </a:solidFill>
                <a:effectLst/>
                <a:latin typeface="+mn-lt"/>
                <a:ea typeface="+mn-ea"/>
                <a:cs typeface="+mn-cs"/>
              </a:rPr>
              <a:t> (property-value pairs) that define the style. </a:t>
            </a:r>
          </a:p>
          <a:p>
            <a:r>
              <a:rPr lang="en-GB" sz="1200" b="1" i="0" kern="1200">
                <a:solidFill>
                  <a:schemeClr val="tx1"/>
                </a:solidFill>
                <a:effectLst/>
                <a:latin typeface="+mn-lt"/>
                <a:ea typeface="+mn-ea"/>
                <a:cs typeface="+mn-cs"/>
              </a:rPr>
              <a:t>Plotly</a:t>
            </a:r>
            <a:r>
              <a:rPr lang="en-GB" sz="1200" b="0" i="0" kern="1200">
                <a:solidFill>
                  <a:schemeClr val="tx1"/>
                </a:solidFill>
                <a:effectLst/>
                <a:latin typeface="+mn-lt"/>
                <a:ea typeface="+mn-ea"/>
                <a:cs typeface="+mn-cs"/>
              </a:rPr>
              <a:t> is an interactive, open-source plotting library for Python that supports over 40 unique chart types, covering a wide range of statistical, financial, geographic, scientific, and 3-dimensional use-cases. Built on top of the Plotly JavaScript library (</a:t>
            </a:r>
            <a:r>
              <a:rPr lang="en-GB" sz="1200" b="0" i="0" kern="1200" err="1">
                <a:solidFill>
                  <a:schemeClr val="tx1"/>
                </a:solidFill>
                <a:effectLst/>
                <a:latin typeface="+mn-lt"/>
                <a:ea typeface="+mn-ea"/>
                <a:cs typeface="+mn-cs"/>
              </a:rPr>
              <a:t>plotly.js</a:t>
            </a:r>
            <a:r>
              <a:rPr lang="en-GB" sz="1200" b="0" i="0" kern="1200">
                <a:solidFill>
                  <a:schemeClr val="tx1"/>
                </a:solidFill>
                <a:effectLst/>
                <a:latin typeface="+mn-lt"/>
                <a:ea typeface="+mn-ea"/>
                <a:cs typeface="+mn-cs"/>
              </a:rPr>
              <a:t>), Plotly enables Python users to create beautiful interactive web-based visualizations that can be displayed in </a:t>
            </a:r>
            <a:r>
              <a:rPr lang="en-GB" sz="1200" b="0" i="0" kern="1200" err="1">
                <a:solidFill>
                  <a:schemeClr val="tx1"/>
                </a:solidFill>
                <a:effectLst/>
                <a:latin typeface="+mn-lt"/>
                <a:ea typeface="+mn-ea"/>
                <a:cs typeface="+mn-cs"/>
              </a:rPr>
              <a:t>Jupyter</a:t>
            </a:r>
            <a:r>
              <a:rPr lang="en-GB" sz="1200" b="0" i="0" kern="1200">
                <a:solidFill>
                  <a:schemeClr val="tx1"/>
                </a:solidFill>
                <a:effectLst/>
                <a:latin typeface="+mn-lt"/>
                <a:ea typeface="+mn-ea"/>
                <a:cs typeface="+mn-cs"/>
              </a:rPr>
              <a:t> notebooks, saved to standalone HTML files, or served as part of pure Python-built web applications using Dash.</a:t>
            </a:r>
            <a:endParaRPr lang="en-US"/>
          </a:p>
        </p:txBody>
      </p:sp>
    </p:spTree>
    <p:extLst>
      <p:ext uri="{BB962C8B-B14F-4D97-AF65-F5344CB8AC3E}">
        <p14:creationId xmlns:p14="http://schemas.microsoft.com/office/powerpoint/2010/main" val="3579657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a:t>https://</a:t>
            </a:r>
            <a:r>
              <a:rPr lang="en-GB" err="1"/>
              <a:t>planner.cloud.microsoft</a:t>
            </a:r>
            <a:r>
              <a:rPr lang="en-GB"/>
              <a:t>/</a:t>
            </a:r>
            <a:r>
              <a:rPr lang="en-GB" err="1"/>
              <a:t>webui</a:t>
            </a:r>
            <a:r>
              <a:rPr lang="en-GB"/>
              <a:t>/plan/anMnEFxeW0aHObknSi9OHZYABDcv/view/</a:t>
            </a:r>
            <a:r>
              <a:rPr lang="en-GB" err="1"/>
              <a:t>board?tid</a:t>
            </a:r>
            <a:r>
              <a:rPr lang="en-GB"/>
              <a:t>=07ef1208-413c-4b5e-9cdd-64ef305754f0</a:t>
            </a:r>
          </a:p>
        </p:txBody>
      </p:sp>
    </p:spTree>
    <p:extLst>
      <p:ext uri="{BB962C8B-B14F-4D97-AF65-F5344CB8AC3E}">
        <p14:creationId xmlns:p14="http://schemas.microsoft.com/office/powerpoint/2010/main" val="21025989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334531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GB"/>
          </a:p>
        </p:txBody>
      </p:sp>
    </p:spTree>
    <p:extLst>
      <p:ext uri="{BB962C8B-B14F-4D97-AF65-F5344CB8AC3E}">
        <p14:creationId xmlns:p14="http://schemas.microsoft.com/office/powerpoint/2010/main" val="3727234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5.135.103.183:517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127.0.0.1:5000/" TargetMode="External"/><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gitlab.uwe.ac.uk/IGP_sept25_team03/portfolio" TargetMode="Externa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1645920" y="505165"/>
            <a:ext cx="5486400" cy="274320"/>
          </a:xfrm>
          <a:prstGeom prst="rect">
            <a:avLst/>
          </a:prstGeom>
          <a:noFill/>
          <a:ln/>
        </p:spPr>
        <p:txBody>
          <a:bodyPr wrap="square" lIns="0" tIns="0" rIns="0" bIns="0" rtlCol="0" anchor="ctr"/>
          <a:lstStyle/>
          <a:p>
            <a:pPr marL="0" indent="0">
              <a:buNone/>
            </a:pPr>
            <a:r>
              <a:rPr lang="en-GB" sz="1000" kern="0" spc="300" noProof="0">
                <a:solidFill>
                  <a:srgbClr val="CADCFC"/>
                </a:solidFill>
                <a:latin typeface="Calibri" pitchFamily="34" charset="0"/>
                <a:ea typeface="Calibri" pitchFamily="34" charset="-122"/>
                <a:cs typeface="Calibri" pitchFamily="34" charset="-120"/>
              </a:rPr>
              <a:t>IGP Team 3  · </a:t>
            </a:r>
            <a:r>
              <a:rPr lang="en-GB" sz="1000" kern="0" spc="100" noProof="0">
                <a:solidFill>
                  <a:srgbClr val="CADCFC"/>
                </a:solidFill>
                <a:latin typeface="Calibri" pitchFamily="34" charset="0"/>
                <a:ea typeface="Calibri" pitchFamily="34" charset="-122"/>
                <a:cs typeface="Calibri" pitchFamily="34" charset="-120"/>
              </a:rPr>
              <a:t>Instructor</a:t>
            </a:r>
            <a:r>
              <a:rPr lang="en-GB" sz="1000" kern="0" spc="300" noProof="0">
                <a:solidFill>
                  <a:srgbClr val="CADCFC"/>
                </a:solidFill>
                <a:latin typeface="Calibri" pitchFamily="34" charset="0"/>
                <a:ea typeface="Calibri" pitchFamily="34" charset="-122"/>
                <a:cs typeface="Calibri" pitchFamily="34" charset="-120"/>
              </a:rPr>
              <a:t>: </a:t>
            </a:r>
            <a:r>
              <a:rPr lang="en-GB" sz="1000" kern="0" spc="100" noProof="0">
                <a:solidFill>
                  <a:srgbClr val="CADCFC"/>
                </a:solidFill>
                <a:latin typeface="Calibri" pitchFamily="34" charset="0"/>
                <a:ea typeface="Calibri" pitchFamily="34" charset="-122"/>
                <a:cs typeface="Calibri" pitchFamily="34" charset="-120"/>
              </a:rPr>
              <a:t>Hisham </a:t>
            </a:r>
            <a:r>
              <a:rPr lang="en-GB" sz="1000" kern="0" spc="100" noProof="0" err="1">
                <a:solidFill>
                  <a:srgbClr val="CADCFC"/>
                </a:solidFill>
                <a:latin typeface="Calibri" pitchFamily="34" charset="0"/>
                <a:ea typeface="Calibri" pitchFamily="34" charset="-122"/>
                <a:cs typeface="Calibri" pitchFamily="34" charset="-120"/>
              </a:rPr>
              <a:t>Ihshaish</a:t>
            </a:r>
            <a:r>
              <a:rPr lang="en-GB" sz="1000" kern="0" spc="300" noProof="0">
                <a:solidFill>
                  <a:srgbClr val="CADCFC"/>
                </a:solidFill>
                <a:latin typeface="Calibri" pitchFamily="34" charset="0"/>
                <a:ea typeface="Calibri" pitchFamily="34" charset="-122"/>
                <a:cs typeface="Calibri" pitchFamily="34" charset="-120"/>
              </a:rPr>
              <a:t>  </a:t>
            </a:r>
            <a:endParaRPr lang="en-GB" sz="1000" noProof="0"/>
          </a:p>
        </p:txBody>
      </p:sp>
      <p:grpSp>
        <p:nvGrpSpPr>
          <p:cNvPr id="6" name="Group 5">
            <a:extLst>
              <a:ext uri="{FF2B5EF4-FFF2-40B4-BE49-F238E27FC236}">
                <a16:creationId xmlns:a16="http://schemas.microsoft.com/office/drawing/2014/main" id="{AAC85F0E-FCC5-FA39-8B6B-49D8EDF7F930}"/>
              </a:ext>
            </a:extLst>
          </p:cNvPr>
          <p:cNvGrpSpPr/>
          <p:nvPr/>
        </p:nvGrpSpPr>
        <p:grpSpPr>
          <a:xfrm>
            <a:off x="502920" y="1110954"/>
            <a:ext cx="7772400" cy="1188720"/>
            <a:chOff x="502920" y="1110954"/>
            <a:chExt cx="7772400" cy="1188720"/>
          </a:xfrm>
        </p:grpSpPr>
        <p:sp>
          <p:nvSpPr>
            <p:cNvPr id="5" name="Text 3"/>
            <p:cNvSpPr/>
            <p:nvPr/>
          </p:nvSpPr>
          <p:spPr>
            <a:xfrm>
              <a:off x="502920" y="1110954"/>
              <a:ext cx="7772400" cy="1188720"/>
            </a:xfrm>
            <a:prstGeom prst="rect">
              <a:avLst/>
            </a:prstGeom>
            <a:noFill/>
            <a:ln/>
          </p:spPr>
          <p:txBody>
            <a:bodyPr wrap="square" lIns="0" tIns="0" rIns="0" bIns="0" rtlCol="0" anchor="ctr"/>
            <a:lstStyle/>
            <a:p>
              <a:pPr marL="0" indent="0">
                <a:buNone/>
              </a:pPr>
              <a:r>
                <a:rPr lang="en-GB" sz="4800" b="1" noProof="0">
                  <a:solidFill>
                    <a:srgbClr val="FFFFFF"/>
                  </a:solidFill>
                  <a:latin typeface="Calibri" pitchFamily="34" charset="0"/>
                  <a:ea typeface="Calibri" pitchFamily="34" charset="-122"/>
                  <a:cs typeface="Calibri" pitchFamily="34" charset="-120"/>
                </a:rPr>
                <a:t>Robo Chat Advisor</a:t>
              </a:r>
              <a:endParaRPr lang="en-GB" sz="4800" noProof="0"/>
            </a:p>
          </p:txBody>
        </p:sp>
        <p:sp>
          <p:nvSpPr>
            <p:cNvPr id="7" name="Shape 5"/>
            <p:cNvSpPr/>
            <p:nvPr/>
          </p:nvSpPr>
          <p:spPr>
            <a:xfrm>
              <a:off x="540157" y="2071076"/>
              <a:ext cx="4569725" cy="45719"/>
            </a:xfrm>
            <a:prstGeom prst="rect">
              <a:avLst/>
            </a:prstGeom>
            <a:solidFill>
              <a:srgbClr val="4F8EF7"/>
            </a:solidFill>
            <a:ln w="12700">
              <a:solidFill>
                <a:srgbClr val="4F8EF7"/>
              </a:solidFill>
              <a:prstDash val="solid"/>
            </a:ln>
          </p:spPr>
          <p:txBody>
            <a:bodyPr/>
            <a:lstStyle/>
            <a:p>
              <a:endParaRPr lang="en-GB" noProof="0"/>
            </a:p>
          </p:txBody>
        </p:sp>
      </p:grpSp>
      <p:sp>
        <p:nvSpPr>
          <p:cNvPr id="8" name="Text 6"/>
          <p:cNvSpPr/>
          <p:nvPr/>
        </p:nvSpPr>
        <p:spPr>
          <a:xfrm>
            <a:off x="502920" y="3272929"/>
            <a:ext cx="5347585" cy="320040"/>
          </a:xfrm>
          <a:prstGeom prst="rect">
            <a:avLst/>
          </a:prstGeom>
          <a:noFill/>
          <a:ln/>
        </p:spPr>
        <p:txBody>
          <a:bodyPr wrap="square" lIns="0" tIns="0" rIns="0" bIns="0" rtlCol="0" anchor="ctr"/>
          <a:lstStyle/>
          <a:p>
            <a:pPr marL="0" indent="0">
              <a:buNone/>
            </a:pPr>
            <a:r>
              <a:rPr lang="en-GB" noProof="0">
                <a:solidFill>
                  <a:schemeClr val="bg1">
                    <a:lumMod val="95000"/>
                  </a:schemeClr>
                </a:solidFill>
                <a:latin typeface="Calibri" pitchFamily="34" charset="0"/>
                <a:ea typeface="Calibri" pitchFamily="34" charset="-122"/>
                <a:cs typeface="Calibri" pitchFamily="34" charset="-120"/>
              </a:rPr>
              <a:t>Team Members: </a:t>
            </a:r>
          </a:p>
          <a:p>
            <a:pPr marL="1485900" lvl="3" indent="-114300">
              <a:buFont typeface="Arial" panose="020B0604020202020204" pitchFamily="34" charset="0"/>
              <a:buChar char="•"/>
            </a:pPr>
            <a:r>
              <a:rPr lang="en-GB" noProof="0">
                <a:solidFill>
                  <a:schemeClr val="bg1">
                    <a:lumMod val="95000"/>
                  </a:schemeClr>
                </a:solidFill>
              </a:rPr>
              <a:t>Gordon Gulliford</a:t>
            </a:r>
          </a:p>
          <a:p>
            <a:pPr marL="1485900" lvl="3" indent="-114300">
              <a:buFont typeface="Arial" panose="020B0604020202020204" pitchFamily="34" charset="0"/>
              <a:buChar char="•"/>
            </a:pPr>
            <a:r>
              <a:rPr lang="en-GB" noProof="0">
                <a:solidFill>
                  <a:schemeClr val="bg1">
                    <a:lumMod val="95000"/>
                  </a:schemeClr>
                </a:solidFill>
              </a:rPr>
              <a:t>James Gooch</a:t>
            </a:r>
          </a:p>
          <a:p>
            <a:pPr marL="1485900" lvl="3" indent="-114300">
              <a:buFont typeface="Arial" panose="020B0604020202020204" pitchFamily="34" charset="0"/>
              <a:buChar char="•"/>
            </a:pPr>
            <a:r>
              <a:rPr lang="en-GB" noProof="0">
                <a:solidFill>
                  <a:schemeClr val="bg1">
                    <a:lumMod val="95000"/>
                  </a:schemeClr>
                </a:solidFill>
              </a:rPr>
              <a:t>Kay Roscoe</a:t>
            </a:r>
          </a:p>
          <a:p>
            <a:pPr lvl="3">
              <a:buFont typeface="Arial" panose="020B0604020202020204" pitchFamily="34" charset="0"/>
              <a:buChar char="•"/>
            </a:pPr>
            <a:r>
              <a:rPr lang="en-GB" noProof="0">
                <a:solidFill>
                  <a:schemeClr val="bg1">
                    <a:lumMod val="95000"/>
                  </a:schemeClr>
                </a:solidFill>
              </a:rPr>
              <a:t> Sumudu Lakmal Jayawardhana (Lucky) </a:t>
            </a:r>
          </a:p>
          <a:p>
            <a:pPr marL="1485900" lvl="3" indent="-114300">
              <a:buFont typeface="Arial" panose="020B0604020202020204" pitchFamily="34" charset="0"/>
              <a:buChar char="•"/>
            </a:pPr>
            <a:r>
              <a:rPr lang="en-GB" noProof="0">
                <a:solidFill>
                  <a:schemeClr val="bg1">
                    <a:lumMod val="95000"/>
                  </a:schemeClr>
                </a:solidFill>
              </a:rPr>
              <a:t>Thomas Oxley</a:t>
            </a:r>
            <a:r>
              <a:rPr lang="en-GB" noProof="0">
                <a:solidFill>
                  <a:schemeClr val="bg1">
                    <a:lumMod val="95000"/>
                  </a:schemeClr>
                </a:solidFill>
                <a:latin typeface="Calibri" pitchFamily="34" charset="0"/>
                <a:ea typeface="Calibri" pitchFamily="34" charset="-122"/>
                <a:cs typeface="Calibri" pitchFamily="34" charset="-120"/>
              </a:rPr>
              <a:t>  </a:t>
            </a:r>
            <a:endParaRPr lang="en-GB" noProof="0">
              <a:solidFill>
                <a:schemeClr val="bg1">
                  <a:lumMod val="95000"/>
                </a:schemeClr>
              </a:solidFill>
            </a:endParaRPr>
          </a:p>
        </p:txBody>
      </p:sp>
      <p:sp>
        <p:nvSpPr>
          <p:cNvPr id="9" name="Text 7"/>
          <p:cNvSpPr/>
          <p:nvPr/>
        </p:nvSpPr>
        <p:spPr>
          <a:xfrm>
            <a:off x="502920" y="4617720"/>
            <a:ext cx="8229600" cy="274320"/>
          </a:xfrm>
          <a:prstGeom prst="rect">
            <a:avLst/>
          </a:prstGeom>
          <a:noFill/>
          <a:ln/>
        </p:spPr>
        <p:txBody>
          <a:bodyPr wrap="square" lIns="0" tIns="0" rIns="0" bIns="0" rtlCol="0" anchor="ctr"/>
          <a:lstStyle/>
          <a:p>
            <a:pPr marL="0" indent="0">
              <a:buNone/>
            </a:pPr>
            <a:r>
              <a:rPr lang="en-GB" sz="1000" noProof="0">
                <a:solidFill>
                  <a:srgbClr val="8FADD8"/>
                </a:solidFill>
                <a:latin typeface="Calibri" pitchFamily="34" charset="0"/>
                <a:ea typeface="Calibri" pitchFamily="34" charset="-122"/>
                <a:cs typeface="Calibri" pitchFamily="34" charset="-120"/>
              </a:rPr>
              <a:t>Covering: Objectives · Research · Methods · Findings · Project Management</a:t>
            </a:r>
            <a:endParaRPr lang="en-GB" sz="1000" noProof="0"/>
          </a:p>
        </p:txBody>
      </p:sp>
      <p:pic>
        <p:nvPicPr>
          <p:cNvPr id="13" name="Picture 12">
            <a:extLst>
              <a:ext uri="{FF2B5EF4-FFF2-40B4-BE49-F238E27FC236}">
                <a16:creationId xmlns:a16="http://schemas.microsoft.com/office/drawing/2014/main" id="{CED0926F-6C43-ED82-6A42-741570B8CCD6}"/>
              </a:ext>
            </a:extLst>
          </p:cNvPr>
          <p:cNvPicPr>
            <a:picLocks noChangeAspect="1"/>
          </p:cNvPicPr>
          <p:nvPr/>
        </p:nvPicPr>
        <p:blipFill>
          <a:blip r:embed="rId3">
            <a:alphaModFix amt="35000"/>
          </a:blip>
          <a:srcRect b="55274"/>
          <a:stretch>
            <a:fillRect/>
          </a:stretch>
        </p:blipFill>
        <p:spPr>
          <a:xfrm>
            <a:off x="4291965" y="-3185453"/>
            <a:ext cx="3454846" cy="2185496"/>
          </a:xfrm>
          <a:prstGeom prst="rect">
            <a:avLst/>
          </a:prstGeom>
          <a:ln>
            <a:noFill/>
          </a:ln>
          <a:effectLst>
            <a:softEdge rad="112500"/>
          </a:effectLst>
        </p:spPr>
      </p:pic>
      <p:pic>
        <p:nvPicPr>
          <p:cNvPr id="3" name="Picture 2">
            <a:extLst>
              <a:ext uri="{FF2B5EF4-FFF2-40B4-BE49-F238E27FC236}">
                <a16:creationId xmlns:a16="http://schemas.microsoft.com/office/drawing/2014/main" id="{E8A94C95-7C94-56F1-5F03-6286262941F2}"/>
              </a:ext>
            </a:extLst>
          </p:cNvPr>
          <p:cNvPicPr>
            <a:picLocks noChangeAspect="1"/>
          </p:cNvPicPr>
          <p:nvPr/>
        </p:nvPicPr>
        <p:blipFill>
          <a:blip r:embed="rId4"/>
          <a:srcRect l="13334" t="28243" r="12642" b="31552"/>
          <a:stretch>
            <a:fillRect/>
          </a:stretch>
        </p:blipFill>
        <p:spPr>
          <a:xfrm>
            <a:off x="188465" y="251460"/>
            <a:ext cx="1156241" cy="565202"/>
          </a:xfrm>
          <a:prstGeom prst="rect">
            <a:avLst/>
          </a:prstGeom>
        </p:spPr>
      </p:pic>
      <p:pic>
        <p:nvPicPr>
          <p:cNvPr id="10" name="Picture 9">
            <a:extLst>
              <a:ext uri="{FF2B5EF4-FFF2-40B4-BE49-F238E27FC236}">
                <a16:creationId xmlns:a16="http://schemas.microsoft.com/office/drawing/2014/main" id="{1287E5DC-73EF-CBB0-E446-9145B6FD02F8}"/>
              </a:ext>
            </a:extLst>
          </p:cNvPr>
          <p:cNvPicPr>
            <a:picLocks noChangeAspect="1"/>
          </p:cNvPicPr>
          <p:nvPr/>
        </p:nvPicPr>
        <p:blipFill>
          <a:blip r:embed="rId5"/>
          <a:stretch>
            <a:fillRect/>
          </a:stretch>
        </p:blipFill>
        <p:spPr>
          <a:xfrm>
            <a:off x="7498080" y="306583"/>
            <a:ext cx="1314450" cy="1314450"/>
          </a:xfrm>
          <a:prstGeom prst="rect">
            <a:avLst/>
          </a:prstGeom>
        </p:spPr>
      </p:pic>
      <p:sp>
        <p:nvSpPr>
          <p:cNvPr id="11" name="TextBox 10">
            <a:extLst>
              <a:ext uri="{FF2B5EF4-FFF2-40B4-BE49-F238E27FC236}">
                <a16:creationId xmlns:a16="http://schemas.microsoft.com/office/drawing/2014/main" id="{141140B6-91D0-2C20-FC50-A736CDD43053}"/>
              </a:ext>
            </a:extLst>
          </p:cNvPr>
          <p:cNvSpPr txBox="1"/>
          <p:nvPr/>
        </p:nvSpPr>
        <p:spPr>
          <a:xfrm>
            <a:off x="7398657" y="1735738"/>
            <a:ext cx="1513296" cy="646331"/>
          </a:xfrm>
          <a:prstGeom prst="rect">
            <a:avLst/>
          </a:prstGeom>
          <a:noFill/>
        </p:spPr>
        <p:txBody>
          <a:bodyPr wrap="square" rtlCol="0">
            <a:spAutoFit/>
          </a:bodyPr>
          <a:lstStyle/>
          <a:p>
            <a:pPr algn="ctr"/>
            <a:r>
              <a:rPr lang="en-US">
                <a:solidFill>
                  <a:schemeClr val="bg1"/>
                </a:solidFill>
              </a:rPr>
              <a:t>Project Framework </a:t>
            </a:r>
          </a:p>
        </p:txBody>
      </p:sp>
      <p:pic>
        <p:nvPicPr>
          <p:cNvPr id="14" name="Picture 13">
            <a:extLst>
              <a:ext uri="{FF2B5EF4-FFF2-40B4-BE49-F238E27FC236}">
                <a16:creationId xmlns:a16="http://schemas.microsoft.com/office/drawing/2014/main" id="{DAC76BD0-13B3-8762-C22D-A3464056885A}"/>
              </a:ext>
            </a:extLst>
          </p:cNvPr>
          <p:cNvPicPr>
            <a:picLocks noChangeAspect="1"/>
          </p:cNvPicPr>
          <p:nvPr/>
        </p:nvPicPr>
        <p:blipFill>
          <a:blip r:embed="rId6"/>
          <a:stretch>
            <a:fillRect/>
          </a:stretch>
        </p:blipFill>
        <p:spPr>
          <a:xfrm>
            <a:off x="5803204" y="282084"/>
            <a:ext cx="1314450" cy="1314450"/>
          </a:xfrm>
          <a:prstGeom prst="rect">
            <a:avLst/>
          </a:prstGeom>
        </p:spPr>
      </p:pic>
      <p:sp>
        <p:nvSpPr>
          <p:cNvPr id="17" name="TextBox 16">
            <a:extLst>
              <a:ext uri="{FF2B5EF4-FFF2-40B4-BE49-F238E27FC236}">
                <a16:creationId xmlns:a16="http://schemas.microsoft.com/office/drawing/2014/main" id="{CD2BCE47-F69C-294F-B728-141139A2FD02}"/>
              </a:ext>
            </a:extLst>
          </p:cNvPr>
          <p:cNvSpPr txBox="1"/>
          <p:nvPr/>
        </p:nvSpPr>
        <p:spPr>
          <a:xfrm>
            <a:off x="5592408" y="1735739"/>
            <a:ext cx="1539912" cy="646331"/>
          </a:xfrm>
          <a:prstGeom prst="rect">
            <a:avLst/>
          </a:prstGeom>
          <a:noFill/>
        </p:spPr>
        <p:txBody>
          <a:bodyPr wrap="square" rtlCol="0">
            <a:spAutoFit/>
          </a:bodyPr>
          <a:lstStyle/>
          <a:p>
            <a:pPr algn="ctr"/>
            <a:r>
              <a:rPr lang="en-US">
                <a:solidFill>
                  <a:schemeClr val="bg1"/>
                </a:solidFill>
              </a:rPr>
              <a:t>Portfolio Advisor </a:t>
            </a:r>
          </a:p>
        </p:txBody>
      </p:sp>
      <p:pic>
        <p:nvPicPr>
          <p:cNvPr id="1026" name="Picture 2">
            <a:extLst>
              <a:ext uri="{FF2B5EF4-FFF2-40B4-BE49-F238E27FC236}">
                <a16:creationId xmlns:a16="http://schemas.microsoft.com/office/drawing/2014/main" id="{FBAEA0A9-6B13-9486-6137-1024672C6F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4722" y="2780453"/>
            <a:ext cx="3325937" cy="21034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289"/>
    </mc:Choice>
    <mc:Fallback xmlns="">
      <p:transition spd="slow" advTm="12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526C-E44C-2638-F5E0-2399E1403C7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16117FC-46EB-6AC0-741C-62BA28F2E1DD}"/>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3" name="TextBox 2">
            <a:extLst>
              <a:ext uri="{FF2B5EF4-FFF2-40B4-BE49-F238E27FC236}">
                <a16:creationId xmlns:a16="http://schemas.microsoft.com/office/drawing/2014/main" id="{146F0D41-AD8C-7D69-D3AE-6A81C7960FA4}"/>
              </a:ext>
            </a:extLst>
          </p:cNvPr>
          <p:cNvSpPr txBox="1"/>
          <p:nvPr/>
        </p:nvSpPr>
        <p:spPr>
          <a:xfrm>
            <a:off x="3128902" y="0"/>
            <a:ext cx="1441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noProof="0"/>
          </a:p>
        </p:txBody>
      </p:sp>
      <p:sp>
        <p:nvSpPr>
          <p:cNvPr id="4" name="Text 0">
            <a:extLst>
              <a:ext uri="{FF2B5EF4-FFF2-40B4-BE49-F238E27FC236}">
                <a16:creationId xmlns:a16="http://schemas.microsoft.com/office/drawing/2014/main" id="{0B616B95-56DF-7268-D3E6-845747CD3A93}"/>
              </a:ext>
            </a:extLst>
          </p:cNvPr>
          <p:cNvSpPr/>
          <p:nvPr/>
        </p:nvSpPr>
        <p:spPr>
          <a:xfrm>
            <a:off x="1658036" y="112859"/>
            <a:ext cx="7315200" cy="274320"/>
          </a:xfrm>
          <a:prstGeom prst="rect">
            <a:avLst/>
          </a:prstGeom>
          <a:noFill/>
          <a:ln/>
        </p:spPr>
        <p:txBody>
          <a:bodyPr wrap="square" lIns="0" tIns="0" rIns="0" bIns="0" rtlCol="0" anchor="ctr"/>
          <a:lstStyle/>
          <a:p>
            <a:pPr marL="0" indent="0">
              <a:buNone/>
            </a:pPr>
            <a:r>
              <a:rPr lang="en-GB" sz="1000" b="1" kern="0" spc="400" noProof="0">
                <a:solidFill>
                  <a:srgbClr val="F59E0B"/>
                </a:solidFill>
                <a:latin typeface="Calibri" pitchFamily="34" charset="0"/>
                <a:ea typeface="Calibri" pitchFamily="34" charset="-122"/>
                <a:cs typeface="Calibri" pitchFamily="34" charset="-120"/>
              </a:rPr>
              <a:t>AGENDA</a:t>
            </a:r>
            <a:endParaRPr lang="en-GB" sz="1000" noProof="0"/>
          </a:p>
        </p:txBody>
      </p:sp>
      <p:sp>
        <p:nvSpPr>
          <p:cNvPr id="5" name="Text 1">
            <a:extLst>
              <a:ext uri="{FF2B5EF4-FFF2-40B4-BE49-F238E27FC236}">
                <a16:creationId xmlns:a16="http://schemas.microsoft.com/office/drawing/2014/main" id="{24DF3ABA-D060-1949-64D0-1FB85FBBC5F7}"/>
              </a:ext>
            </a:extLst>
          </p:cNvPr>
          <p:cNvSpPr/>
          <p:nvPr/>
        </p:nvSpPr>
        <p:spPr>
          <a:xfrm>
            <a:off x="1658036" y="240021"/>
            <a:ext cx="10972800" cy="640080"/>
          </a:xfrm>
          <a:prstGeom prst="rect">
            <a:avLst/>
          </a:prstGeom>
          <a:noFill/>
          <a:ln/>
        </p:spPr>
        <p:txBody>
          <a:bodyPr wrap="square" lIns="0" tIns="0" rIns="0" bIns="0" rtlCol="0" anchor="ctr"/>
          <a:lstStyle/>
          <a:p>
            <a:pPr marL="0" indent="0">
              <a:buNone/>
            </a:pPr>
            <a:r>
              <a:rPr lang="en-GB" sz="3000" b="1" noProof="0">
                <a:solidFill>
                  <a:srgbClr val="1E2761"/>
                </a:solidFill>
                <a:latin typeface="Calibri" pitchFamily="34" charset="0"/>
                <a:ea typeface="Calibri" pitchFamily="34" charset="-122"/>
                <a:cs typeface="Calibri" pitchFamily="34" charset="-120"/>
              </a:rPr>
              <a:t>Today's Presentation</a:t>
            </a:r>
            <a:endParaRPr lang="en-GB" sz="3000" noProof="0"/>
          </a:p>
        </p:txBody>
      </p:sp>
      <p:sp>
        <p:nvSpPr>
          <p:cNvPr id="6" name="Shape 2">
            <a:extLst>
              <a:ext uri="{FF2B5EF4-FFF2-40B4-BE49-F238E27FC236}">
                <a16:creationId xmlns:a16="http://schemas.microsoft.com/office/drawing/2014/main" id="{17008943-32FB-14E3-ED78-C63A2C1B5021}"/>
              </a:ext>
            </a:extLst>
          </p:cNvPr>
          <p:cNvSpPr/>
          <p:nvPr/>
        </p:nvSpPr>
        <p:spPr>
          <a:xfrm>
            <a:off x="1658036" y="816376"/>
            <a:ext cx="548640" cy="45720"/>
          </a:xfrm>
          <a:prstGeom prst="rect">
            <a:avLst/>
          </a:prstGeom>
          <a:solidFill>
            <a:srgbClr val="F59E0B"/>
          </a:solidFill>
          <a:ln w="12700">
            <a:solidFill>
              <a:srgbClr val="F59E0B"/>
            </a:solidFill>
            <a:prstDash val="solid"/>
          </a:ln>
        </p:spPr>
        <p:txBody>
          <a:bodyPr/>
          <a:lstStyle/>
          <a:p>
            <a:endParaRPr lang="en-GB" noProof="0"/>
          </a:p>
        </p:txBody>
      </p:sp>
      <p:sp>
        <p:nvSpPr>
          <p:cNvPr id="7" name="Shape 3">
            <a:extLst>
              <a:ext uri="{FF2B5EF4-FFF2-40B4-BE49-F238E27FC236}">
                <a16:creationId xmlns:a16="http://schemas.microsoft.com/office/drawing/2014/main" id="{31B996BF-254E-DC17-8D63-3928AEC9F2C7}"/>
              </a:ext>
            </a:extLst>
          </p:cNvPr>
          <p:cNvSpPr/>
          <p:nvPr/>
        </p:nvSpPr>
        <p:spPr>
          <a:xfrm>
            <a:off x="188465" y="1177282"/>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8" name="Shape 4">
            <a:extLst>
              <a:ext uri="{FF2B5EF4-FFF2-40B4-BE49-F238E27FC236}">
                <a16:creationId xmlns:a16="http://schemas.microsoft.com/office/drawing/2014/main" id="{43A7A3D9-0555-46DF-40F1-E732F57E1931}"/>
              </a:ext>
            </a:extLst>
          </p:cNvPr>
          <p:cNvSpPr/>
          <p:nvPr/>
        </p:nvSpPr>
        <p:spPr>
          <a:xfrm>
            <a:off x="188465" y="1177282"/>
            <a:ext cx="1649846" cy="124297"/>
          </a:xfrm>
          <a:prstGeom prst="rect">
            <a:avLst/>
          </a:prstGeom>
          <a:solidFill>
            <a:srgbClr val="F59E0B"/>
          </a:solidFill>
          <a:ln w="12700">
            <a:solidFill>
              <a:srgbClr val="F59E0B"/>
            </a:solidFill>
            <a:prstDash val="solid"/>
          </a:ln>
        </p:spPr>
        <p:txBody>
          <a:bodyPr/>
          <a:lstStyle/>
          <a:p>
            <a:endParaRPr lang="en-GB" noProof="0"/>
          </a:p>
        </p:txBody>
      </p:sp>
      <p:sp>
        <p:nvSpPr>
          <p:cNvPr id="9" name="Text 5">
            <a:extLst>
              <a:ext uri="{FF2B5EF4-FFF2-40B4-BE49-F238E27FC236}">
                <a16:creationId xmlns:a16="http://schemas.microsoft.com/office/drawing/2014/main" id="{92A592BC-D828-7D98-88CA-427CD3CBD05D}"/>
              </a:ext>
            </a:extLst>
          </p:cNvPr>
          <p:cNvSpPr/>
          <p:nvPr/>
        </p:nvSpPr>
        <p:spPr>
          <a:xfrm>
            <a:off x="371345" y="1543042"/>
            <a:ext cx="1615855" cy="580051"/>
          </a:xfrm>
          <a:prstGeom prst="rect">
            <a:avLst/>
          </a:prstGeom>
          <a:noFill/>
          <a:ln/>
        </p:spPr>
        <p:txBody>
          <a:bodyPr wrap="square" lIns="0" tIns="0" rIns="0" bIns="0" rtlCol="0" anchor="ctr"/>
          <a:lstStyle/>
          <a:p>
            <a:pPr marL="0" indent="0">
              <a:buNone/>
            </a:pPr>
            <a:r>
              <a:rPr lang="en-GB" sz="3600" b="1" noProof="0">
                <a:solidFill>
                  <a:srgbClr val="F59E0B"/>
                </a:solidFill>
                <a:latin typeface="Calibri" pitchFamily="34" charset="0"/>
                <a:ea typeface="Calibri" pitchFamily="34" charset="-122"/>
                <a:cs typeface="Calibri" pitchFamily="34" charset="-120"/>
              </a:rPr>
              <a:t>01</a:t>
            </a:r>
            <a:endParaRPr lang="en-GB" sz="3600" noProof="0"/>
          </a:p>
        </p:txBody>
      </p:sp>
      <p:sp>
        <p:nvSpPr>
          <p:cNvPr id="10" name="Text 6">
            <a:extLst>
              <a:ext uri="{FF2B5EF4-FFF2-40B4-BE49-F238E27FC236}">
                <a16:creationId xmlns:a16="http://schemas.microsoft.com/office/drawing/2014/main" id="{04E3B946-96C3-B385-D428-8490B49A24DB}"/>
              </a:ext>
            </a:extLst>
          </p:cNvPr>
          <p:cNvSpPr/>
          <p:nvPr/>
        </p:nvSpPr>
        <p:spPr>
          <a:xfrm>
            <a:off x="371345" y="2274562"/>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Project Topic</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&amp; Objectives</a:t>
            </a:r>
            <a:endParaRPr lang="en-GB" noProof="0"/>
          </a:p>
        </p:txBody>
      </p:sp>
      <p:sp>
        <p:nvSpPr>
          <p:cNvPr id="11" name="Shape 7">
            <a:extLst>
              <a:ext uri="{FF2B5EF4-FFF2-40B4-BE49-F238E27FC236}">
                <a16:creationId xmlns:a16="http://schemas.microsoft.com/office/drawing/2014/main" id="{D78BADEB-EADA-F883-2859-86060624EF88}"/>
              </a:ext>
            </a:extLst>
          </p:cNvPr>
          <p:cNvSpPr/>
          <p:nvPr/>
        </p:nvSpPr>
        <p:spPr>
          <a:xfrm>
            <a:off x="371345" y="3463281"/>
            <a:ext cx="1466966" cy="65170"/>
          </a:xfrm>
          <a:prstGeom prst="rect">
            <a:avLst/>
          </a:prstGeom>
          <a:solidFill>
            <a:srgbClr val="F59E0B"/>
          </a:solidFill>
          <a:ln w="12700">
            <a:solidFill>
              <a:srgbClr val="F59E0B"/>
            </a:solidFill>
            <a:prstDash val="solid"/>
          </a:ln>
        </p:spPr>
        <p:txBody>
          <a:bodyPr/>
          <a:lstStyle/>
          <a:p>
            <a:endParaRPr lang="en-GB" noProof="0"/>
          </a:p>
        </p:txBody>
      </p:sp>
      <p:sp>
        <p:nvSpPr>
          <p:cNvPr id="13" name="Shape 10">
            <a:extLst>
              <a:ext uri="{FF2B5EF4-FFF2-40B4-BE49-F238E27FC236}">
                <a16:creationId xmlns:a16="http://schemas.microsoft.com/office/drawing/2014/main" id="{2AC7627D-7317-2740-B117-D00BC3F2F4E2}"/>
              </a:ext>
            </a:extLst>
          </p:cNvPr>
          <p:cNvSpPr/>
          <p:nvPr/>
        </p:nvSpPr>
        <p:spPr>
          <a:xfrm>
            <a:off x="1987200" y="1177282"/>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14" name="Shape 11">
            <a:extLst>
              <a:ext uri="{FF2B5EF4-FFF2-40B4-BE49-F238E27FC236}">
                <a16:creationId xmlns:a16="http://schemas.microsoft.com/office/drawing/2014/main" id="{69018A5E-ED12-B2D6-291C-149E3E2FFFE1}"/>
              </a:ext>
            </a:extLst>
          </p:cNvPr>
          <p:cNvSpPr/>
          <p:nvPr/>
        </p:nvSpPr>
        <p:spPr>
          <a:xfrm>
            <a:off x="1987200" y="1177282"/>
            <a:ext cx="1649846" cy="124297"/>
          </a:xfrm>
          <a:prstGeom prst="rect">
            <a:avLst/>
          </a:prstGeom>
          <a:solidFill>
            <a:srgbClr val="A855F7"/>
          </a:solidFill>
          <a:ln w="12700">
            <a:solidFill>
              <a:srgbClr val="A855F7"/>
            </a:solidFill>
            <a:prstDash val="solid"/>
          </a:ln>
        </p:spPr>
        <p:txBody>
          <a:bodyPr/>
          <a:lstStyle/>
          <a:p>
            <a:endParaRPr lang="en-GB" noProof="0"/>
          </a:p>
        </p:txBody>
      </p:sp>
      <p:sp>
        <p:nvSpPr>
          <p:cNvPr id="15" name="Text 12">
            <a:extLst>
              <a:ext uri="{FF2B5EF4-FFF2-40B4-BE49-F238E27FC236}">
                <a16:creationId xmlns:a16="http://schemas.microsoft.com/office/drawing/2014/main" id="{FD8D2817-18D6-E44B-20D2-D8E894182B92}"/>
              </a:ext>
            </a:extLst>
          </p:cNvPr>
          <p:cNvSpPr/>
          <p:nvPr/>
        </p:nvSpPr>
        <p:spPr>
          <a:xfrm>
            <a:off x="2170080" y="1543042"/>
            <a:ext cx="1615855" cy="580051"/>
          </a:xfrm>
          <a:prstGeom prst="rect">
            <a:avLst/>
          </a:prstGeom>
          <a:noFill/>
          <a:ln/>
        </p:spPr>
        <p:txBody>
          <a:bodyPr wrap="square" lIns="0" tIns="0" rIns="0" bIns="0" rtlCol="0" anchor="ctr"/>
          <a:lstStyle/>
          <a:p>
            <a:pPr marL="0" indent="0">
              <a:buNone/>
            </a:pPr>
            <a:r>
              <a:rPr lang="en-GB" sz="3600" b="1" noProof="0">
                <a:solidFill>
                  <a:srgbClr val="A855F7"/>
                </a:solidFill>
                <a:latin typeface="Calibri" pitchFamily="34" charset="0"/>
                <a:ea typeface="Calibri" pitchFamily="34" charset="-122"/>
                <a:cs typeface="Calibri" pitchFamily="34" charset="-120"/>
              </a:rPr>
              <a:t>02</a:t>
            </a:r>
            <a:endParaRPr lang="en-GB" sz="3600" noProof="0"/>
          </a:p>
        </p:txBody>
      </p:sp>
      <p:sp>
        <p:nvSpPr>
          <p:cNvPr id="16" name="Text 13">
            <a:extLst>
              <a:ext uri="{FF2B5EF4-FFF2-40B4-BE49-F238E27FC236}">
                <a16:creationId xmlns:a16="http://schemas.microsoft.com/office/drawing/2014/main" id="{89EBB4C6-C8CE-018A-603B-D0AF2FE35FD4}"/>
              </a:ext>
            </a:extLst>
          </p:cNvPr>
          <p:cNvSpPr/>
          <p:nvPr/>
        </p:nvSpPr>
        <p:spPr>
          <a:xfrm>
            <a:off x="2170080" y="2274562"/>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Relevant</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Research</a:t>
            </a:r>
            <a:endParaRPr lang="en-GB" noProof="0"/>
          </a:p>
        </p:txBody>
      </p:sp>
      <p:sp>
        <p:nvSpPr>
          <p:cNvPr id="17" name="Shape 14">
            <a:extLst>
              <a:ext uri="{FF2B5EF4-FFF2-40B4-BE49-F238E27FC236}">
                <a16:creationId xmlns:a16="http://schemas.microsoft.com/office/drawing/2014/main" id="{BA00B7D2-B6E2-0AF0-A8CF-AD39A2741E98}"/>
              </a:ext>
            </a:extLst>
          </p:cNvPr>
          <p:cNvSpPr/>
          <p:nvPr/>
        </p:nvSpPr>
        <p:spPr>
          <a:xfrm>
            <a:off x="2170080" y="3463281"/>
            <a:ext cx="1466966" cy="65170"/>
          </a:xfrm>
          <a:prstGeom prst="rect">
            <a:avLst/>
          </a:prstGeom>
          <a:solidFill>
            <a:srgbClr val="A855F7"/>
          </a:solidFill>
          <a:ln w="12700">
            <a:solidFill>
              <a:srgbClr val="A855F7"/>
            </a:solidFill>
            <a:prstDash val="solid"/>
          </a:ln>
        </p:spPr>
        <p:txBody>
          <a:bodyPr/>
          <a:lstStyle/>
          <a:p>
            <a:endParaRPr lang="en-GB" noProof="0"/>
          </a:p>
        </p:txBody>
      </p:sp>
      <p:sp>
        <p:nvSpPr>
          <p:cNvPr id="19" name="Shape 17">
            <a:extLst>
              <a:ext uri="{FF2B5EF4-FFF2-40B4-BE49-F238E27FC236}">
                <a16:creationId xmlns:a16="http://schemas.microsoft.com/office/drawing/2014/main" id="{271C8230-120E-935B-B115-D95A149513FC}"/>
              </a:ext>
            </a:extLst>
          </p:cNvPr>
          <p:cNvSpPr/>
          <p:nvPr/>
        </p:nvSpPr>
        <p:spPr>
          <a:xfrm>
            <a:off x="3815414" y="1177281"/>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20" name="Shape 18">
            <a:extLst>
              <a:ext uri="{FF2B5EF4-FFF2-40B4-BE49-F238E27FC236}">
                <a16:creationId xmlns:a16="http://schemas.microsoft.com/office/drawing/2014/main" id="{31509A99-DF9A-21FC-874F-487D5BD99B1B}"/>
              </a:ext>
            </a:extLst>
          </p:cNvPr>
          <p:cNvSpPr/>
          <p:nvPr/>
        </p:nvSpPr>
        <p:spPr>
          <a:xfrm>
            <a:off x="3833518" y="1177282"/>
            <a:ext cx="1634347" cy="124297"/>
          </a:xfrm>
          <a:prstGeom prst="rect">
            <a:avLst/>
          </a:prstGeom>
          <a:solidFill>
            <a:srgbClr val="0EA5E9"/>
          </a:solidFill>
          <a:ln w="12700">
            <a:solidFill>
              <a:srgbClr val="0EA5E9"/>
            </a:solidFill>
            <a:prstDash val="solid"/>
          </a:ln>
        </p:spPr>
        <p:txBody>
          <a:bodyPr/>
          <a:lstStyle/>
          <a:p>
            <a:endParaRPr lang="en-GB" noProof="0"/>
          </a:p>
        </p:txBody>
      </p:sp>
      <p:sp>
        <p:nvSpPr>
          <p:cNvPr id="21" name="Text 19">
            <a:extLst>
              <a:ext uri="{FF2B5EF4-FFF2-40B4-BE49-F238E27FC236}">
                <a16:creationId xmlns:a16="http://schemas.microsoft.com/office/drawing/2014/main" id="{644CFCD9-2388-C870-1B91-F7257C7FE790}"/>
              </a:ext>
            </a:extLst>
          </p:cNvPr>
          <p:cNvSpPr/>
          <p:nvPr/>
        </p:nvSpPr>
        <p:spPr>
          <a:xfrm>
            <a:off x="3972769" y="1543042"/>
            <a:ext cx="1615855" cy="580051"/>
          </a:xfrm>
          <a:prstGeom prst="rect">
            <a:avLst/>
          </a:prstGeom>
          <a:noFill/>
          <a:ln/>
        </p:spPr>
        <p:txBody>
          <a:bodyPr wrap="square" lIns="0" tIns="0" rIns="0" bIns="0" rtlCol="0" anchor="ctr"/>
          <a:lstStyle/>
          <a:p>
            <a:pPr marL="0" indent="0">
              <a:buNone/>
            </a:pPr>
            <a:r>
              <a:rPr lang="en-GB" sz="3600" b="1" noProof="0">
                <a:solidFill>
                  <a:srgbClr val="0EA5E9"/>
                </a:solidFill>
                <a:latin typeface="Calibri" pitchFamily="34" charset="0"/>
                <a:ea typeface="Calibri" pitchFamily="34" charset="-122"/>
                <a:cs typeface="Calibri" pitchFamily="34" charset="-120"/>
              </a:rPr>
              <a:t>03</a:t>
            </a:r>
            <a:endParaRPr lang="en-GB" sz="3600" noProof="0"/>
          </a:p>
        </p:txBody>
      </p:sp>
      <p:sp>
        <p:nvSpPr>
          <p:cNvPr id="22" name="Text 20">
            <a:extLst>
              <a:ext uri="{FF2B5EF4-FFF2-40B4-BE49-F238E27FC236}">
                <a16:creationId xmlns:a16="http://schemas.microsoft.com/office/drawing/2014/main" id="{F4798EB9-DD79-2295-777E-772FD556E215}"/>
              </a:ext>
            </a:extLst>
          </p:cNvPr>
          <p:cNvSpPr/>
          <p:nvPr/>
        </p:nvSpPr>
        <p:spPr>
          <a:xfrm>
            <a:off x="3972769" y="2274562"/>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Methods</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Used</a:t>
            </a:r>
            <a:endParaRPr lang="en-GB" noProof="0"/>
          </a:p>
        </p:txBody>
      </p:sp>
      <p:sp>
        <p:nvSpPr>
          <p:cNvPr id="23" name="Shape 21">
            <a:extLst>
              <a:ext uri="{FF2B5EF4-FFF2-40B4-BE49-F238E27FC236}">
                <a16:creationId xmlns:a16="http://schemas.microsoft.com/office/drawing/2014/main" id="{A797FF37-8F5F-B816-5374-683A0DFD6941}"/>
              </a:ext>
            </a:extLst>
          </p:cNvPr>
          <p:cNvSpPr/>
          <p:nvPr/>
        </p:nvSpPr>
        <p:spPr>
          <a:xfrm>
            <a:off x="3972769" y="3463281"/>
            <a:ext cx="1513200" cy="65170"/>
          </a:xfrm>
          <a:prstGeom prst="rect">
            <a:avLst/>
          </a:prstGeom>
          <a:solidFill>
            <a:srgbClr val="0EA5E9"/>
          </a:solidFill>
          <a:ln w="12700">
            <a:solidFill>
              <a:srgbClr val="0EA5E9"/>
            </a:solidFill>
            <a:prstDash val="solid"/>
          </a:ln>
        </p:spPr>
        <p:txBody>
          <a:bodyPr/>
          <a:lstStyle/>
          <a:p>
            <a:endParaRPr lang="en-GB" noProof="0"/>
          </a:p>
        </p:txBody>
      </p:sp>
      <p:sp>
        <p:nvSpPr>
          <p:cNvPr id="25" name="Shape 24">
            <a:extLst>
              <a:ext uri="{FF2B5EF4-FFF2-40B4-BE49-F238E27FC236}">
                <a16:creationId xmlns:a16="http://schemas.microsoft.com/office/drawing/2014/main" id="{624357CD-8EB8-978B-9DDA-623B81C9EC02}"/>
              </a:ext>
            </a:extLst>
          </p:cNvPr>
          <p:cNvSpPr/>
          <p:nvPr/>
        </p:nvSpPr>
        <p:spPr>
          <a:xfrm>
            <a:off x="7486076" y="1177282"/>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26" name="Shape 25">
            <a:extLst>
              <a:ext uri="{FF2B5EF4-FFF2-40B4-BE49-F238E27FC236}">
                <a16:creationId xmlns:a16="http://schemas.microsoft.com/office/drawing/2014/main" id="{48129839-3D5F-0BCF-A3CC-78D5DBAA7500}"/>
              </a:ext>
            </a:extLst>
          </p:cNvPr>
          <p:cNvSpPr/>
          <p:nvPr/>
        </p:nvSpPr>
        <p:spPr>
          <a:xfrm>
            <a:off x="7486076" y="1177282"/>
            <a:ext cx="1652451" cy="124297"/>
          </a:xfrm>
          <a:prstGeom prst="rect">
            <a:avLst/>
          </a:prstGeom>
          <a:solidFill>
            <a:srgbClr val="22C55E"/>
          </a:solidFill>
          <a:ln w="12700">
            <a:solidFill>
              <a:srgbClr val="22C55E"/>
            </a:solidFill>
            <a:prstDash val="solid"/>
          </a:ln>
        </p:spPr>
        <p:txBody>
          <a:bodyPr/>
          <a:lstStyle/>
          <a:p>
            <a:endParaRPr lang="en-GB" noProof="0"/>
          </a:p>
        </p:txBody>
      </p:sp>
      <p:sp>
        <p:nvSpPr>
          <p:cNvPr id="27" name="Text 26">
            <a:extLst>
              <a:ext uri="{FF2B5EF4-FFF2-40B4-BE49-F238E27FC236}">
                <a16:creationId xmlns:a16="http://schemas.microsoft.com/office/drawing/2014/main" id="{500DFB57-D2DE-8120-1C6B-08025F7C6035}"/>
              </a:ext>
            </a:extLst>
          </p:cNvPr>
          <p:cNvSpPr/>
          <p:nvPr/>
        </p:nvSpPr>
        <p:spPr>
          <a:xfrm>
            <a:off x="7668956" y="1543042"/>
            <a:ext cx="1615855" cy="580051"/>
          </a:xfrm>
          <a:prstGeom prst="rect">
            <a:avLst/>
          </a:prstGeom>
          <a:noFill/>
          <a:ln/>
        </p:spPr>
        <p:txBody>
          <a:bodyPr wrap="square" lIns="0" tIns="0" rIns="0" bIns="0" rtlCol="0" anchor="ctr"/>
          <a:lstStyle/>
          <a:p>
            <a:pPr marL="0" indent="0">
              <a:buNone/>
            </a:pPr>
            <a:r>
              <a:rPr lang="en-GB" sz="3600" b="1" noProof="0">
                <a:solidFill>
                  <a:srgbClr val="22C55E"/>
                </a:solidFill>
                <a:latin typeface="Calibri"/>
                <a:ea typeface="Calibri"/>
                <a:cs typeface="Calibri"/>
              </a:rPr>
              <a:t>05</a:t>
            </a:r>
            <a:endParaRPr lang="en-GB" sz="3600" noProof="0"/>
          </a:p>
        </p:txBody>
      </p:sp>
      <p:sp>
        <p:nvSpPr>
          <p:cNvPr id="28" name="Text 27">
            <a:extLst>
              <a:ext uri="{FF2B5EF4-FFF2-40B4-BE49-F238E27FC236}">
                <a16:creationId xmlns:a16="http://schemas.microsoft.com/office/drawing/2014/main" id="{1F1B34C8-0D45-7B84-83C5-FCA83223DB2C}"/>
              </a:ext>
            </a:extLst>
          </p:cNvPr>
          <p:cNvSpPr/>
          <p:nvPr/>
        </p:nvSpPr>
        <p:spPr>
          <a:xfrm>
            <a:off x="7668956" y="2274562"/>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Major</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Findings</a:t>
            </a:r>
            <a:endParaRPr lang="en-GB" noProof="0"/>
          </a:p>
        </p:txBody>
      </p:sp>
      <p:sp>
        <p:nvSpPr>
          <p:cNvPr id="29" name="Shape 28">
            <a:extLst>
              <a:ext uri="{FF2B5EF4-FFF2-40B4-BE49-F238E27FC236}">
                <a16:creationId xmlns:a16="http://schemas.microsoft.com/office/drawing/2014/main" id="{6CD34397-D5AD-93F1-0711-53F1AB043FDD}"/>
              </a:ext>
            </a:extLst>
          </p:cNvPr>
          <p:cNvSpPr/>
          <p:nvPr/>
        </p:nvSpPr>
        <p:spPr>
          <a:xfrm>
            <a:off x="7668956" y="3463281"/>
            <a:ext cx="1469571" cy="65170"/>
          </a:xfrm>
          <a:prstGeom prst="rect">
            <a:avLst/>
          </a:prstGeom>
          <a:solidFill>
            <a:srgbClr val="22C55E"/>
          </a:solidFill>
          <a:ln w="12700">
            <a:solidFill>
              <a:srgbClr val="22C55E"/>
            </a:solidFill>
            <a:prstDash val="solid"/>
          </a:ln>
        </p:spPr>
        <p:txBody>
          <a:bodyPr/>
          <a:lstStyle/>
          <a:p>
            <a:endParaRPr lang="en-GB" noProof="0"/>
          </a:p>
        </p:txBody>
      </p:sp>
      <p:sp>
        <p:nvSpPr>
          <p:cNvPr id="31" name="Shape 31">
            <a:extLst>
              <a:ext uri="{FF2B5EF4-FFF2-40B4-BE49-F238E27FC236}">
                <a16:creationId xmlns:a16="http://schemas.microsoft.com/office/drawing/2014/main" id="{2C71DD3D-F1F0-ED64-DC2E-0E6113F073E3}"/>
              </a:ext>
            </a:extLst>
          </p:cNvPr>
          <p:cNvSpPr/>
          <p:nvPr/>
        </p:nvSpPr>
        <p:spPr>
          <a:xfrm>
            <a:off x="5650745" y="1177282"/>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32" name="Shape 32">
            <a:extLst>
              <a:ext uri="{FF2B5EF4-FFF2-40B4-BE49-F238E27FC236}">
                <a16:creationId xmlns:a16="http://schemas.microsoft.com/office/drawing/2014/main" id="{024B5658-6EA2-02AC-2C77-B9A86104BA1E}"/>
              </a:ext>
            </a:extLst>
          </p:cNvPr>
          <p:cNvSpPr/>
          <p:nvPr/>
        </p:nvSpPr>
        <p:spPr>
          <a:xfrm>
            <a:off x="5650745" y="1177282"/>
            <a:ext cx="1652451" cy="124297"/>
          </a:xfrm>
          <a:prstGeom prst="rect">
            <a:avLst/>
          </a:prstGeom>
          <a:solidFill>
            <a:srgbClr val="14B8A6"/>
          </a:solidFill>
          <a:ln w="12700">
            <a:solidFill>
              <a:srgbClr val="14B8A6"/>
            </a:solidFill>
            <a:prstDash val="solid"/>
          </a:ln>
        </p:spPr>
        <p:txBody>
          <a:bodyPr/>
          <a:lstStyle/>
          <a:p>
            <a:endParaRPr lang="en-GB" noProof="0"/>
          </a:p>
        </p:txBody>
      </p:sp>
      <p:sp>
        <p:nvSpPr>
          <p:cNvPr id="33" name="Text 33">
            <a:extLst>
              <a:ext uri="{FF2B5EF4-FFF2-40B4-BE49-F238E27FC236}">
                <a16:creationId xmlns:a16="http://schemas.microsoft.com/office/drawing/2014/main" id="{CD352B6D-94A1-50F3-C445-21512B2EB9FD}"/>
              </a:ext>
            </a:extLst>
          </p:cNvPr>
          <p:cNvSpPr/>
          <p:nvPr/>
        </p:nvSpPr>
        <p:spPr>
          <a:xfrm>
            <a:off x="5833625" y="1543042"/>
            <a:ext cx="1615855" cy="580051"/>
          </a:xfrm>
          <a:prstGeom prst="rect">
            <a:avLst/>
          </a:prstGeom>
          <a:noFill/>
          <a:ln/>
        </p:spPr>
        <p:txBody>
          <a:bodyPr wrap="square" lIns="0" tIns="0" rIns="0" bIns="0" rtlCol="0" anchor="ctr"/>
          <a:lstStyle/>
          <a:p>
            <a:pPr marL="0" indent="0">
              <a:buNone/>
            </a:pPr>
            <a:r>
              <a:rPr lang="en-GB" sz="3600" b="1" noProof="0">
                <a:solidFill>
                  <a:srgbClr val="14B8A6"/>
                </a:solidFill>
                <a:latin typeface="Calibri"/>
                <a:ea typeface="Calibri"/>
                <a:cs typeface="Calibri"/>
              </a:rPr>
              <a:t>04</a:t>
            </a:r>
            <a:endParaRPr lang="en-GB" sz="3600" noProof="0"/>
          </a:p>
        </p:txBody>
      </p:sp>
      <p:sp>
        <p:nvSpPr>
          <p:cNvPr id="34" name="Text 34">
            <a:extLst>
              <a:ext uri="{FF2B5EF4-FFF2-40B4-BE49-F238E27FC236}">
                <a16:creationId xmlns:a16="http://schemas.microsoft.com/office/drawing/2014/main" id="{F3715AB3-A7D5-C4A7-470C-069497F48F9E}"/>
              </a:ext>
            </a:extLst>
          </p:cNvPr>
          <p:cNvSpPr/>
          <p:nvPr/>
        </p:nvSpPr>
        <p:spPr>
          <a:xfrm>
            <a:off x="5833625" y="2274562"/>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Project</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Management</a:t>
            </a:r>
            <a:endParaRPr lang="en-GB" noProof="0"/>
          </a:p>
        </p:txBody>
      </p:sp>
      <p:sp>
        <p:nvSpPr>
          <p:cNvPr id="35" name="Shape 35">
            <a:extLst>
              <a:ext uri="{FF2B5EF4-FFF2-40B4-BE49-F238E27FC236}">
                <a16:creationId xmlns:a16="http://schemas.microsoft.com/office/drawing/2014/main" id="{6919AF83-F25D-8719-F92C-1DACF767F11A}"/>
              </a:ext>
            </a:extLst>
          </p:cNvPr>
          <p:cNvSpPr/>
          <p:nvPr/>
        </p:nvSpPr>
        <p:spPr>
          <a:xfrm>
            <a:off x="5833625" y="3463281"/>
            <a:ext cx="1469571" cy="65170"/>
          </a:xfrm>
          <a:prstGeom prst="rect">
            <a:avLst/>
          </a:prstGeom>
          <a:solidFill>
            <a:srgbClr val="14B8A6"/>
          </a:solidFill>
          <a:ln w="12700">
            <a:solidFill>
              <a:srgbClr val="14B8A6"/>
            </a:solidFill>
            <a:prstDash val="solid"/>
          </a:ln>
        </p:spPr>
        <p:txBody>
          <a:bodyPr/>
          <a:lstStyle/>
          <a:p>
            <a:endParaRPr lang="en-GB" noProof="0"/>
          </a:p>
        </p:txBody>
      </p:sp>
      <p:sp>
        <p:nvSpPr>
          <p:cNvPr id="37" name="Shape 38">
            <a:extLst>
              <a:ext uri="{FF2B5EF4-FFF2-40B4-BE49-F238E27FC236}">
                <a16:creationId xmlns:a16="http://schemas.microsoft.com/office/drawing/2014/main" id="{5B38E2B3-80A8-E035-9A3C-5F5FAF95F615}"/>
              </a:ext>
            </a:extLst>
          </p:cNvPr>
          <p:cNvSpPr/>
          <p:nvPr/>
        </p:nvSpPr>
        <p:spPr>
          <a:xfrm>
            <a:off x="0" y="4384836"/>
            <a:ext cx="9138527" cy="611200"/>
          </a:xfrm>
          <a:prstGeom prst="rect">
            <a:avLst/>
          </a:prstGeom>
          <a:solidFill>
            <a:srgbClr val="1E2761"/>
          </a:solidFill>
          <a:ln w="12700">
            <a:solidFill>
              <a:srgbClr val="1E2761"/>
            </a:solidFill>
            <a:prstDash val="solid"/>
          </a:ln>
        </p:spPr>
        <p:txBody>
          <a:bodyPr/>
          <a:lstStyle/>
          <a:p>
            <a:endParaRPr lang="en-GB" noProof="0"/>
          </a:p>
        </p:txBody>
      </p:sp>
      <p:sp>
        <p:nvSpPr>
          <p:cNvPr id="38" name="Text 39">
            <a:extLst>
              <a:ext uri="{FF2B5EF4-FFF2-40B4-BE49-F238E27FC236}">
                <a16:creationId xmlns:a16="http://schemas.microsoft.com/office/drawing/2014/main" id="{A9DD30F3-5879-FC88-12E3-55C03FD56F96}"/>
              </a:ext>
            </a:extLst>
          </p:cNvPr>
          <p:cNvSpPr/>
          <p:nvPr/>
        </p:nvSpPr>
        <p:spPr>
          <a:xfrm>
            <a:off x="182880" y="4462178"/>
            <a:ext cx="9854737" cy="580050"/>
          </a:xfrm>
          <a:prstGeom prst="rect">
            <a:avLst/>
          </a:prstGeom>
          <a:noFill/>
          <a:ln/>
        </p:spPr>
        <p:txBody>
          <a:bodyPr wrap="square" lIns="0" tIns="0" rIns="0" bIns="0" rtlCol="0" anchor="ctr"/>
          <a:lstStyle/>
          <a:p>
            <a:r>
              <a:rPr lang="en-GB" sz="1600" noProof="0">
                <a:solidFill>
                  <a:srgbClr val="000000"/>
                </a:solidFill>
                <a:latin typeface="Calibri"/>
                <a:ea typeface="Calibri"/>
                <a:cs typeface="Calibri"/>
              </a:rPr>
              <a:t>🚀  </a:t>
            </a:r>
            <a:r>
              <a:rPr lang="en-GB" sz="1600" b="1" kern="0" spc="400" noProof="0">
                <a:solidFill>
                  <a:srgbClr val="F59E0B"/>
                </a:solidFill>
                <a:latin typeface="Calibri"/>
                <a:ea typeface="Calibri"/>
                <a:cs typeface="Calibri"/>
              </a:rPr>
              <a:t>LIVE DEMO</a:t>
            </a:r>
            <a:r>
              <a:rPr lang="en-GB" sz="1200" b="1" kern="0" spc="400" noProof="0">
                <a:solidFill>
                  <a:srgbClr val="F59E0B"/>
                </a:solidFill>
                <a:latin typeface="Calibri"/>
                <a:ea typeface="Calibri"/>
                <a:cs typeface="Calibri"/>
              </a:rPr>
              <a:t>· </a:t>
            </a:r>
            <a:r>
              <a:rPr lang="en-GB" sz="1600" i="1" noProof="0">
                <a:solidFill>
                  <a:srgbClr val="FFFFFF"/>
                </a:solidFill>
                <a:latin typeface="Calibri"/>
                <a:ea typeface="Calibri"/>
                <a:cs typeface="Calibri"/>
              </a:rPr>
              <a:t>Happy to demonstrate working tool after presentation. </a:t>
            </a:r>
            <a:r>
              <a:rPr lang="en-GB" sz="1600" noProof="0">
                <a:solidFill>
                  <a:srgbClr val="00B0F0"/>
                </a:solidFill>
                <a:latin typeface="Calibri"/>
                <a:ea typeface="Calibri"/>
                <a:cs typeface="Calibri"/>
                <a:hlinkClick r:id="rId4">
                  <a:extLst>
                    <a:ext uri="{A12FA001-AC4F-418D-AE19-62706E023703}">
                      <ahyp:hlinkClr xmlns:ahyp="http://schemas.microsoft.com/office/drawing/2018/hyperlinkcolor" val="tx"/>
                    </a:ext>
                  </a:extLst>
                </a:hlinkClick>
              </a:rPr>
              <a:t>http://5.135.103.183:5173/</a:t>
            </a:r>
            <a:endParaRPr lang="en-GB" sz="1600" noProof="0">
              <a:solidFill>
                <a:srgbClr val="00B0F0"/>
              </a:solidFill>
              <a:latin typeface="Calibri"/>
              <a:ea typeface="Calibri"/>
              <a:cs typeface="Calibri"/>
            </a:endParaRPr>
          </a:p>
          <a:p>
            <a:endParaRPr lang="en-GB" sz="1200" i="1" noProof="0">
              <a:solidFill>
                <a:srgbClr val="FFFFFF"/>
              </a:solidFill>
              <a:ea typeface="Calibri"/>
              <a:cs typeface="Calibri"/>
            </a:endParaRPr>
          </a:p>
        </p:txBody>
      </p:sp>
    </p:spTree>
    <p:extLst>
      <p:ext uri="{BB962C8B-B14F-4D97-AF65-F5344CB8AC3E}">
        <p14:creationId xmlns:p14="http://schemas.microsoft.com/office/powerpoint/2010/main" val="1878720577"/>
      </p:ext>
    </p:extLst>
  </p:cSld>
  <p:clrMapOvr>
    <a:masterClrMapping/>
  </p:clrMapOvr>
  <mc:AlternateContent xmlns:mc="http://schemas.openxmlformats.org/markup-compatibility/2006" xmlns:p14="http://schemas.microsoft.com/office/powerpoint/2010/main">
    <mc:Choice Requires="p14">
      <p:transition spd="slow" p14:dur="2000" advTm="1470"/>
    </mc:Choice>
    <mc:Fallback xmlns="">
      <p:transition spd="slow" advTm="14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F8A81DBC-EBAD-E26A-4AA1-DA403C54190F}"/>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66A223C7-F398-559C-8BCD-4CB432BB2172}"/>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F59E0B"/>
                </a:solidFill>
                <a:latin typeface="Calibri" pitchFamily="34" charset="0"/>
                <a:ea typeface="Calibri" pitchFamily="34" charset="-122"/>
                <a:cs typeface="Calibri" pitchFamily="34" charset="-120"/>
              </a:rPr>
              <a:t>01  ·  TOPIC &amp; OBJECTIVES</a:t>
            </a:r>
            <a:endParaRPr lang="en-GB" sz="1000" noProof="0"/>
          </a:p>
        </p:txBody>
      </p:sp>
      <p:sp>
        <p:nvSpPr>
          <p:cNvPr id="6" name="Text 2">
            <a:extLst>
              <a:ext uri="{FF2B5EF4-FFF2-40B4-BE49-F238E27FC236}">
                <a16:creationId xmlns:a16="http://schemas.microsoft.com/office/drawing/2014/main" id="{7B8B68D4-7FD8-ABB4-7AFF-C208679FF24B}"/>
              </a:ext>
            </a:extLst>
          </p:cNvPr>
          <p:cNvSpPr/>
          <p:nvPr/>
        </p:nvSpPr>
        <p:spPr>
          <a:xfrm>
            <a:off x="1640335" y="282601"/>
            <a:ext cx="10972800" cy="640080"/>
          </a:xfrm>
          <a:prstGeom prst="rect">
            <a:avLst/>
          </a:prstGeom>
          <a:noFill/>
          <a:ln/>
        </p:spPr>
        <p:txBody>
          <a:bodyPr wrap="square" lIns="0" tIns="0" rIns="0" bIns="0" rtlCol="0" anchor="ctr"/>
          <a:lstStyle/>
          <a:p>
            <a:pPr marL="0" indent="0">
              <a:buNone/>
            </a:pPr>
            <a:r>
              <a:rPr lang="en-GB" sz="3000" b="1" noProof="0">
                <a:solidFill>
                  <a:srgbClr val="1E2761"/>
                </a:solidFill>
                <a:latin typeface="Calibri" pitchFamily="34" charset="0"/>
                <a:ea typeface="Calibri" pitchFamily="34" charset="-122"/>
                <a:cs typeface="Calibri" pitchFamily="34" charset="-120"/>
              </a:rPr>
              <a:t>The Problem We Set Out to Solve</a:t>
            </a:r>
            <a:endParaRPr lang="en-GB" sz="3000" noProof="0"/>
          </a:p>
        </p:txBody>
      </p:sp>
      <p:sp>
        <p:nvSpPr>
          <p:cNvPr id="7" name="Shape 3">
            <a:extLst>
              <a:ext uri="{FF2B5EF4-FFF2-40B4-BE49-F238E27FC236}">
                <a16:creationId xmlns:a16="http://schemas.microsoft.com/office/drawing/2014/main" id="{B6601197-CCB9-B670-807C-EAEB6B988FCB}"/>
              </a:ext>
            </a:extLst>
          </p:cNvPr>
          <p:cNvSpPr/>
          <p:nvPr/>
        </p:nvSpPr>
        <p:spPr>
          <a:xfrm>
            <a:off x="1640335" y="816662"/>
            <a:ext cx="548640" cy="45720"/>
          </a:xfrm>
          <a:prstGeom prst="rect">
            <a:avLst/>
          </a:prstGeom>
          <a:solidFill>
            <a:srgbClr val="F59E0B"/>
          </a:solidFill>
          <a:ln w="12700">
            <a:solidFill>
              <a:srgbClr val="F59E0B"/>
            </a:solidFill>
            <a:prstDash val="solid"/>
          </a:ln>
        </p:spPr>
        <p:txBody>
          <a:bodyPr/>
          <a:lstStyle/>
          <a:p>
            <a:endParaRPr lang="en-GB" noProof="0"/>
          </a:p>
        </p:txBody>
      </p:sp>
      <p:sp>
        <p:nvSpPr>
          <p:cNvPr id="8" name="Shape 0">
            <a:extLst>
              <a:ext uri="{FF2B5EF4-FFF2-40B4-BE49-F238E27FC236}">
                <a16:creationId xmlns:a16="http://schemas.microsoft.com/office/drawing/2014/main" id="{56849607-4361-3F8D-D1FD-3D425EAD95E5}"/>
              </a:ext>
            </a:extLst>
          </p:cNvPr>
          <p:cNvSpPr/>
          <p:nvPr/>
        </p:nvSpPr>
        <p:spPr>
          <a:xfrm>
            <a:off x="8823960" y="0"/>
            <a:ext cx="320040" cy="5143500"/>
          </a:xfrm>
          <a:prstGeom prst="rect">
            <a:avLst/>
          </a:prstGeom>
          <a:solidFill>
            <a:srgbClr val="F59E0B"/>
          </a:solidFill>
          <a:ln w="12700">
            <a:solidFill>
              <a:srgbClr val="F59E0B"/>
            </a:solidFill>
            <a:prstDash val="solid"/>
          </a:ln>
        </p:spPr>
        <p:txBody>
          <a:bodyPr/>
          <a:lstStyle/>
          <a:p>
            <a:endParaRPr lang="en-GB" noProof="0"/>
          </a:p>
        </p:txBody>
      </p:sp>
      <p:sp>
        <p:nvSpPr>
          <p:cNvPr id="9" name="Text 10">
            <a:extLst>
              <a:ext uri="{FF2B5EF4-FFF2-40B4-BE49-F238E27FC236}">
                <a16:creationId xmlns:a16="http://schemas.microsoft.com/office/drawing/2014/main" id="{1E9F4046-F73C-ADFD-1F3D-9DC3745EC207}"/>
              </a:ext>
            </a:extLst>
          </p:cNvPr>
          <p:cNvSpPr/>
          <p:nvPr/>
        </p:nvSpPr>
        <p:spPr>
          <a:xfrm>
            <a:off x="188465" y="1026717"/>
            <a:ext cx="5486400" cy="365760"/>
          </a:xfrm>
          <a:prstGeom prst="rect">
            <a:avLst/>
          </a:prstGeom>
          <a:noFill/>
          <a:ln/>
        </p:spPr>
        <p:txBody>
          <a:bodyPr wrap="square" lIns="0" tIns="0" rIns="0" bIns="0" rtlCol="0" anchor="ctr"/>
          <a:lstStyle/>
          <a:p>
            <a:pPr marL="0" indent="0">
              <a:buNone/>
            </a:pPr>
            <a:r>
              <a:rPr lang="en-GB" sz="1100" b="1" kern="0" spc="400" noProof="0">
                <a:solidFill>
                  <a:srgbClr val="F59E0B"/>
                </a:solidFill>
                <a:latin typeface="Calibri" pitchFamily="34" charset="0"/>
                <a:ea typeface="Calibri" pitchFamily="34" charset="-122"/>
                <a:cs typeface="Calibri" pitchFamily="34" charset="-120"/>
              </a:rPr>
              <a:t>THE BARRIERS</a:t>
            </a:r>
            <a:endParaRPr lang="en-GB" sz="1100" noProof="0"/>
          </a:p>
        </p:txBody>
      </p:sp>
      <p:sp>
        <p:nvSpPr>
          <p:cNvPr id="10" name="Shape 11">
            <a:extLst>
              <a:ext uri="{FF2B5EF4-FFF2-40B4-BE49-F238E27FC236}">
                <a16:creationId xmlns:a16="http://schemas.microsoft.com/office/drawing/2014/main" id="{F1B7698B-171D-7428-820F-46E7EA35D6BA}"/>
              </a:ext>
            </a:extLst>
          </p:cNvPr>
          <p:cNvSpPr/>
          <p:nvPr/>
        </p:nvSpPr>
        <p:spPr>
          <a:xfrm>
            <a:off x="188465" y="1500479"/>
            <a:ext cx="457200" cy="457200"/>
          </a:xfrm>
          <a:prstGeom prst="ellipse">
            <a:avLst/>
          </a:prstGeom>
          <a:solidFill>
            <a:srgbClr val="F59E0B"/>
          </a:solidFill>
          <a:ln w="12700">
            <a:solidFill>
              <a:srgbClr val="F59E0B"/>
            </a:solidFill>
            <a:prstDash val="solid"/>
          </a:ln>
        </p:spPr>
        <p:txBody>
          <a:bodyPr/>
          <a:lstStyle/>
          <a:p>
            <a:endParaRPr lang="en-GB" noProof="0"/>
          </a:p>
        </p:txBody>
      </p:sp>
      <p:sp>
        <p:nvSpPr>
          <p:cNvPr id="11" name="Text 12">
            <a:extLst>
              <a:ext uri="{FF2B5EF4-FFF2-40B4-BE49-F238E27FC236}">
                <a16:creationId xmlns:a16="http://schemas.microsoft.com/office/drawing/2014/main" id="{D11FB9F4-58C7-54F6-0128-5AF37060AEF2}"/>
              </a:ext>
            </a:extLst>
          </p:cNvPr>
          <p:cNvSpPr/>
          <p:nvPr/>
        </p:nvSpPr>
        <p:spPr>
          <a:xfrm>
            <a:off x="188465" y="1500479"/>
            <a:ext cx="457200" cy="457200"/>
          </a:xfrm>
          <a:prstGeom prst="rect">
            <a:avLst/>
          </a:prstGeom>
          <a:noFill/>
          <a:ln/>
        </p:spPr>
        <p:txBody>
          <a:bodyPr wrap="square" lIns="0" tIns="0" rIns="0" bIns="0" rtlCol="0" anchor="ctr"/>
          <a:lstStyle/>
          <a:p>
            <a:pPr marL="0" indent="0" algn="ctr">
              <a:buNone/>
            </a:pPr>
            <a:r>
              <a:rPr lang="en-GB" sz="1600" b="1" noProof="0">
                <a:solidFill>
                  <a:srgbClr val="1E2761"/>
                </a:solidFill>
                <a:latin typeface="Calibri" pitchFamily="34" charset="0"/>
                <a:ea typeface="Calibri" pitchFamily="34" charset="-122"/>
                <a:cs typeface="Calibri" pitchFamily="34" charset="-120"/>
              </a:rPr>
              <a:t>1</a:t>
            </a:r>
            <a:endParaRPr lang="en-GB" sz="1600" noProof="0"/>
          </a:p>
        </p:txBody>
      </p:sp>
      <p:sp>
        <p:nvSpPr>
          <p:cNvPr id="12" name="Text 13">
            <a:extLst>
              <a:ext uri="{FF2B5EF4-FFF2-40B4-BE49-F238E27FC236}">
                <a16:creationId xmlns:a16="http://schemas.microsoft.com/office/drawing/2014/main" id="{99D6F319-83B1-6462-B7DB-91A2866DDCE3}"/>
              </a:ext>
            </a:extLst>
          </p:cNvPr>
          <p:cNvSpPr/>
          <p:nvPr/>
        </p:nvSpPr>
        <p:spPr>
          <a:xfrm>
            <a:off x="828545" y="1454759"/>
            <a:ext cx="4846320" cy="365760"/>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Financial advice is expensive</a:t>
            </a:r>
            <a:endParaRPr lang="en-GB" noProof="0"/>
          </a:p>
        </p:txBody>
      </p:sp>
      <p:sp>
        <p:nvSpPr>
          <p:cNvPr id="14" name="Shape 15">
            <a:extLst>
              <a:ext uri="{FF2B5EF4-FFF2-40B4-BE49-F238E27FC236}">
                <a16:creationId xmlns:a16="http://schemas.microsoft.com/office/drawing/2014/main" id="{924A0C55-9024-0924-F847-1DB646FD9D6E}"/>
              </a:ext>
            </a:extLst>
          </p:cNvPr>
          <p:cNvSpPr/>
          <p:nvPr/>
        </p:nvSpPr>
        <p:spPr>
          <a:xfrm>
            <a:off x="188465" y="2564746"/>
            <a:ext cx="457200" cy="457200"/>
          </a:xfrm>
          <a:prstGeom prst="ellipse">
            <a:avLst/>
          </a:prstGeom>
          <a:solidFill>
            <a:srgbClr val="F59E0B"/>
          </a:solidFill>
          <a:ln w="12700">
            <a:solidFill>
              <a:srgbClr val="F59E0B"/>
            </a:solidFill>
            <a:prstDash val="solid"/>
          </a:ln>
        </p:spPr>
        <p:txBody>
          <a:bodyPr/>
          <a:lstStyle/>
          <a:p>
            <a:endParaRPr lang="en-GB" noProof="0"/>
          </a:p>
        </p:txBody>
      </p:sp>
      <p:sp>
        <p:nvSpPr>
          <p:cNvPr id="15" name="Text 16">
            <a:extLst>
              <a:ext uri="{FF2B5EF4-FFF2-40B4-BE49-F238E27FC236}">
                <a16:creationId xmlns:a16="http://schemas.microsoft.com/office/drawing/2014/main" id="{6CB7EDD8-F8A8-4FB4-1629-CF133A3AC0E1}"/>
              </a:ext>
            </a:extLst>
          </p:cNvPr>
          <p:cNvSpPr/>
          <p:nvPr/>
        </p:nvSpPr>
        <p:spPr>
          <a:xfrm>
            <a:off x="188465" y="2564746"/>
            <a:ext cx="457200" cy="457200"/>
          </a:xfrm>
          <a:prstGeom prst="rect">
            <a:avLst/>
          </a:prstGeom>
          <a:noFill/>
          <a:ln/>
        </p:spPr>
        <p:txBody>
          <a:bodyPr wrap="square" lIns="0" tIns="0" rIns="0" bIns="0" rtlCol="0" anchor="ctr"/>
          <a:lstStyle/>
          <a:p>
            <a:pPr marL="0" indent="0" algn="ctr">
              <a:buNone/>
            </a:pPr>
            <a:r>
              <a:rPr lang="en-GB" sz="1600" b="1" noProof="0">
                <a:solidFill>
                  <a:srgbClr val="1E2761"/>
                </a:solidFill>
                <a:latin typeface="Calibri" pitchFamily="34" charset="0"/>
                <a:ea typeface="Calibri" pitchFamily="34" charset="-122"/>
                <a:cs typeface="Calibri" pitchFamily="34" charset="-120"/>
              </a:rPr>
              <a:t>2</a:t>
            </a:r>
            <a:endParaRPr lang="en-GB" sz="1600" noProof="0"/>
          </a:p>
        </p:txBody>
      </p:sp>
      <p:sp>
        <p:nvSpPr>
          <p:cNvPr id="16" name="Text 17">
            <a:extLst>
              <a:ext uri="{FF2B5EF4-FFF2-40B4-BE49-F238E27FC236}">
                <a16:creationId xmlns:a16="http://schemas.microsoft.com/office/drawing/2014/main" id="{5E8B8ABC-5EF5-4BEB-F92A-5E20A18E6931}"/>
              </a:ext>
            </a:extLst>
          </p:cNvPr>
          <p:cNvSpPr/>
          <p:nvPr/>
        </p:nvSpPr>
        <p:spPr>
          <a:xfrm>
            <a:off x="828545" y="2519026"/>
            <a:ext cx="4846320" cy="365760"/>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Investment platforms feel intimidating</a:t>
            </a:r>
            <a:endParaRPr lang="en-GB" noProof="0"/>
          </a:p>
        </p:txBody>
      </p:sp>
      <p:sp>
        <p:nvSpPr>
          <p:cNvPr id="17" name="Text 18">
            <a:extLst>
              <a:ext uri="{FF2B5EF4-FFF2-40B4-BE49-F238E27FC236}">
                <a16:creationId xmlns:a16="http://schemas.microsoft.com/office/drawing/2014/main" id="{5AE1BFF5-B633-F119-308C-85FA8F683B1E}"/>
              </a:ext>
            </a:extLst>
          </p:cNvPr>
          <p:cNvSpPr/>
          <p:nvPr/>
        </p:nvSpPr>
        <p:spPr>
          <a:xfrm>
            <a:off x="-5186427" y="3980440"/>
            <a:ext cx="4846320" cy="935783"/>
          </a:xfrm>
          <a:prstGeom prst="rect">
            <a:avLst/>
          </a:prstGeom>
          <a:noFill/>
          <a:ln/>
        </p:spPr>
        <p:txBody>
          <a:bodyPr wrap="square" lIns="0" tIns="0" rIns="0" bIns="0" rtlCol="0" anchor="ctr"/>
          <a:lstStyle/>
          <a:p>
            <a:pPr marL="0" indent="0">
              <a:buNone/>
            </a:pPr>
            <a:r>
              <a:rPr lang="en-GB" sz="1100" noProof="0">
                <a:solidFill>
                  <a:srgbClr val="64748B"/>
                </a:solidFill>
                <a:latin typeface="Calibri" pitchFamily="34" charset="0"/>
                <a:ea typeface="Calibri" pitchFamily="34" charset="-122"/>
                <a:cs typeface="Calibri" pitchFamily="34" charset="-120"/>
              </a:rPr>
              <a:t>Investment Platforms do not provide the platform to make well considered decision internally, leaving users relying on personal knowledge .</a:t>
            </a:r>
          </a:p>
          <a:p>
            <a:pPr marL="0" indent="0">
              <a:buNone/>
            </a:pPr>
            <a:endParaRPr lang="en-GB" sz="1100" noProof="0">
              <a:solidFill>
                <a:srgbClr val="64748B"/>
              </a:solidFill>
              <a:latin typeface="Calibri" pitchFamily="34" charset="0"/>
              <a:ea typeface="Calibri" pitchFamily="34" charset="-122"/>
              <a:cs typeface="Calibri" pitchFamily="34" charset="-120"/>
            </a:endParaRPr>
          </a:p>
          <a:p>
            <a:pPr marL="0" indent="0">
              <a:buNone/>
            </a:pPr>
            <a:r>
              <a:rPr lang="en-GB" sz="1100" noProof="0">
                <a:solidFill>
                  <a:srgbClr val="64748B"/>
                </a:solidFill>
                <a:latin typeface="Calibri" pitchFamily="34" charset="0"/>
                <a:ea typeface="Calibri" pitchFamily="34" charset="-122"/>
                <a:cs typeface="Calibri" pitchFamily="34" charset="-120"/>
              </a:rPr>
              <a:t>Existing tools miss the middle – either assume prior knowledge of risk, asset classes and portfolio theory, or provide only basic calculation tools for compounding interest.</a:t>
            </a:r>
            <a:endParaRPr lang="en-GB" sz="1100" noProof="0"/>
          </a:p>
        </p:txBody>
      </p:sp>
      <p:sp>
        <p:nvSpPr>
          <p:cNvPr id="18" name="Shape 19">
            <a:extLst>
              <a:ext uri="{FF2B5EF4-FFF2-40B4-BE49-F238E27FC236}">
                <a16:creationId xmlns:a16="http://schemas.microsoft.com/office/drawing/2014/main" id="{D004BA64-F71B-C8C3-87CE-63BEEB96DD28}"/>
              </a:ext>
            </a:extLst>
          </p:cNvPr>
          <p:cNvSpPr/>
          <p:nvPr/>
        </p:nvSpPr>
        <p:spPr>
          <a:xfrm>
            <a:off x="188465" y="3751840"/>
            <a:ext cx="457200" cy="457200"/>
          </a:xfrm>
          <a:prstGeom prst="ellipse">
            <a:avLst/>
          </a:prstGeom>
          <a:solidFill>
            <a:srgbClr val="F59E0B"/>
          </a:solidFill>
          <a:ln w="12700">
            <a:solidFill>
              <a:srgbClr val="F59E0B"/>
            </a:solidFill>
            <a:prstDash val="solid"/>
          </a:ln>
        </p:spPr>
        <p:txBody>
          <a:bodyPr/>
          <a:lstStyle/>
          <a:p>
            <a:endParaRPr lang="en-GB" noProof="0"/>
          </a:p>
        </p:txBody>
      </p:sp>
      <p:sp>
        <p:nvSpPr>
          <p:cNvPr id="19" name="Text 20">
            <a:extLst>
              <a:ext uri="{FF2B5EF4-FFF2-40B4-BE49-F238E27FC236}">
                <a16:creationId xmlns:a16="http://schemas.microsoft.com/office/drawing/2014/main" id="{EE56FB1D-C57F-A847-7702-901B4F3C8DF9}"/>
              </a:ext>
            </a:extLst>
          </p:cNvPr>
          <p:cNvSpPr/>
          <p:nvPr/>
        </p:nvSpPr>
        <p:spPr>
          <a:xfrm>
            <a:off x="188465" y="3751840"/>
            <a:ext cx="457200" cy="457200"/>
          </a:xfrm>
          <a:prstGeom prst="rect">
            <a:avLst/>
          </a:prstGeom>
          <a:noFill/>
          <a:ln/>
        </p:spPr>
        <p:txBody>
          <a:bodyPr wrap="square" lIns="0" tIns="0" rIns="0" bIns="0" rtlCol="0" anchor="ctr"/>
          <a:lstStyle/>
          <a:p>
            <a:pPr marL="0" indent="0" algn="ctr">
              <a:buNone/>
            </a:pPr>
            <a:r>
              <a:rPr lang="en-GB" sz="1600" b="1" noProof="0">
                <a:solidFill>
                  <a:srgbClr val="1E2761"/>
                </a:solidFill>
                <a:latin typeface="Calibri" pitchFamily="34" charset="0"/>
                <a:ea typeface="Calibri" pitchFamily="34" charset="-122"/>
                <a:cs typeface="Calibri" pitchFamily="34" charset="-120"/>
              </a:rPr>
              <a:t>3</a:t>
            </a:r>
            <a:endParaRPr lang="en-GB" sz="1600" noProof="0"/>
          </a:p>
        </p:txBody>
      </p:sp>
      <p:sp>
        <p:nvSpPr>
          <p:cNvPr id="20" name="Text 21">
            <a:extLst>
              <a:ext uri="{FF2B5EF4-FFF2-40B4-BE49-F238E27FC236}">
                <a16:creationId xmlns:a16="http://schemas.microsoft.com/office/drawing/2014/main" id="{EDAE050C-CB08-2FD7-5935-DC30162C1601}"/>
              </a:ext>
            </a:extLst>
          </p:cNvPr>
          <p:cNvSpPr/>
          <p:nvPr/>
        </p:nvSpPr>
        <p:spPr>
          <a:xfrm>
            <a:off x="828545" y="3706120"/>
            <a:ext cx="4846320" cy="365760"/>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DIY investors over-concentrate</a:t>
            </a:r>
            <a:endParaRPr lang="en-GB" noProof="0"/>
          </a:p>
        </p:txBody>
      </p:sp>
      <p:sp>
        <p:nvSpPr>
          <p:cNvPr id="21" name="Text 22">
            <a:extLst>
              <a:ext uri="{FF2B5EF4-FFF2-40B4-BE49-F238E27FC236}">
                <a16:creationId xmlns:a16="http://schemas.microsoft.com/office/drawing/2014/main" id="{7C8F81A8-EF02-633E-0A31-D0167E4C8C21}"/>
              </a:ext>
            </a:extLst>
          </p:cNvPr>
          <p:cNvSpPr/>
          <p:nvPr/>
        </p:nvSpPr>
        <p:spPr>
          <a:xfrm>
            <a:off x="-5186427" y="2793346"/>
            <a:ext cx="4846320" cy="804934"/>
          </a:xfrm>
          <a:prstGeom prst="rect">
            <a:avLst/>
          </a:prstGeom>
          <a:noFill/>
          <a:ln/>
        </p:spPr>
        <p:txBody>
          <a:bodyPr wrap="square" lIns="0" tIns="0" rIns="0" bIns="0" rtlCol="0" anchor="ctr"/>
          <a:lstStyle/>
          <a:p>
            <a:pPr marL="0" indent="0">
              <a:buNone/>
            </a:pPr>
            <a:r>
              <a:rPr lang="en-GB" sz="1100" noProof="0">
                <a:solidFill>
                  <a:srgbClr val="64748B"/>
                </a:solidFill>
                <a:latin typeface="Calibri" pitchFamily="34" charset="0"/>
                <a:ea typeface="Calibri" pitchFamily="34" charset="-122"/>
                <a:cs typeface="Calibri" pitchFamily="34" charset="-120"/>
              </a:rPr>
              <a:t>Without diversification frameworks, retail investors load on familiar names, exposing themselves to additional risks .</a:t>
            </a:r>
          </a:p>
          <a:p>
            <a:pPr marL="0" indent="0">
              <a:buNone/>
            </a:pPr>
            <a:endParaRPr lang="en-GB" sz="1100" noProof="0">
              <a:solidFill>
                <a:srgbClr val="64748B"/>
              </a:solidFill>
              <a:latin typeface="Calibri" pitchFamily="34" charset="0"/>
              <a:cs typeface="Calibri" pitchFamily="34" charset="-120"/>
            </a:endParaRPr>
          </a:p>
          <a:p>
            <a:pPr marL="0" indent="0">
              <a:buNone/>
            </a:pPr>
            <a:r>
              <a:rPr lang="en-GB" sz="1100" noProof="0">
                <a:solidFill>
                  <a:srgbClr val="64748B"/>
                </a:solidFill>
                <a:latin typeface="Calibri" pitchFamily="34" charset="0"/>
                <a:cs typeface="Calibri" pitchFamily="34" charset="-120"/>
              </a:rPr>
              <a:t>Illiterate investors can often misjudge markets and assets, with mismatching portfolio arrangements to suit their goals.</a:t>
            </a:r>
            <a:endParaRPr lang="en-GB" sz="1100" noProof="0"/>
          </a:p>
        </p:txBody>
      </p:sp>
      <p:sp>
        <p:nvSpPr>
          <p:cNvPr id="22" name="Text 18">
            <a:extLst>
              <a:ext uri="{FF2B5EF4-FFF2-40B4-BE49-F238E27FC236}">
                <a16:creationId xmlns:a16="http://schemas.microsoft.com/office/drawing/2014/main" id="{62388C14-0129-0AA9-1996-9181F384F957}"/>
              </a:ext>
            </a:extLst>
          </p:cNvPr>
          <p:cNvSpPr/>
          <p:nvPr/>
        </p:nvSpPr>
        <p:spPr>
          <a:xfrm>
            <a:off x="-5186427" y="1729079"/>
            <a:ext cx="4846320" cy="622526"/>
          </a:xfrm>
          <a:prstGeom prst="rect">
            <a:avLst/>
          </a:prstGeom>
          <a:noFill/>
          <a:ln/>
        </p:spPr>
        <p:txBody>
          <a:bodyPr wrap="square" lIns="0" tIns="0" rIns="0" bIns="0" rtlCol="0" anchor="ctr"/>
          <a:lstStyle/>
          <a:p>
            <a:r>
              <a:rPr lang="en-GB" sz="1100" noProof="0">
                <a:solidFill>
                  <a:srgbClr val="64748B"/>
                </a:solidFill>
                <a:latin typeface="Calibri" pitchFamily="34" charset="0"/>
                <a:ea typeface="Calibri" pitchFamily="34" charset="-122"/>
                <a:cs typeface="Calibri" pitchFamily="34" charset="-120"/>
              </a:rPr>
              <a:t>Professional advisors charge 1–3% AUM, putting them out of reach of beginners</a:t>
            </a:r>
          </a:p>
          <a:p>
            <a:endParaRPr lang="en-GB" sz="1100" noProof="0">
              <a:solidFill>
                <a:srgbClr val="64748B"/>
              </a:solidFill>
              <a:latin typeface="Calibri" pitchFamily="34" charset="0"/>
              <a:ea typeface="Calibri" pitchFamily="34" charset="-122"/>
              <a:cs typeface="Calibri" pitchFamily="34" charset="-120"/>
            </a:endParaRPr>
          </a:p>
          <a:p>
            <a:r>
              <a:rPr lang="en-GB" sz="1100" noProof="0">
                <a:solidFill>
                  <a:srgbClr val="64748B"/>
                </a:solidFill>
                <a:latin typeface="Calibri" pitchFamily="34" charset="0"/>
                <a:ea typeface="Calibri" pitchFamily="34" charset="-122"/>
                <a:cs typeface="Calibri" pitchFamily="34" charset="-120"/>
              </a:rPr>
              <a:t>Alternatively, ”Robo-advisors” are becoming more popular but many still feel uneasy towards their usage, and some can become uneconomical due to trading fee’s.</a:t>
            </a:r>
            <a:endParaRPr lang="en-GB" sz="1100" noProof="0"/>
          </a:p>
        </p:txBody>
      </p:sp>
      <p:sp>
        <p:nvSpPr>
          <p:cNvPr id="23" name="Shape 4">
            <a:extLst>
              <a:ext uri="{FF2B5EF4-FFF2-40B4-BE49-F238E27FC236}">
                <a16:creationId xmlns:a16="http://schemas.microsoft.com/office/drawing/2014/main" id="{6DB8B432-498F-FF25-9795-48D8E32ECA4C}"/>
              </a:ext>
            </a:extLst>
          </p:cNvPr>
          <p:cNvSpPr/>
          <p:nvPr/>
        </p:nvSpPr>
        <p:spPr>
          <a:xfrm>
            <a:off x="6108381" y="1026718"/>
            <a:ext cx="2409148" cy="3889506"/>
          </a:xfrm>
          <a:prstGeom prst="rect">
            <a:avLst/>
          </a:prstGeom>
          <a:solidFill>
            <a:srgbClr val="1E2761"/>
          </a:solidFill>
          <a:ln w="12700">
            <a:solidFill>
              <a:srgbClr val="1E2761"/>
            </a:solidFill>
            <a:prstDash val="solid"/>
          </a:ln>
        </p:spPr>
        <p:txBody>
          <a:bodyPr/>
          <a:lstStyle/>
          <a:p>
            <a:endParaRPr lang="en-GB" noProof="0"/>
          </a:p>
        </p:txBody>
      </p:sp>
      <p:sp>
        <p:nvSpPr>
          <p:cNvPr id="24" name="Text 5">
            <a:extLst>
              <a:ext uri="{FF2B5EF4-FFF2-40B4-BE49-F238E27FC236}">
                <a16:creationId xmlns:a16="http://schemas.microsoft.com/office/drawing/2014/main" id="{A714614E-EAF1-FBD7-8A2C-FC1BDD7D6CCB}"/>
              </a:ext>
            </a:extLst>
          </p:cNvPr>
          <p:cNvSpPr/>
          <p:nvPr/>
        </p:nvSpPr>
        <p:spPr>
          <a:xfrm>
            <a:off x="5163151" y="1220130"/>
            <a:ext cx="4172524" cy="1227213"/>
          </a:xfrm>
          <a:prstGeom prst="rect">
            <a:avLst/>
          </a:prstGeom>
          <a:noFill/>
          <a:ln/>
        </p:spPr>
        <p:txBody>
          <a:bodyPr wrap="square" lIns="0" tIns="0" rIns="0" bIns="0" rtlCol="0" anchor="ctr"/>
          <a:lstStyle/>
          <a:p>
            <a:pPr marL="0" indent="0" algn="ctr">
              <a:buNone/>
            </a:pPr>
            <a:r>
              <a:rPr lang="en-GB" sz="8000" b="1" noProof="0">
                <a:solidFill>
                  <a:srgbClr val="F59E0B"/>
                </a:solidFill>
                <a:latin typeface="Calibri" pitchFamily="34" charset="0"/>
                <a:ea typeface="Calibri" pitchFamily="34" charset="-122"/>
                <a:cs typeface="Calibri" pitchFamily="34" charset="-120"/>
              </a:rPr>
              <a:t>60%</a:t>
            </a:r>
            <a:endParaRPr lang="en-GB" sz="8000" noProof="0"/>
          </a:p>
        </p:txBody>
      </p:sp>
      <p:sp>
        <p:nvSpPr>
          <p:cNvPr id="25" name="Text 6">
            <a:extLst>
              <a:ext uri="{FF2B5EF4-FFF2-40B4-BE49-F238E27FC236}">
                <a16:creationId xmlns:a16="http://schemas.microsoft.com/office/drawing/2014/main" id="{8A512F5A-1B01-3FE7-5BE1-9E63D34BCF26}"/>
              </a:ext>
            </a:extLst>
          </p:cNvPr>
          <p:cNvSpPr/>
          <p:nvPr/>
        </p:nvSpPr>
        <p:spPr>
          <a:xfrm>
            <a:off x="5163151" y="2495472"/>
            <a:ext cx="4172524" cy="409071"/>
          </a:xfrm>
          <a:prstGeom prst="rect">
            <a:avLst/>
          </a:prstGeom>
          <a:noFill/>
          <a:ln/>
        </p:spPr>
        <p:txBody>
          <a:bodyPr wrap="square" lIns="0" tIns="0" rIns="0" bIns="0" rtlCol="0" anchor="ctr"/>
          <a:lstStyle/>
          <a:p>
            <a:pPr marL="0" indent="0" algn="ctr">
              <a:buNone/>
            </a:pPr>
            <a:r>
              <a:rPr lang="en-GB" sz="1800" b="1" noProof="0">
                <a:solidFill>
                  <a:srgbClr val="FFFFFF"/>
                </a:solidFill>
                <a:latin typeface="Calibri" pitchFamily="34" charset="0"/>
                <a:ea typeface="Calibri" pitchFamily="34" charset="-122"/>
                <a:cs typeface="Calibri" pitchFamily="34" charset="-120"/>
              </a:rPr>
              <a:t>of UK adults</a:t>
            </a:r>
            <a:endParaRPr lang="en-GB" sz="1800" noProof="0"/>
          </a:p>
        </p:txBody>
      </p:sp>
      <p:sp>
        <p:nvSpPr>
          <p:cNvPr id="26" name="Text 7">
            <a:extLst>
              <a:ext uri="{FF2B5EF4-FFF2-40B4-BE49-F238E27FC236}">
                <a16:creationId xmlns:a16="http://schemas.microsoft.com/office/drawing/2014/main" id="{86CA2808-0F36-6ED3-BC0D-9FBB0D460A2E}"/>
              </a:ext>
            </a:extLst>
          </p:cNvPr>
          <p:cNvSpPr/>
          <p:nvPr/>
        </p:nvSpPr>
        <p:spPr>
          <a:xfrm>
            <a:off x="6291640" y="2963907"/>
            <a:ext cx="2038924" cy="981770"/>
          </a:xfrm>
          <a:prstGeom prst="rect">
            <a:avLst/>
          </a:prstGeom>
          <a:noFill/>
          <a:ln/>
        </p:spPr>
        <p:txBody>
          <a:bodyPr wrap="square" lIns="0" tIns="0" rIns="0" bIns="0" rtlCol="0" anchor="ctr"/>
          <a:lstStyle/>
          <a:p>
            <a:pPr marL="0" indent="0" algn="ctr">
              <a:buNone/>
            </a:pPr>
            <a:r>
              <a:rPr lang="en-GB" sz="1400" i="1" noProof="0">
                <a:solidFill>
                  <a:srgbClr val="E2E8F0"/>
                </a:solidFill>
                <a:latin typeface="Calibri" pitchFamily="34" charset="0"/>
                <a:ea typeface="Calibri" pitchFamily="34" charset="-122"/>
                <a:cs typeface="Calibri" pitchFamily="34" charset="-120"/>
              </a:rPr>
              <a:t>hold no investments outside cash savings</a:t>
            </a:r>
            <a:endParaRPr lang="en-GB" sz="1400" noProof="0"/>
          </a:p>
        </p:txBody>
      </p:sp>
      <p:sp>
        <p:nvSpPr>
          <p:cNvPr id="27" name="Shape 8">
            <a:extLst>
              <a:ext uri="{FF2B5EF4-FFF2-40B4-BE49-F238E27FC236}">
                <a16:creationId xmlns:a16="http://schemas.microsoft.com/office/drawing/2014/main" id="{66A7E05F-6B17-425C-3D73-E021D130E8E6}"/>
              </a:ext>
            </a:extLst>
          </p:cNvPr>
          <p:cNvSpPr/>
          <p:nvPr/>
        </p:nvSpPr>
        <p:spPr>
          <a:xfrm>
            <a:off x="6432884" y="4084121"/>
            <a:ext cx="2650872" cy="45719"/>
          </a:xfrm>
          <a:prstGeom prst="rect">
            <a:avLst/>
          </a:prstGeom>
          <a:solidFill>
            <a:srgbClr val="F59E0B"/>
          </a:solidFill>
          <a:ln w="12700">
            <a:solidFill>
              <a:srgbClr val="F59E0B"/>
            </a:solidFill>
            <a:prstDash val="solid"/>
          </a:ln>
        </p:spPr>
        <p:txBody>
          <a:bodyPr/>
          <a:lstStyle/>
          <a:p>
            <a:endParaRPr lang="en-GB" noProof="0"/>
          </a:p>
        </p:txBody>
      </p:sp>
      <p:sp>
        <p:nvSpPr>
          <p:cNvPr id="28" name="Text 9">
            <a:extLst>
              <a:ext uri="{FF2B5EF4-FFF2-40B4-BE49-F238E27FC236}">
                <a16:creationId xmlns:a16="http://schemas.microsoft.com/office/drawing/2014/main" id="{F9E24025-2DB4-90AF-2EDB-374AB4A44C36}"/>
              </a:ext>
            </a:extLst>
          </p:cNvPr>
          <p:cNvSpPr/>
          <p:nvPr/>
        </p:nvSpPr>
        <p:spPr>
          <a:xfrm>
            <a:off x="5163151" y="4314646"/>
            <a:ext cx="4172524" cy="327257"/>
          </a:xfrm>
          <a:prstGeom prst="rect">
            <a:avLst/>
          </a:prstGeom>
          <a:noFill/>
          <a:ln/>
        </p:spPr>
        <p:txBody>
          <a:bodyPr wrap="square" lIns="0" tIns="0" rIns="0" bIns="0" rtlCol="0" anchor="ctr"/>
          <a:lstStyle/>
          <a:p>
            <a:pPr marL="0" indent="0" algn="ctr">
              <a:buNone/>
            </a:pPr>
            <a:r>
              <a:rPr lang="en-GB" sz="1000" i="1" noProof="0">
                <a:solidFill>
                  <a:srgbClr val="F59E0B"/>
                </a:solidFill>
                <a:latin typeface="Calibri" pitchFamily="34" charset="0"/>
                <a:ea typeface="Calibri" pitchFamily="34" charset="-122"/>
                <a:cs typeface="Calibri" pitchFamily="34" charset="-120"/>
              </a:rPr>
              <a:t>Source: FCA Financial Lives Survey, 2024</a:t>
            </a:r>
            <a:endParaRPr lang="en-GB" sz="1000" noProof="0"/>
          </a:p>
        </p:txBody>
      </p:sp>
    </p:spTree>
    <p:extLst>
      <p:ext uri="{BB962C8B-B14F-4D97-AF65-F5344CB8AC3E}">
        <p14:creationId xmlns:p14="http://schemas.microsoft.com/office/powerpoint/2010/main" val="2830603231"/>
      </p:ext>
    </p:extLst>
  </p:cSld>
  <p:clrMapOvr>
    <a:masterClrMapping/>
  </p:clrMapOvr>
  <mc:AlternateContent xmlns:mc="http://schemas.openxmlformats.org/markup-compatibility/2006" xmlns:p14="http://schemas.microsoft.com/office/powerpoint/2010/main">
    <mc:Choice Requires="p14">
      <p:transition spd="slow" p14:dur="2000" advTm="1020"/>
    </mc:Choice>
    <mc:Fallback xmlns="">
      <p:transition spd="slow" advTm="10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4EA5-1B5C-0506-8C37-A6A68F3FFA9D}"/>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9E4827D7-FC71-E476-10E6-D2472D0DEDCE}"/>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CA43FF96-5479-AEA1-1AEA-4EE4D184A26A}"/>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F59E0B"/>
                </a:solidFill>
                <a:latin typeface="Calibri" pitchFamily="34" charset="0"/>
                <a:ea typeface="Calibri" pitchFamily="34" charset="-122"/>
                <a:cs typeface="Calibri" pitchFamily="34" charset="-120"/>
              </a:rPr>
              <a:t>01  ·  TOPIC &amp; OBJECTIVES</a:t>
            </a:r>
            <a:endParaRPr lang="en-GB" sz="1000" noProof="0"/>
          </a:p>
        </p:txBody>
      </p:sp>
      <p:sp>
        <p:nvSpPr>
          <p:cNvPr id="6" name="Text 2">
            <a:extLst>
              <a:ext uri="{FF2B5EF4-FFF2-40B4-BE49-F238E27FC236}">
                <a16:creationId xmlns:a16="http://schemas.microsoft.com/office/drawing/2014/main" id="{2B6F6CC0-0139-F506-7193-5851FDE730D3}"/>
              </a:ext>
            </a:extLst>
          </p:cNvPr>
          <p:cNvSpPr/>
          <p:nvPr/>
        </p:nvSpPr>
        <p:spPr>
          <a:xfrm>
            <a:off x="1640335" y="282601"/>
            <a:ext cx="10972800" cy="640080"/>
          </a:xfrm>
          <a:prstGeom prst="rect">
            <a:avLst/>
          </a:prstGeom>
          <a:noFill/>
          <a:ln/>
        </p:spPr>
        <p:txBody>
          <a:bodyPr wrap="square" lIns="0" tIns="0" rIns="0" bIns="0" rtlCol="0" anchor="ctr"/>
          <a:lstStyle/>
          <a:p>
            <a:pPr marL="0" indent="0">
              <a:buNone/>
            </a:pPr>
            <a:r>
              <a:rPr lang="en-GB" sz="3000" b="1" noProof="0">
                <a:solidFill>
                  <a:srgbClr val="1E2761"/>
                </a:solidFill>
                <a:latin typeface="Calibri" pitchFamily="34" charset="0"/>
                <a:cs typeface="Calibri" pitchFamily="34" charset="-120"/>
              </a:rPr>
              <a:t>Our Project Objectives</a:t>
            </a:r>
            <a:endParaRPr lang="en-GB" sz="3000" noProof="0"/>
          </a:p>
        </p:txBody>
      </p:sp>
      <p:sp>
        <p:nvSpPr>
          <p:cNvPr id="7" name="Shape 3">
            <a:extLst>
              <a:ext uri="{FF2B5EF4-FFF2-40B4-BE49-F238E27FC236}">
                <a16:creationId xmlns:a16="http://schemas.microsoft.com/office/drawing/2014/main" id="{B5795367-92B5-F53B-CA11-7130EC23179D}"/>
              </a:ext>
            </a:extLst>
          </p:cNvPr>
          <p:cNvSpPr/>
          <p:nvPr/>
        </p:nvSpPr>
        <p:spPr>
          <a:xfrm>
            <a:off x="1640335" y="816662"/>
            <a:ext cx="548640" cy="45720"/>
          </a:xfrm>
          <a:prstGeom prst="rect">
            <a:avLst/>
          </a:prstGeom>
          <a:solidFill>
            <a:srgbClr val="F59E0B"/>
          </a:solidFill>
          <a:ln w="12700">
            <a:solidFill>
              <a:srgbClr val="F59E0B"/>
            </a:solidFill>
            <a:prstDash val="solid"/>
          </a:ln>
        </p:spPr>
        <p:txBody>
          <a:bodyPr/>
          <a:lstStyle/>
          <a:p>
            <a:endParaRPr lang="en-GB" noProof="0"/>
          </a:p>
        </p:txBody>
      </p:sp>
      <p:sp>
        <p:nvSpPr>
          <p:cNvPr id="8" name="Shape 0">
            <a:extLst>
              <a:ext uri="{FF2B5EF4-FFF2-40B4-BE49-F238E27FC236}">
                <a16:creationId xmlns:a16="http://schemas.microsoft.com/office/drawing/2014/main" id="{636A44C0-B1CD-2678-1520-C9A617864CC8}"/>
              </a:ext>
            </a:extLst>
          </p:cNvPr>
          <p:cNvSpPr/>
          <p:nvPr/>
        </p:nvSpPr>
        <p:spPr>
          <a:xfrm>
            <a:off x="8823960" y="0"/>
            <a:ext cx="320040" cy="5143500"/>
          </a:xfrm>
          <a:prstGeom prst="rect">
            <a:avLst/>
          </a:prstGeom>
          <a:solidFill>
            <a:srgbClr val="F59E0B"/>
          </a:solidFill>
          <a:ln w="12700">
            <a:solidFill>
              <a:srgbClr val="F59E0B"/>
            </a:solidFill>
            <a:prstDash val="solid"/>
          </a:ln>
        </p:spPr>
        <p:txBody>
          <a:bodyPr/>
          <a:lstStyle/>
          <a:p>
            <a:endParaRPr lang="en-GB" noProof="0"/>
          </a:p>
        </p:txBody>
      </p:sp>
      <p:sp>
        <p:nvSpPr>
          <p:cNvPr id="2" name="Shape 6">
            <a:extLst>
              <a:ext uri="{FF2B5EF4-FFF2-40B4-BE49-F238E27FC236}">
                <a16:creationId xmlns:a16="http://schemas.microsoft.com/office/drawing/2014/main" id="{F41C0EF8-83E6-C762-84FA-1B5F902CF79D}"/>
              </a:ext>
            </a:extLst>
          </p:cNvPr>
          <p:cNvSpPr/>
          <p:nvPr/>
        </p:nvSpPr>
        <p:spPr>
          <a:xfrm>
            <a:off x="465318" y="1199514"/>
            <a:ext cx="1758783" cy="291886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4" name="Shape 7">
            <a:extLst>
              <a:ext uri="{FF2B5EF4-FFF2-40B4-BE49-F238E27FC236}">
                <a16:creationId xmlns:a16="http://schemas.microsoft.com/office/drawing/2014/main" id="{509A496E-7E6B-64FA-80E0-C17EE4719E60}"/>
              </a:ext>
            </a:extLst>
          </p:cNvPr>
          <p:cNvSpPr/>
          <p:nvPr/>
        </p:nvSpPr>
        <p:spPr>
          <a:xfrm>
            <a:off x="465310" y="1194080"/>
            <a:ext cx="1758791" cy="101248"/>
          </a:xfrm>
          <a:prstGeom prst="rect">
            <a:avLst/>
          </a:prstGeom>
          <a:solidFill>
            <a:srgbClr val="F59E0B"/>
          </a:solidFill>
          <a:ln w="12700">
            <a:solidFill>
              <a:srgbClr val="F59E0B"/>
            </a:solidFill>
            <a:prstDash val="solid"/>
          </a:ln>
        </p:spPr>
        <p:txBody>
          <a:bodyPr/>
          <a:lstStyle/>
          <a:p>
            <a:endParaRPr lang="en-GB" noProof="0"/>
          </a:p>
        </p:txBody>
      </p:sp>
      <p:sp>
        <p:nvSpPr>
          <p:cNvPr id="9" name="Shape 6">
            <a:extLst>
              <a:ext uri="{FF2B5EF4-FFF2-40B4-BE49-F238E27FC236}">
                <a16:creationId xmlns:a16="http://schemas.microsoft.com/office/drawing/2014/main" id="{E1AC5936-0C48-C83B-DFEF-34FF75F31273}"/>
              </a:ext>
            </a:extLst>
          </p:cNvPr>
          <p:cNvSpPr/>
          <p:nvPr/>
        </p:nvSpPr>
        <p:spPr>
          <a:xfrm>
            <a:off x="2461788" y="1194079"/>
            <a:ext cx="1758783" cy="291886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10" name="Shape 7">
            <a:extLst>
              <a:ext uri="{FF2B5EF4-FFF2-40B4-BE49-F238E27FC236}">
                <a16:creationId xmlns:a16="http://schemas.microsoft.com/office/drawing/2014/main" id="{9BCDF62B-F435-E2AF-4B9E-DB3251280DAE}"/>
              </a:ext>
            </a:extLst>
          </p:cNvPr>
          <p:cNvSpPr/>
          <p:nvPr/>
        </p:nvSpPr>
        <p:spPr>
          <a:xfrm>
            <a:off x="2461780" y="1188645"/>
            <a:ext cx="1758791" cy="101248"/>
          </a:xfrm>
          <a:prstGeom prst="rect">
            <a:avLst/>
          </a:prstGeom>
          <a:solidFill>
            <a:srgbClr val="0EA5E9"/>
          </a:solidFill>
          <a:ln w="12700">
            <a:solidFill>
              <a:srgbClr val="0EA5E9"/>
            </a:solidFill>
            <a:prstDash val="solid"/>
          </a:ln>
        </p:spPr>
        <p:txBody>
          <a:bodyPr/>
          <a:lstStyle/>
          <a:p>
            <a:endParaRPr lang="en-GB" noProof="0"/>
          </a:p>
        </p:txBody>
      </p:sp>
      <p:sp>
        <p:nvSpPr>
          <p:cNvPr id="11" name="Shape 6">
            <a:extLst>
              <a:ext uri="{FF2B5EF4-FFF2-40B4-BE49-F238E27FC236}">
                <a16:creationId xmlns:a16="http://schemas.microsoft.com/office/drawing/2014/main" id="{493689EA-3F8A-836A-D954-12876483D8DE}"/>
              </a:ext>
            </a:extLst>
          </p:cNvPr>
          <p:cNvSpPr/>
          <p:nvPr/>
        </p:nvSpPr>
        <p:spPr>
          <a:xfrm>
            <a:off x="4458258" y="1194079"/>
            <a:ext cx="1758783" cy="291886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12" name="Shape 7">
            <a:extLst>
              <a:ext uri="{FF2B5EF4-FFF2-40B4-BE49-F238E27FC236}">
                <a16:creationId xmlns:a16="http://schemas.microsoft.com/office/drawing/2014/main" id="{8D0C588E-BF3E-A6F4-7C6F-C383D775B53F}"/>
              </a:ext>
            </a:extLst>
          </p:cNvPr>
          <p:cNvSpPr/>
          <p:nvPr/>
        </p:nvSpPr>
        <p:spPr>
          <a:xfrm>
            <a:off x="4458250" y="1188645"/>
            <a:ext cx="1758791" cy="101248"/>
          </a:xfrm>
          <a:prstGeom prst="rect">
            <a:avLst/>
          </a:prstGeom>
          <a:solidFill>
            <a:srgbClr val="22C55E"/>
          </a:solidFill>
          <a:ln w="12700">
            <a:solidFill>
              <a:srgbClr val="00B050"/>
            </a:solidFill>
            <a:prstDash val="solid"/>
          </a:ln>
        </p:spPr>
        <p:txBody>
          <a:bodyPr/>
          <a:lstStyle/>
          <a:p>
            <a:endParaRPr lang="en-GB" noProof="0"/>
          </a:p>
        </p:txBody>
      </p:sp>
      <p:sp>
        <p:nvSpPr>
          <p:cNvPr id="13" name="Shape 6">
            <a:extLst>
              <a:ext uri="{FF2B5EF4-FFF2-40B4-BE49-F238E27FC236}">
                <a16:creationId xmlns:a16="http://schemas.microsoft.com/office/drawing/2014/main" id="{093C3A30-AFA7-7D46-7BDA-3794AA6F3C7B}"/>
              </a:ext>
            </a:extLst>
          </p:cNvPr>
          <p:cNvSpPr/>
          <p:nvPr/>
        </p:nvSpPr>
        <p:spPr>
          <a:xfrm>
            <a:off x="6454728" y="1195701"/>
            <a:ext cx="1758783" cy="2917247"/>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14" name="Shape 7">
            <a:extLst>
              <a:ext uri="{FF2B5EF4-FFF2-40B4-BE49-F238E27FC236}">
                <a16:creationId xmlns:a16="http://schemas.microsoft.com/office/drawing/2014/main" id="{CE5D63D4-321F-BF57-7AAD-21FAD073A481}"/>
              </a:ext>
            </a:extLst>
          </p:cNvPr>
          <p:cNvSpPr/>
          <p:nvPr/>
        </p:nvSpPr>
        <p:spPr>
          <a:xfrm>
            <a:off x="6454720" y="1190267"/>
            <a:ext cx="1758791" cy="101248"/>
          </a:xfrm>
          <a:prstGeom prst="rect">
            <a:avLst/>
          </a:prstGeom>
          <a:solidFill>
            <a:srgbClr val="A855F7"/>
          </a:solidFill>
          <a:ln w="12700">
            <a:solidFill>
              <a:srgbClr val="A855F7"/>
            </a:solidFill>
            <a:prstDash val="solid"/>
          </a:ln>
        </p:spPr>
        <p:txBody>
          <a:bodyPr/>
          <a:lstStyle/>
          <a:p>
            <a:endParaRPr lang="en-GB" noProof="0"/>
          </a:p>
        </p:txBody>
      </p:sp>
      <p:sp>
        <p:nvSpPr>
          <p:cNvPr id="15" name="Shape 3">
            <a:extLst>
              <a:ext uri="{FF2B5EF4-FFF2-40B4-BE49-F238E27FC236}">
                <a16:creationId xmlns:a16="http://schemas.microsoft.com/office/drawing/2014/main" id="{B1F57E46-9B43-1267-D7E4-B7F73FC4AA5E}"/>
              </a:ext>
            </a:extLst>
          </p:cNvPr>
          <p:cNvSpPr/>
          <p:nvPr/>
        </p:nvSpPr>
        <p:spPr>
          <a:xfrm>
            <a:off x="353" y="-3543920"/>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16" name="Shape 4">
            <a:extLst>
              <a:ext uri="{FF2B5EF4-FFF2-40B4-BE49-F238E27FC236}">
                <a16:creationId xmlns:a16="http://schemas.microsoft.com/office/drawing/2014/main" id="{03719226-F8F5-EF9B-B05D-77FD9317A652}"/>
              </a:ext>
            </a:extLst>
          </p:cNvPr>
          <p:cNvSpPr/>
          <p:nvPr/>
        </p:nvSpPr>
        <p:spPr>
          <a:xfrm>
            <a:off x="353" y="-3543920"/>
            <a:ext cx="1649846" cy="124297"/>
          </a:xfrm>
          <a:prstGeom prst="rect">
            <a:avLst/>
          </a:prstGeom>
          <a:solidFill>
            <a:srgbClr val="F59E0B"/>
          </a:solidFill>
          <a:ln w="12700">
            <a:solidFill>
              <a:srgbClr val="F59E0B"/>
            </a:solidFill>
            <a:prstDash val="solid"/>
          </a:ln>
        </p:spPr>
        <p:txBody>
          <a:bodyPr/>
          <a:lstStyle/>
          <a:p>
            <a:endParaRPr lang="en-GB" noProof="0"/>
          </a:p>
        </p:txBody>
      </p:sp>
      <p:sp>
        <p:nvSpPr>
          <p:cNvPr id="17" name="Text 5">
            <a:extLst>
              <a:ext uri="{FF2B5EF4-FFF2-40B4-BE49-F238E27FC236}">
                <a16:creationId xmlns:a16="http://schemas.microsoft.com/office/drawing/2014/main" id="{34884AED-8AD8-8F80-D59F-9A32DE56B645}"/>
              </a:ext>
            </a:extLst>
          </p:cNvPr>
          <p:cNvSpPr/>
          <p:nvPr/>
        </p:nvSpPr>
        <p:spPr>
          <a:xfrm>
            <a:off x="183233" y="-3178160"/>
            <a:ext cx="1615855" cy="580051"/>
          </a:xfrm>
          <a:prstGeom prst="rect">
            <a:avLst/>
          </a:prstGeom>
          <a:noFill/>
          <a:ln/>
        </p:spPr>
        <p:txBody>
          <a:bodyPr wrap="square" lIns="0" tIns="0" rIns="0" bIns="0" rtlCol="0" anchor="ctr"/>
          <a:lstStyle/>
          <a:p>
            <a:pPr marL="0" indent="0">
              <a:buNone/>
            </a:pPr>
            <a:r>
              <a:rPr lang="en-GB" sz="3600" b="1" noProof="0">
                <a:solidFill>
                  <a:srgbClr val="F59E0B"/>
                </a:solidFill>
                <a:latin typeface="Calibri" pitchFamily="34" charset="0"/>
                <a:ea typeface="Calibri" pitchFamily="34" charset="-122"/>
                <a:cs typeface="Calibri" pitchFamily="34" charset="-120"/>
              </a:rPr>
              <a:t>01</a:t>
            </a:r>
            <a:endParaRPr lang="en-GB" sz="3600" noProof="0"/>
          </a:p>
        </p:txBody>
      </p:sp>
      <p:sp>
        <p:nvSpPr>
          <p:cNvPr id="18" name="Text 6">
            <a:extLst>
              <a:ext uri="{FF2B5EF4-FFF2-40B4-BE49-F238E27FC236}">
                <a16:creationId xmlns:a16="http://schemas.microsoft.com/office/drawing/2014/main" id="{FF2063CE-94A5-2611-8465-2838B66523B8}"/>
              </a:ext>
            </a:extLst>
          </p:cNvPr>
          <p:cNvSpPr/>
          <p:nvPr/>
        </p:nvSpPr>
        <p:spPr>
          <a:xfrm>
            <a:off x="183233" y="-2446640"/>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Project Topic</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&amp; Objectives</a:t>
            </a:r>
            <a:endParaRPr lang="en-GB" noProof="0"/>
          </a:p>
        </p:txBody>
      </p:sp>
      <p:sp>
        <p:nvSpPr>
          <p:cNvPr id="19" name="Shape 7">
            <a:extLst>
              <a:ext uri="{FF2B5EF4-FFF2-40B4-BE49-F238E27FC236}">
                <a16:creationId xmlns:a16="http://schemas.microsoft.com/office/drawing/2014/main" id="{9EEE1C37-5A94-F6C1-4BB8-EA411F9329A3}"/>
              </a:ext>
            </a:extLst>
          </p:cNvPr>
          <p:cNvSpPr/>
          <p:nvPr/>
        </p:nvSpPr>
        <p:spPr>
          <a:xfrm>
            <a:off x="183233" y="-1257921"/>
            <a:ext cx="1466966" cy="65170"/>
          </a:xfrm>
          <a:prstGeom prst="rect">
            <a:avLst/>
          </a:prstGeom>
          <a:solidFill>
            <a:srgbClr val="F59E0B"/>
          </a:solidFill>
          <a:ln w="12700">
            <a:solidFill>
              <a:srgbClr val="F59E0B"/>
            </a:solidFill>
            <a:prstDash val="solid"/>
          </a:ln>
        </p:spPr>
        <p:txBody>
          <a:bodyPr/>
          <a:lstStyle/>
          <a:p>
            <a:endParaRPr lang="en-GB" noProof="0"/>
          </a:p>
        </p:txBody>
      </p:sp>
      <p:sp>
        <p:nvSpPr>
          <p:cNvPr id="20" name="Shape 10">
            <a:extLst>
              <a:ext uri="{FF2B5EF4-FFF2-40B4-BE49-F238E27FC236}">
                <a16:creationId xmlns:a16="http://schemas.microsoft.com/office/drawing/2014/main" id="{C6CD1903-9150-1E02-B5C4-C05FE7EBDFC9}"/>
              </a:ext>
            </a:extLst>
          </p:cNvPr>
          <p:cNvSpPr/>
          <p:nvPr/>
        </p:nvSpPr>
        <p:spPr>
          <a:xfrm>
            <a:off x="1799088" y="-3543920"/>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21" name="Shape 11">
            <a:extLst>
              <a:ext uri="{FF2B5EF4-FFF2-40B4-BE49-F238E27FC236}">
                <a16:creationId xmlns:a16="http://schemas.microsoft.com/office/drawing/2014/main" id="{FEE47067-2A15-ED52-982F-C65DF45234A2}"/>
              </a:ext>
            </a:extLst>
          </p:cNvPr>
          <p:cNvSpPr/>
          <p:nvPr/>
        </p:nvSpPr>
        <p:spPr>
          <a:xfrm>
            <a:off x="1799088" y="-3543920"/>
            <a:ext cx="1649846" cy="124297"/>
          </a:xfrm>
          <a:prstGeom prst="rect">
            <a:avLst/>
          </a:prstGeom>
          <a:solidFill>
            <a:srgbClr val="A855F7"/>
          </a:solidFill>
          <a:ln w="12700">
            <a:solidFill>
              <a:srgbClr val="A855F7"/>
            </a:solidFill>
            <a:prstDash val="solid"/>
          </a:ln>
        </p:spPr>
        <p:txBody>
          <a:bodyPr/>
          <a:lstStyle/>
          <a:p>
            <a:endParaRPr lang="en-GB" noProof="0"/>
          </a:p>
        </p:txBody>
      </p:sp>
      <p:sp>
        <p:nvSpPr>
          <p:cNvPr id="22" name="Text 12">
            <a:extLst>
              <a:ext uri="{FF2B5EF4-FFF2-40B4-BE49-F238E27FC236}">
                <a16:creationId xmlns:a16="http://schemas.microsoft.com/office/drawing/2014/main" id="{66CD6CDA-8DA8-133D-9E16-505E1C59590E}"/>
              </a:ext>
            </a:extLst>
          </p:cNvPr>
          <p:cNvSpPr/>
          <p:nvPr/>
        </p:nvSpPr>
        <p:spPr>
          <a:xfrm>
            <a:off x="1981968" y="-3178160"/>
            <a:ext cx="1615855" cy="580051"/>
          </a:xfrm>
          <a:prstGeom prst="rect">
            <a:avLst/>
          </a:prstGeom>
          <a:noFill/>
          <a:ln/>
        </p:spPr>
        <p:txBody>
          <a:bodyPr wrap="square" lIns="0" tIns="0" rIns="0" bIns="0" rtlCol="0" anchor="ctr"/>
          <a:lstStyle/>
          <a:p>
            <a:pPr marL="0" indent="0">
              <a:buNone/>
            </a:pPr>
            <a:r>
              <a:rPr lang="en-GB" sz="3600" b="1" noProof="0">
                <a:solidFill>
                  <a:srgbClr val="A855F7"/>
                </a:solidFill>
                <a:latin typeface="Calibri" pitchFamily="34" charset="0"/>
                <a:ea typeface="Calibri" pitchFamily="34" charset="-122"/>
                <a:cs typeface="Calibri" pitchFamily="34" charset="-120"/>
              </a:rPr>
              <a:t>02</a:t>
            </a:r>
            <a:endParaRPr lang="en-GB" sz="3600" noProof="0"/>
          </a:p>
        </p:txBody>
      </p:sp>
      <p:sp>
        <p:nvSpPr>
          <p:cNvPr id="23" name="Text 13">
            <a:extLst>
              <a:ext uri="{FF2B5EF4-FFF2-40B4-BE49-F238E27FC236}">
                <a16:creationId xmlns:a16="http://schemas.microsoft.com/office/drawing/2014/main" id="{874FAC24-71DA-8C72-0396-BC15308A6395}"/>
              </a:ext>
            </a:extLst>
          </p:cNvPr>
          <p:cNvSpPr/>
          <p:nvPr/>
        </p:nvSpPr>
        <p:spPr>
          <a:xfrm>
            <a:off x="1981968" y="-2446640"/>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Relevant</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Research</a:t>
            </a:r>
            <a:endParaRPr lang="en-GB" noProof="0"/>
          </a:p>
        </p:txBody>
      </p:sp>
      <p:sp>
        <p:nvSpPr>
          <p:cNvPr id="24" name="Shape 14">
            <a:extLst>
              <a:ext uri="{FF2B5EF4-FFF2-40B4-BE49-F238E27FC236}">
                <a16:creationId xmlns:a16="http://schemas.microsoft.com/office/drawing/2014/main" id="{A6D0E82D-848A-20C6-1261-935C87288C10}"/>
              </a:ext>
            </a:extLst>
          </p:cNvPr>
          <p:cNvSpPr/>
          <p:nvPr/>
        </p:nvSpPr>
        <p:spPr>
          <a:xfrm>
            <a:off x="1981968" y="-1257921"/>
            <a:ext cx="1466966" cy="45719"/>
          </a:xfrm>
          <a:prstGeom prst="rect">
            <a:avLst/>
          </a:prstGeom>
          <a:solidFill>
            <a:srgbClr val="A855F7"/>
          </a:solidFill>
          <a:ln w="12700">
            <a:solidFill>
              <a:srgbClr val="A855F7"/>
            </a:solidFill>
            <a:prstDash val="solid"/>
          </a:ln>
        </p:spPr>
        <p:txBody>
          <a:bodyPr/>
          <a:lstStyle/>
          <a:p>
            <a:endParaRPr lang="en-GB" noProof="0"/>
          </a:p>
        </p:txBody>
      </p:sp>
      <p:sp>
        <p:nvSpPr>
          <p:cNvPr id="25" name="Shape 17">
            <a:extLst>
              <a:ext uri="{FF2B5EF4-FFF2-40B4-BE49-F238E27FC236}">
                <a16:creationId xmlns:a16="http://schemas.microsoft.com/office/drawing/2014/main" id="{00F2A721-2EFE-3B3E-B7A0-42EF250A0DDF}"/>
              </a:ext>
            </a:extLst>
          </p:cNvPr>
          <p:cNvSpPr/>
          <p:nvPr/>
        </p:nvSpPr>
        <p:spPr>
          <a:xfrm>
            <a:off x="3627302" y="-3543921"/>
            <a:ext cx="1652451" cy="2937397"/>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26" name="Shape 18">
            <a:extLst>
              <a:ext uri="{FF2B5EF4-FFF2-40B4-BE49-F238E27FC236}">
                <a16:creationId xmlns:a16="http://schemas.microsoft.com/office/drawing/2014/main" id="{834FFBDB-5639-B3FE-5160-2F2AD93D2FCE}"/>
              </a:ext>
            </a:extLst>
          </p:cNvPr>
          <p:cNvSpPr/>
          <p:nvPr/>
        </p:nvSpPr>
        <p:spPr>
          <a:xfrm>
            <a:off x="3654458" y="-3543921"/>
            <a:ext cx="1634347" cy="124297"/>
          </a:xfrm>
          <a:prstGeom prst="rect">
            <a:avLst/>
          </a:prstGeom>
          <a:solidFill>
            <a:srgbClr val="0EA5E9"/>
          </a:solidFill>
          <a:ln w="12700">
            <a:solidFill>
              <a:srgbClr val="0EA5E9"/>
            </a:solidFill>
            <a:prstDash val="solid"/>
          </a:ln>
        </p:spPr>
        <p:txBody>
          <a:bodyPr/>
          <a:lstStyle/>
          <a:p>
            <a:endParaRPr lang="en-GB" noProof="0"/>
          </a:p>
        </p:txBody>
      </p:sp>
      <p:sp>
        <p:nvSpPr>
          <p:cNvPr id="27" name="Text 19">
            <a:extLst>
              <a:ext uri="{FF2B5EF4-FFF2-40B4-BE49-F238E27FC236}">
                <a16:creationId xmlns:a16="http://schemas.microsoft.com/office/drawing/2014/main" id="{1F5D4D0E-47E9-7B57-8DB5-D0408D96D3E7}"/>
              </a:ext>
            </a:extLst>
          </p:cNvPr>
          <p:cNvSpPr/>
          <p:nvPr/>
        </p:nvSpPr>
        <p:spPr>
          <a:xfrm>
            <a:off x="3784657" y="-3178160"/>
            <a:ext cx="1615855" cy="580051"/>
          </a:xfrm>
          <a:prstGeom prst="rect">
            <a:avLst/>
          </a:prstGeom>
          <a:noFill/>
          <a:ln/>
        </p:spPr>
        <p:txBody>
          <a:bodyPr wrap="square" lIns="0" tIns="0" rIns="0" bIns="0" rtlCol="0" anchor="ctr"/>
          <a:lstStyle/>
          <a:p>
            <a:pPr marL="0" indent="0">
              <a:buNone/>
            </a:pPr>
            <a:r>
              <a:rPr lang="en-GB" sz="3600" b="1" noProof="0">
                <a:solidFill>
                  <a:srgbClr val="0EA5E9"/>
                </a:solidFill>
                <a:latin typeface="Calibri" pitchFamily="34" charset="0"/>
                <a:ea typeface="Calibri" pitchFamily="34" charset="-122"/>
                <a:cs typeface="Calibri" pitchFamily="34" charset="-120"/>
              </a:rPr>
              <a:t>03</a:t>
            </a:r>
            <a:endParaRPr lang="en-GB" sz="3600" noProof="0"/>
          </a:p>
        </p:txBody>
      </p:sp>
      <p:sp>
        <p:nvSpPr>
          <p:cNvPr id="28" name="Text 20">
            <a:extLst>
              <a:ext uri="{FF2B5EF4-FFF2-40B4-BE49-F238E27FC236}">
                <a16:creationId xmlns:a16="http://schemas.microsoft.com/office/drawing/2014/main" id="{6A308DD8-4DF6-A3B7-D077-8FF210E4B536}"/>
              </a:ext>
            </a:extLst>
          </p:cNvPr>
          <p:cNvSpPr/>
          <p:nvPr/>
        </p:nvSpPr>
        <p:spPr>
          <a:xfrm>
            <a:off x="3784657" y="-2446640"/>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Methods</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Used</a:t>
            </a:r>
            <a:endParaRPr lang="en-GB" noProof="0"/>
          </a:p>
        </p:txBody>
      </p:sp>
      <p:sp>
        <p:nvSpPr>
          <p:cNvPr id="29" name="Shape 21">
            <a:extLst>
              <a:ext uri="{FF2B5EF4-FFF2-40B4-BE49-F238E27FC236}">
                <a16:creationId xmlns:a16="http://schemas.microsoft.com/office/drawing/2014/main" id="{33CDC525-BC0C-3CCC-BE59-879307D3E37C}"/>
              </a:ext>
            </a:extLst>
          </p:cNvPr>
          <p:cNvSpPr/>
          <p:nvPr/>
        </p:nvSpPr>
        <p:spPr>
          <a:xfrm>
            <a:off x="3784657" y="-1257921"/>
            <a:ext cx="1513200" cy="65170"/>
          </a:xfrm>
          <a:prstGeom prst="rect">
            <a:avLst/>
          </a:prstGeom>
          <a:solidFill>
            <a:srgbClr val="0EA5E9"/>
          </a:solidFill>
          <a:ln w="12700">
            <a:solidFill>
              <a:srgbClr val="0EA5E9"/>
            </a:solidFill>
            <a:prstDash val="solid"/>
          </a:ln>
        </p:spPr>
        <p:txBody>
          <a:bodyPr/>
          <a:lstStyle/>
          <a:p>
            <a:endParaRPr lang="en-GB" noProof="0"/>
          </a:p>
        </p:txBody>
      </p:sp>
      <p:sp>
        <p:nvSpPr>
          <p:cNvPr id="30" name="Shape 24">
            <a:extLst>
              <a:ext uri="{FF2B5EF4-FFF2-40B4-BE49-F238E27FC236}">
                <a16:creationId xmlns:a16="http://schemas.microsoft.com/office/drawing/2014/main" id="{9A87FBDE-4168-070F-8D3B-18640FD9803E}"/>
              </a:ext>
            </a:extLst>
          </p:cNvPr>
          <p:cNvSpPr/>
          <p:nvPr/>
        </p:nvSpPr>
        <p:spPr>
          <a:xfrm>
            <a:off x="7297964" y="-3543920"/>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31" name="Shape 25">
            <a:extLst>
              <a:ext uri="{FF2B5EF4-FFF2-40B4-BE49-F238E27FC236}">
                <a16:creationId xmlns:a16="http://schemas.microsoft.com/office/drawing/2014/main" id="{F904ACBD-143C-EE51-65BB-530FD0B13A78}"/>
              </a:ext>
            </a:extLst>
          </p:cNvPr>
          <p:cNvSpPr/>
          <p:nvPr/>
        </p:nvSpPr>
        <p:spPr>
          <a:xfrm>
            <a:off x="7297964" y="-3543920"/>
            <a:ext cx="1652451" cy="124297"/>
          </a:xfrm>
          <a:prstGeom prst="rect">
            <a:avLst/>
          </a:prstGeom>
          <a:solidFill>
            <a:srgbClr val="22C55E"/>
          </a:solidFill>
          <a:ln w="12700">
            <a:solidFill>
              <a:srgbClr val="22C55E"/>
            </a:solidFill>
            <a:prstDash val="solid"/>
          </a:ln>
        </p:spPr>
        <p:txBody>
          <a:bodyPr/>
          <a:lstStyle/>
          <a:p>
            <a:endParaRPr lang="en-GB" noProof="0"/>
          </a:p>
        </p:txBody>
      </p:sp>
      <p:sp>
        <p:nvSpPr>
          <p:cNvPr id="32" name="Text 26">
            <a:extLst>
              <a:ext uri="{FF2B5EF4-FFF2-40B4-BE49-F238E27FC236}">
                <a16:creationId xmlns:a16="http://schemas.microsoft.com/office/drawing/2014/main" id="{65CCCFDD-F269-DA35-5856-C80D50BD99F4}"/>
              </a:ext>
            </a:extLst>
          </p:cNvPr>
          <p:cNvSpPr/>
          <p:nvPr/>
        </p:nvSpPr>
        <p:spPr>
          <a:xfrm>
            <a:off x="7480844" y="-3178160"/>
            <a:ext cx="1615855" cy="580051"/>
          </a:xfrm>
          <a:prstGeom prst="rect">
            <a:avLst/>
          </a:prstGeom>
          <a:noFill/>
          <a:ln/>
        </p:spPr>
        <p:txBody>
          <a:bodyPr wrap="square" lIns="0" tIns="0" rIns="0" bIns="0" rtlCol="0" anchor="ctr"/>
          <a:lstStyle/>
          <a:p>
            <a:pPr marL="0" indent="0">
              <a:buNone/>
            </a:pPr>
            <a:r>
              <a:rPr lang="en-GB" sz="3600" b="1" noProof="0">
                <a:solidFill>
                  <a:srgbClr val="22C55E"/>
                </a:solidFill>
                <a:latin typeface="Calibri"/>
                <a:ea typeface="Calibri"/>
                <a:cs typeface="Calibri"/>
              </a:rPr>
              <a:t>05</a:t>
            </a:r>
            <a:endParaRPr lang="en-GB" sz="3600" noProof="0"/>
          </a:p>
        </p:txBody>
      </p:sp>
      <p:sp>
        <p:nvSpPr>
          <p:cNvPr id="33" name="Text 27">
            <a:extLst>
              <a:ext uri="{FF2B5EF4-FFF2-40B4-BE49-F238E27FC236}">
                <a16:creationId xmlns:a16="http://schemas.microsoft.com/office/drawing/2014/main" id="{D50E492B-C11E-AE7A-4956-EC5C0EB069C8}"/>
              </a:ext>
            </a:extLst>
          </p:cNvPr>
          <p:cNvSpPr/>
          <p:nvPr/>
        </p:nvSpPr>
        <p:spPr>
          <a:xfrm>
            <a:off x="7480844" y="-2446640"/>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Major</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Findings</a:t>
            </a:r>
            <a:endParaRPr lang="en-GB" noProof="0"/>
          </a:p>
        </p:txBody>
      </p:sp>
      <p:sp>
        <p:nvSpPr>
          <p:cNvPr id="34" name="Shape 28">
            <a:extLst>
              <a:ext uri="{FF2B5EF4-FFF2-40B4-BE49-F238E27FC236}">
                <a16:creationId xmlns:a16="http://schemas.microsoft.com/office/drawing/2014/main" id="{C57A21FD-9D46-5A63-3B5B-20D7A86640C3}"/>
              </a:ext>
            </a:extLst>
          </p:cNvPr>
          <p:cNvSpPr/>
          <p:nvPr/>
        </p:nvSpPr>
        <p:spPr>
          <a:xfrm>
            <a:off x="7480844" y="-1257921"/>
            <a:ext cx="1469571" cy="65170"/>
          </a:xfrm>
          <a:prstGeom prst="rect">
            <a:avLst/>
          </a:prstGeom>
          <a:solidFill>
            <a:srgbClr val="22C55E"/>
          </a:solidFill>
          <a:ln w="12700">
            <a:solidFill>
              <a:srgbClr val="22C55E"/>
            </a:solidFill>
            <a:prstDash val="solid"/>
          </a:ln>
        </p:spPr>
        <p:txBody>
          <a:bodyPr/>
          <a:lstStyle/>
          <a:p>
            <a:endParaRPr lang="en-GB" noProof="0"/>
          </a:p>
        </p:txBody>
      </p:sp>
      <p:sp>
        <p:nvSpPr>
          <p:cNvPr id="35" name="Shape 31">
            <a:extLst>
              <a:ext uri="{FF2B5EF4-FFF2-40B4-BE49-F238E27FC236}">
                <a16:creationId xmlns:a16="http://schemas.microsoft.com/office/drawing/2014/main" id="{1EEBC6DA-F210-C7E0-2611-64E6F990BD84}"/>
              </a:ext>
            </a:extLst>
          </p:cNvPr>
          <p:cNvSpPr/>
          <p:nvPr/>
        </p:nvSpPr>
        <p:spPr>
          <a:xfrm>
            <a:off x="5462633" y="-3543920"/>
            <a:ext cx="1652451" cy="298311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GB" noProof="0"/>
          </a:p>
        </p:txBody>
      </p:sp>
      <p:sp>
        <p:nvSpPr>
          <p:cNvPr id="36" name="Shape 32">
            <a:extLst>
              <a:ext uri="{FF2B5EF4-FFF2-40B4-BE49-F238E27FC236}">
                <a16:creationId xmlns:a16="http://schemas.microsoft.com/office/drawing/2014/main" id="{45B16EE8-B086-1AFF-E1E9-BA1A26A227F0}"/>
              </a:ext>
            </a:extLst>
          </p:cNvPr>
          <p:cNvSpPr/>
          <p:nvPr/>
        </p:nvSpPr>
        <p:spPr>
          <a:xfrm>
            <a:off x="5462633" y="-3543920"/>
            <a:ext cx="1652451" cy="124297"/>
          </a:xfrm>
          <a:prstGeom prst="rect">
            <a:avLst/>
          </a:prstGeom>
          <a:solidFill>
            <a:srgbClr val="14B8A6"/>
          </a:solidFill>
          <a:ln w="12700">
            <a:solidFill>
              <a:srgbClr val="14B8A6"/>
            </a:solidFill>
            <a:prstDash val="solid"/>
          </a:ln>
        </p:spPr>
        <p:txBody>
          <a:bodyPr/>
          <a:lstStyle/>
          <a:p>
            <a:endParaRPr lang="en-GB" noProof="0"/>
          </a:p>
        </p:txBody>
      </p:sp>
      <p:sp>
        <p:nvSpPr>
          <p:cNvPr id="37" name="Text 33">
            <a:extLst>
              <a:ext uri="{FF2B5EF4-FFF2-40B4-BE49-F238E27FC236}">
                <a16:creationId xmlns:a16="http://schemas.microsoft.com/office/drawing/2014/main" id="{4892B4AB-5E1F-BB55-3B97-19998C766184}"/>
              </a:ext>
            </a:extLst>
          </p:cNvPr>
          <p:cNvSpPr/>
          <p:nvPr/>
        </p:nvSpPr>
        <p:spPr>
          <a:xfrm>
            <a:off x="5645513" y="-3178160"/>
            <a:ext cx="1615855" cy="580051"/>
          </a:xfrm>
          <a:prstGeom prst="rect">
            <a:avLst/>
          </a:prstGeom>
          <a:noFill/>
          <a:ln/>
        </p:spPr>
        <p:txBody>
          <a:bodyPr wrap="square" lIns="0" tIns="0" rIns="0" bIns="0" rtlCol="0" anchor="ctr"/>
          <a:lstStyle/>
          <a:p>
            <a:pPr marL="0" indent="0">
              <a:buNone/>
            </a:pPr>
            <a:r>
              <a:rPr lang="en-GB" sz="3600" b="1" noProof="0">
                <a:solidFill>
                  <a:srgbClr val="14B8A6"/>
                </a:solidFill>
                <a:latin typeface="Calibri"/>
                <a:ea typeface="Calibri"/>
                <a:cs typeface="Calibri"/>
              </a:rPr>
              <a:t>04</a:t>
            </a:r>
            <a:endParaRPr lang="en-GB" sz="3600" noProof="0"/>
          </a:p>
        </p:txBody>
      </p:sp>
      <p:sp>
        <p:nvSpPr>
          <p:cNvPr id="38" name="Text 34">
            <a:extLst>
              <a:ext uri="{FF2B5EF4-FFF2-40B4-BE49-F238E27FC236}">
                <a16:creationId xmlns:a16="http://schemas.microsoft.com/office/drawing/2014/main" id="{8990B64F-190D-0534-FDA3-78AA188A376A}"/>
              </a:ext>
            </a:extLst>
          </p:cNvPr>
          <p:cNvSpPr/>
          <p:nvPr/>
        </p:nvSpPr>
        <p:spPr>
          <a:xfrm>
            <a:off x="5645513" y="-2446640"/>
            <a:ext cx="1615855" cy="994372"/>
          </a:xfrm>
          <a:prstGeom prst="rect">
            <a:avLst/>
          </a:prstGeom>
          <a:noFill/>
          <a:ln/>
        </p:spPr>
        <p:txBody>
          <a:bodyPr wrap="square" lIns="0" tIns="0" rIns="0" bIns="0" rtlCol="0" anchor="ctr"/>
          <a:lstStyle/>
          <a:p>
            <a:pPr marL="0" indent="0">
              <a:buNone/>
            </a:pPr>
            <a:r>
              <a:rPr lang="en-GB" b="1" noProof="0">
                <a:solidFill>
                  <a:srgbClr val="1E2761"/>
                </a:solidFill>
                <a:latin typeface="Calibri" pitchFamily="34" charset="0"/>
                <a:ea typeface="Calibri" pitchFamily="34" charset="-122"/>
                <a:cs typeface="Calibri" pitchFamily="34" charset="-120"/>
              </a:rPr>
              <a:t>Project</a:t>
            </a:r>
            <a:endParaRPr lang="en-GB" noProof="0"/>
          </a:p>
          <a:p>
            <a:pPr marL="0" indent="0">
              <a:buNone/>
            </a:pPr>
            <a:r>
              <a:rPr lang="en-GB" b="1" noProof="0">
                <a:solidFill>
                  <a:srgbClr val="1E2761"/>
                </a:solidFill>
                <a:latin typeface="Calibri" pitchFamily="34" charset="0"/>
                <a:ea typeface="Calibri" pitchFamily="34" charset="-122"/>
                <a:cs typeface="Calibri" pitchFamily="34" charset="-120"/>
              </a:rPr>
              <a:t>Management</a:t>
            </a:r>
            <a:endParaRPr lang="en-GB" noProof="0"/>
          </a:p>
        </p:txBody>
      </p:sp>
      <p:sp>
        <p:nvSpPr>
          <p:cNvPr id="39" name="Shape 35">
            <a:extLst>
              <a:ext uri="{FF2B5EF4-FFF2-40B4-BE49-F238E27FC236}">
                <a16:creationId xmlns:a16="http://schemas.microsoft.com/office/drawing/2014/main" id="{33F5201A-670C-4647-BEB3-6D3AF5C210FC}"/>
              </a:ext>
            </a:extLst>
          </p:cNvPr>
          <p:cNvSpPr/>
          <p:nvPr/>
        </p:nvSpPr>
        <p:spPr>
          <a:xfrm>
            <a:off x="5645513" y="-1257921"/>
            <a:ext cx="1469571" cy="65170"/>
          </a:xfrm>
          <a:prstGeom prst="rect">
            <a:avLst/>
          </a:prstGeom>
          <a:solidFill>
            <a:srgbClr val="14B8A6"/>
          </a:solidFill>
          <a:ln w="12700">
            <a:solidFill>
              <a:srgbClr val="14B8A6"/>
            </a:solidFill>
            <a:prstDash val="solid"/>
          </a:ln>
        </p:spPr>
        <p:txBody>
          <a:bodyPr/>
          <a:lstStyle/>
          <a:p>
            <a:endParaRPr lang="en-GB" noProof="0"/>
          </a:p>
        </p:txBody>
      </p:sp>
      <p:sp>
        <p:nvSpPr>
          <p:cNvPr id="65" name="Text 9">
            <a:extLst>
              <a:ext uri="{FF2B5EF4-FFF2-40B4-BE49-F238E27FC236}">
                <a16:creationId xmlns:a16="http://schemas.microsoft.com/office/drawing/2014/main" id="{4C12E35A-3F2A-49D0-4313-A4BC0370393A}"/>
              </a:ext>
            </a:extLst>
          </p:cNvPr>
          <p:cNvSpPr/>
          <p:nvPr/>
        </p:nvSpPr>
        <p:spPr>
          <a:xfrm>
            <a:off x="207625" y="2299948"/>
            <a:ext cx="2240280" cy="457200"/>
          </a:xfrm>
          <a:prstGeom prst="rect">
            <a:avLst/>
          </a:prstGeom>
          <a:noFill/>
          <a:ln/>
        </p:spPr>
        <p:txBody>
          <a:bodyPr wrap="square" lIns="0" tIns="0" rIns="0" bIns="0" rtlCol="0" anchor="ctr"/>
          <a:lstStyle/>
          <a:p>
            <a:pPr marL="0" indent="0" algn="ctr">
              <a:buNone/>
            </a:pPr>
            <a:r>
              <a:rPr lang="en-GB" sz="1800" b="1" noProof="0">
                <a:solidFill>
                  <a:srgbClr val="1E2761"/>
                </a:solidFill>
                <a:latin typeface="Calibri" pitchFamily="34" charset="0"/>
                <a:ea typeface="Calibri" pitchFamily="34" charset="-122"/>
                <a:cs typeface="Calibri" pitchFamily="34" charset="-120"/>
              </a:rPr>
              <a:t>Accessible</a:t>
            </a:r>
            <a:endParaRPr lang="en-GB" sz="1800" noProof="0"/>
          </a:p>
        </p:txBody>
      </p:sp>
      <p:sp>
        <p:nvSpPr>
          <p:cNvPr id="67" name="Text 14">
            <a:extLst>
              <a:ext uri="{FF2B5EF4-FFF2-40B4-BE49-F238E27FC236}">
                <a16:creationId xmlns:a16="http://schemas.microsoft.com/office/drawing/2014/main" id="{9ACCA45C-764C-E849-0D19-E6BEC9CD59E1}"/>
              </a:ext>
            </a:extLst>
          </p:cNvPr>
          <p:cNvSpPr/>
          <p:nvPr/>
        </p:nvSpPr>
        <p:spPr>
          <a:xfrm>
            <a:off x="2671471" y="2345264"/>
            <a:ext cx="1408616" cy="457200"/>
          </a:xfrm>
          <a:prstGeom prst="rect">
            <a:avLst/>
          </a:prstGeom>
          <a:noFill/>
          <a:ln/>
        </p:spPr>
        <p:txBody>
          <a:bodyPr wrap="square" lIns="0" tIns="0" rIns="0" bIns="0" rtlCol="0" anchor="ctr"/>
          <a:lstStyle/>
          <a:p>
            <a:pPr marL="0" indent="0" algn="ctr">
              <a:buNone/>
            </a:pPr>
            <a:r>
              <a:rPr lang="en-GB" sz="1800" b="1" noProof="0">
                <a:solidFill>
                  <a:srgbClr val="1E2761"/>
                </a:solidFill>
                <a:latin typeface="Calibri" pitchFamily="34" charset="0"/>
                <a:ea typeface="Calibri" pitchFamily="34" charset="-122"/>
                <a:cs typeface="Calibri" pitchFamily="34" charset="-120"/>
              </a:rPr>
              <a:t>Quantitatively Sound</a:t>
            </a:r>
            <a:endParaRPr lang="en-GB" sz="1800" noProof="0"/>
          </a:p>
        </p:txBody>
      </p:sp>
      <p:sp>
        <p:nvSpPr>
          <p:cNvPr id="68" name="Text 14">
            <a:extLst>
              <a:ext uri="{FF2B5EF4-FFF2-40B4-BE49-F238E27FC236}">
                <a16:creationId xmlns:a16="http://schemas.microsoft.com/office/drawing/2014/main" id="{518CF0D0-8229-DFAD-6FF1-E18608157787}"/>
              </a:ext>
            </a:extLst>
          </p:cNvPr>
          <p:cNvSpPr/>
          <p:nvPr/>
        </p:nvSpPr>
        <p:spPr>
          <a:xfrm>
            <a:off x="4701775" y="2293843"/>
            <a:ext cx="1271738" cy="457200"/>
          </a:xfrm>
          <a:prstGeom prst="rect">
            <a:avLst/>
          </a:prstGeom>
          <a:noFill/>
          <a:ln/>
        </p:spPr>
        <p:txBody>
          <a:bodyPr wrap="square" lIns="0" tIns="0" rIns="0" bIns="0" rtlCol="0" anchor="ctr"/>
          <a:lstStyle/>
          <a:p>
            <a:pPr marL="0" indent="0" algn="ctr">
              <a:buNone/>
            </a:pPr>
            <a:r>
              <a:rPr lang="en-GB" sz="1800" b="1" noProof="0">
                <a:solidFill>
                  <a:srgbClr val="1E2761"/>
                </a:solidFill>
                <a:latin typeface="Calibri" pitchFamily="34" charset="0"/>
                <a:ea typeface="Calibri" pitchFamily="34" charset="-122"/>
                <a:cs typeface="Calibri" pitchFamily="34" charset="-120"/>
              </a:rPr>
              <a:t>Personalised</a:t>
            </a:r>
            <a:endParaRPr lang="en-GB" sz="1800" noProof="0"/>
          </a:p>
        </p:txBody>
      </p:sp>
      <p:sp>
        <p:nvSpPr>
          <p:cNvPr id="69" name="Text 14">
            <a:extLst>
              <a:ext uri="{FF2B5EF4-FFF2-40B4-BE49-F238E27FC236}">
                <a16:creationId xmlns:a16="http://schemas.microsoft.com/office/drawing/2014/main" id="{C252D755-4BC7-DEDB-E4DE-6416AE925872}"/>
              </a:ext>
            </a:extLst>
          </p:cNvPr>
          <p:cNvSpPr/>
          <p:nvPr/>
        </p:nvSpPr>
        <p:spPr>
          <a:xfrm>
            <a:off x="6679854" y="2293843"/>
            <a:ext cx="1308522" cy="457200"/>
          </a:xfrm>
          <a:prstGeom prst="rect">
            <a:avLst/>
          </a:prstGeom>
          <a:noFill/>
          <a:ln/>
        </p:spPr>
        <p:txBody>
          <a:bodyPr wrap="square" lIns="0" tIns="0" rIns="0" bIns="0" rtlCol="0" anchor="ctr"/>
          <a:lstStyle/>
          <a:p>
            <a:pPr marL="0" indent="0" algn="ctr">
              <a:buNone/>
            </a:pPr>
            <a:r>
              <a:rPr lang="en-GB" sz="1800" b="1" noProof="0">
                <a:solidFill>
                  <a:srgbClr val="1E2761"/>
                </a:solidFill>
                <a:latin typeface="Calibri" pitchFamily="34" charset="0"/>
                <a:ea typeface="Calibri" pitchFamily="34" charset="-122"/>
                <a:cs typeface="Calibri" pitchFamily="34" charset="-120"/>
              </a:rPr>
              <a:t>Transparent </a:t>
            </a:r>
            <a:endParaRPr lang="en-GB" sz="1800" noProof="0"/>
          </a:p>
        </p:txBody>
      </p:sp>
      <p:pic>
        <p:nvPicPr>
          <p:cNvPr id="71" name="Graphic 70" descr="Bar graph with upward trend with solid fill">
            <a:extLst>
              <a:ext uri="{FF2B5EF4-FFF2-40B4-BE49-F238E27FC236}">
                <a16:creationId xmlns:a16="http://schemas.microsoft.com/office/drawing/2014/main" id="{E51E11B7-568C-8769-52EE-86221F9AC0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3979" y="1426637"/>
            <a:ext cx="914400" cy="914400"/>
          </a:xfrm>
          <a:prstGeom prst="rect">
            <a:avLst/>
          </a:prstGeom>
        </p:spPr>
      </p:pic>
      <p:pic>
        <p:nvPicPr>
          <p:cNvPr id="73" name="Graphic 72" descr="Office worker male with solid fill">
            <a:extLst>
              <a:ext uri="{FF2B5EF4-FFF2-40B4-BE49-F238E27FC236}">
                <a16:creationId xmlns:a16="http://schemas.microsoft.com/office/drawing/2014/main" id="{EEA43B77-49EE-FB42-B29E-C5BD74174A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80445" y="1426637"/>
            <a:ext cx="914400" cy="914400"/>
          </a:xfrm>
          <a:prstGeom prst="rect">
            <a:avLst/>
          </a:prstGeom>
        </p:spPr>
      </p:pic>
      <p:pic>
        <p:nvPicPr>
          <p:cNvPr id="75" name="Graphic 74" descr="Door Open with solid fill">
            <a:extLst>
              <a:ext uri="{FF2B5EF4-FFF2-40B4-BE49-F238E27FC236}">
                <a16:creationId xmlns:a16="http://schemas.microsoft.com/office/drawing/2014/main" id="{93D67AD1-0859-1987-CFD7-8610D0801C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86636" y="1423251"/>
            <a:ext cx="914400" cy="914400"/>
          </a:xfrm>
          <a:prstGeom prst="rect">
            <a:avLst/>
          </a:prstGeom>
        </p:spPr>
      </p:pic>
      <p:pic>
        <p:nvPicPr>
          <p:cNvPr id="77" name="Graphic 76" descr="Earth globe: Africa and Europe with solid fill">
            <a:extLst>
              <a:ext uri="{FF2B5EF4-FFF2-40B4-BE49-F238E27FC236}">
                <a16:creationId xmlns:a16="http://schemas.microsoft.com/office/drawing/2014/main" id="{963817DA-AAED-2AA7-0698-5A4B16EABBF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4624" y="1426637"/>
            <a:ext cx="914400" cy="914400"/>
          </a:xfrm>
          <a:prstGeom prst="rect">
            <a:avLst/>
          </a:prstGeom>
        </p:spPr>
      </p:pic>
      <p:sp>
        <p:nvSpPr>
          <p:cNvPr id="79" name="Shape 4">
            <a:extLst>
              <a:ext uri="{FF2B5EF4-FFF2-40B4-BE49-F238E27FC236}">
                <a16:creationId xmlns:a16="http://schemas.microsoft.com/office/drawing/2014/main" id="{B5A79A87-51EF-80E5-A0DB-39E6DADD854E}"/>
              </a:ext>
            </a:extLst>
          </p:cNvPr>
          <p:cNvSpPr/>
          <p:nvPr/>
        </p:nvSpPr>
        <p:spPr>
          <a:xfrm>
            <a:off x="465309" y="4224402"/>
            <a:ext cx="7748201" cy="636694"/>
          </a:xfrm>
          <a:prstGeom prst="rect">
            <a:avLst/>
          </a:prstGeom>
          <a:solidFill>
            <a:srgbClr val="1E2761"/>
          </a:solidFill>
          <a:ln w="12700">
            <a:solidFill>
              <a:srgbClr val="F59E0B"/>
            </a:solidFill>
            <a:prstDash val="solid"/>
          </a:ln>
        </p:spPr>
        <p:txBody>
          <a:bodyPr/>
          <a:lstStyle/>
          <a:p>
            <a:pPr algn="ctr"/>
            <a:r>
              <a:rPr lang="en-GB" b="1" i="1">
                <a:solidFill>
                  <a:schemeClr val="bg1"/>
                </a:solidFill>
              </a:rPr>
              <a:t>Simplifying the Complexities of Investing </a:t>
            </a:r>
            <a:endParaRPr lang="en-GB" b="1" i="1" noProof="0">
              <a:solidFill>
                <a:schemeClr val="bg1"/>
              </a:solidFill>
            </a:endParaRPr>
          </a:p>
          <a:p>
            <a:pPr algn="ctr"/>
            <a:r>
              <a:rPr lang="en-GB" i="1" noProof="0">
                <a:solidFill>
                  <a:schemeClr val="bg1"/>
                </a:solidFill>
              </a:rPr>
              <a:t>Assisting users on building and optimising their investments to suit their needs.</a:t>
            </a:r>
          </a:p>
        </p:txBody>
      </p:sp>
      <p:sp>
        <p:nvSpPr>
          <p:cNvPr id="80" name="Shape 4">
            <a:extLst>
              <a:ext uri="{FF2B5EF4-FFF2-40B4-BE49-F238E27FC236}">
                <a16:creationId xmlns:a16="http://schemas.microsoft.com/office/drawing/2014/main" id="{5B2C616B-BE45-92BE-B6B2-074ABBE6F6C7}"/>
              </a:ext>
            </a:extLst>
          </p:cNvPr>
          <p:cNvSpPr/>
          <p:nvPr/>
        </p:nvSpPr>
        <p:spPr>
          <a:xfrm>
            <a:off x="465309" y="5860809"/>
            <a:ext cx="7748201" cy="2968593"/>
          </a:xfrm>
          <a:prstGeom prst="rect">
            <a:avLst/>
          </a:prstGeom>
          <a:solidFill>
            <a:srgbClr val="1E2761"/>
          </a:solidFill>
          <a:ln w="12700">
            <a:solidFill>
              <a:srgbClr val="1E2761"/>
            </a:solidFill>
            <a:prstDash val="solid"/>
          </a:ln>
        </p:spPr>
        <p:txBody>
          <a:bodyPr/>
          <a:lstStyle/>
          <a:p>
            <a:pPr algn="ctr"/>
            <a:r>
              <a:rPr lang="en-GB" b="1" i="1">
                <a:solidFill>
                  <a:schemeClr val="bg1"/>
                </a:solidFill>
              </a:rPr>
              <a:t>Simplifying the Complexities of Investing </a:t>
            </a:r>
            <a:endParaRPr lang="en-GB" b="1" i="1" noProof="0">
              <a:solidFill>
                <a:schemeClr val="bg1"/>
              </a:solidFill>
            </a:endParaRPr>
          </a:p>
          <a:p>
            <a:pPr algn="ctr"/>
            <a:r>
              <a:rPr lang="en-GB" b="1" i="1" noProof="0">
                <a:solidFill>
                  <a:schemeClr val="bg1"/>
                </a:solidFill>
              </a:rPr>
              <a:t>Making investing simpler </a:t>
            </a:r>
          </a:p>
          <a:p>
            <a:pPr algn="ctr"/>
            <a:r>
              <a:rPr lang="en-GB" b="1" i="1" noProof="0">
                <a:solidFill>
                  <a:schemeClr val="bg1"/>
                </a:solidFill>
              </a:rPr>
              <a:t>Complex made simple </a:t>
            </a:r>
          </a:p>
          <a:p>
            <a:pPr algn="ctr"/>
            <a:r>
              <a:rPr lang="en-GB" b="1" i="1" noProof="0">
                <a:solidFill>
                  <a:schemeClr val="bg1"/>
                </a:solidFill>
              </a:rPr>
              <a:t>A simple tool assisting in a complex way  </a:t>
            </a:r>
          </a:p>
          <a:p>
            <a:pPr algn="ctr"/>
            <a:r>
              <a:rPr lang="en-GB" b="1" i="1" noProof="0">
                <a:solidFill>
                  <a:schemeClr val="bg1"/>
                </a:solidFill>
              </a:rPr>
              <a:t> Assisting users on building and optimising their investments to suit their needs.</a:t>
            </a:r>
          </a:p>
        </p:txBody>
      </p:sp>
      <p:sp>
        <p:nvSpPr>
          <p:cNvPr id="82" name="Text 10">
            <a:extLst>
              <a:ext uri="{FF2B5EF4-FFF2-40B4-BE49-F238E27FC236}">
                <a16:creationId xmlns:a16="http://schemas.microsoft.com/office/drawing/2014/main" id="{C0CD82D9-7426-4F10-CC52-0A416CF0FE56}"/>
              </a:ext>
            </a:extLst>
          </p:cNvPr>
          <p:cNvSpPr/>
          <p:nvPr/>
        </p:nvSpPr>
        <p:spPr>
          <a:xfrm>
            <a:off x="512640" y="2798347"/>
            <a:ext cx="1641535" cy="1188720"/>
          </a:xfrm>
          <a:prstGeom prst="rect">
            <a:avLst/>
          </a:prstGeom>
          <a:noFill/>
          <a:ln/>
        </p:spPr>
        <p:txBody>
          <a:bodyPr wrap="square" lIns="0" tIns="0" rIns="0" bIns="0" rtlCol="0" anchor="ctr"/>
          <a:lstStyle/>
          <a:p>
            <a:pPr marL="0" indent="0" algn="ctr">
              <a:buNone/>
            </a:pPr>
            <a:r>
              <a:rPr lang="en-US" sz="1600">
                <a:solidFill>
                  <a:srgbClr val="64748B"/>
                </a:solidFill>
                <a:latin typeface="Calibri" pitchFamily="34" charset="0"/>
                <a:ea typeface="Calibri" pitchFamily="34" charset="-122"/>
                <a:cs typeface="Calibri" pitchFamily="34" charset="-120"/>
              </a:rPr>
              <a:t>Replace financial jargon with a guided chat the user understands.</a:t>
            </a:r>
            <a:endParaRPr lang="en-US" sz="1600"/>
          </a:p>
        </p:txBody>
      </p:sp>
      <p:sp>
        <p:nvSpPr>
          <p:cNvPr id="83" name="Text 10">
            <a:extLst>
              <a:ext uri="{FF2B5EF4-FFF2-40B4-BE49-F238E27FC236}">
                <a16:creationId xmlns:a16="http://schemas.microsoft.com/office/drawing/2014/main" id="{C8274F07-D767-E5C2-CEE5-CE829C784DE1}"/>
              </a:ext>
            </a:extLst>
          </p:cNvPr>
          <p:cNvSpPr/>
          <p:nvPr/>
        </p:nvSpPr>
        <p:spPr>
          <a:xfrm>
            <a:off x="2520412" y="2792110"/>
            <a:ext cx="1641535" cy="1188720"/>
          </a:xfrm>
          <a:prstGeom prst="rect">
            <a:avLst/>
          </a:prstGeom>
          <a:noFill/>
          <a:ln/>
        </p:spPr>
        <p:txBody>
          <a:bodyPr wrap="square" lIns="0" tIns="0" rIns="0" bIns="0" rtlCol="0" anchor="ctr"/>
          <a:lstStyle/>
          <a:p>
            <a:pPr marL="0" indent="0" algn="ctr">
              <a:buNone/>
            </a:pPr>
            <a:r>
              <a:rPr lang="en-US" sz="1600">
                <a:solidFill>
                  <a:srgbClr val="64748B"/>
                </a:solidFill>
                <a:latin typeface="Calibri" pitchFamily="34" charset="0"/>
                <a:cs typeface="Calibri" pitchFamily="34" charset="-120"/>
              </a:rPr>
              <a:t>Use a combination of Financial models to provide suitable and sound analysis </a:t>
            </a:r>
            <a:endParaRPr lang="en-US" sz="1600"/>
          </a:p>
        </p:txBody>
      </p:sp>
      <p:sp>
        <p:nvSpPr>
          <p:cNvPr id="84" name="Text 10">
            <a:extLst>
              <a:ext uri="{FF2B5EF4-FFF2-40B4-BE49-F238E27FC236}">
                <a16:creationId xmlns:a16="http://schemas.microsoft.com/office/drawing/2014/main" id="{A348C6D5-C746-4395-2E68-E885FD705CCC}"/>
              </a:ext>
            </a:extLst>
          </p:cNvPr>
          <p:cNvSpPr/>
          <p:nvPr/>
        </p:nvSpPr>
        <p:spPr>
          <a:xfrm>
            <a:off x="4516877" y="2802727"/>
            <a:ext cx="1641535" cy="1188720"/>
          </a:xfrm>
          <a:prstGeom prst="rect">
            <a:avLst/>
          </a:prstGeom>
          <a:noFill/>
          <a:ln/>
        </p:spPr>
        <p:txBody>
          <a:bodyPr wrap="square" lIns="0" tIns="0" rIns="0" bIns="0" rtlCol="0" anchor="ctr"/>
          <a:lstStyle/>
          <a:p>
            <a:pPr marL="0" indent="0" algn="ctr">
              <a:buNone/>
            </a:pPr>
            <a:r>
              <a:rPr lang="en-US" sz="1600">
                <a:solidFill>
                  <a:srgbClr val="64748B"/>
                </a:solidFill>
                <a:latin typeface="Calibri" pitchFamily="34" charset="0"/>
                <a:cs typeface="Calibri" pitchFamily="34" charset="-120"/>
              </a:rPr>
              <a:t>Tailor recommendations based of sectors, Time horizons, amounts, and risk </a:t>
            </a:r>
            <a:endParaRPr lang="en-US" sz="1600"/>
          </a:p>
        </p:txBody>
      </p:sp>
      <p:sp>
        <p:nvSpPr>
          <p:cNvPr id="85" name="Text 10">
            <a:extLst>
              <a:ext uri="{FF2B5EF4-FFF2-40B4-BE49-F238E27FC236}">
                <a16:creationId xmlns:a16="http://schemas.microsoft.com/office/drawing/2014/main" id="{D0F79113-55E4-3CD9-CE4F-9B943E172108}"/>
              </a:ext>
            </a:extLst>
          </p:cNvPr>
          <p:cNvSpPr/>
          <p:nvPr/>
        </p:nvSpPr>
        <p:spPr>
          <a:xfrm>
            <a:off x="6513347" y="2802727"/>
            <a:ext cx="1641535" cy="1188720"/>
          </a:xfrm>
          <a:prstGeom prst="rect">
            <a:avLst/>
          </a:prstGeom>
          <a:noFill/>
          <a:ln/>
        </p:spPr>
        <p:txBody>
          <a:bodyPr wrap="square" lIns="0" tIns="0" rIns="0" bIns="0" rtlCol="0" anchor="ctr"/>
          <a:lstStyle/>
          <a:p>
            <a:pPr marL="0" indent="0" algn="ctr">
              <a:buNone/>
            </a:pPr>
            <a:r>
              <a:rPr lang="en-US" sz="1600">
                <a:solidFill>
                  <a:srgbClr val="64748B"/>
                </a:solidFill>
                <a:latin typeface="Calibri" pitchFamily="34" charset="0"/>
                <a:cs typeface="Calibri" pitchFamily="34" charset="-120"/>
              </a:rPr>
              <a:t>Analytical breakdown and plain English explanations </a:t>
            </a:r>
            <a:endParaRPr lang="en-US" sz="1600"/>
          </a:p>
        </p:txBody>
      </p:sp>
    </p:spTree>
    <p:extLst>
      <p:ext uri="{BB962C8B-B14F-4D97-AF65-F5344CB8AC3E}">
        <p14:creationId xmlns:p14="http://schemas.microsoft.com/office/powerpoint/2010/main" val="143412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9D986-006D-CD08-4C17-56E8ECA96FF4}"/>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905C796A-858D-DE1C-494C-5A15A35DCABE}"/>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59677B0C-D31E-09D5-41D7-EDD124D8F03C}"/>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0EA5E9"/>
                </a:solidFill>
                <a:latin typeface="Calibri" pitchFamily="34" charset="0"/>
                <a:ea typeface="Calibri" pitchFamily="34" charset="-122"/>
                <a:cs typeface="Calibri" pitchFamily="34" charset="-120"/>
              </a:rPr>
              <a:t>03  ·  Methods Used</a:t>
            </a:r>
            <a:endParaRPr lang="en-GB" sz="1000" noProof="0">
              <a:solidFill>
                <a:srgbClr val="0EA5E9"/>
              </a:solidFill>
            </a:endParaRPr>
          </a:p>
        </p:txBody>
      </p:sp>
      <p:sp>
        <p:nvSpPr>
          <p:cNvPr id="6" name="Text 2">
            <a:extLst>
              <a:ext uri="{FF2B5EF4-FFF2-40B4-BE49-F238E27FC236}">
                <a16:creationId xmlns:a16="http://schemas.microsoft.com/office/drawing/2014/main" id="{C2C318D2-CA4F-FE43-A3CE-BC82579D9DAB}"/>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Blending Four Return Estimators</a:t>
            </a:r>
            <a:endParaRPr lang="en-US" sz="3000"/>
          </a:p>
        </p:txBody>
      </p:sp>
      <p:sp>
        <p:nvSpPr>
          <p:cNvPr id="7" name="Shape 3">
            <a:extLst>
              <a:ext uri="{FF2B5EF4-FFF2-40B4-BE49-F238E27FC236}">
                <a16:creationId xmlns:a16="http://schemas.microsoft.com/office/drawing/2014/main" id="{8383CA03-94B4-B723-59AC-B5D3EA1756EB}"/>
              </a:ext>
            </a:extLst>
          </p:cNvPr>
          <p:cNvSpPr/>
          <p:nvPr/>
        </p:nvSpPr>
        <p:spPr>
          <a:xfrm>
            <a:off x="1640335" y="816662"/>
            <a:ext cx="548640" cy="45720"/>
          </a:xfrm>
          <a:prstGeom prst="rect">
            <a:avLst/>
          </a:prstGeom>
          <a:solidFill>
            <a:srgbClr val="0EA5E9"/>
          </a:solidFill>
          <a:ln w="12700">
            <a:solidFill>
              <a:srgbClr val="0EA5E9"/>
            </a:solidFill>
            <a:prstDash val="solid"/>
          </a:ln>
        </p:spPr>
        <p:txBody>
          <a:bodyPr/>
          <a:lstStyle/>
          <a:p>
            <a:endParaRPr lang="en-GB" noProof="0"/>
          </a:p>
        </p:txBody>
      </p:sp>
      <p:sp>
        <p:nvSpPr>
          <p:cNvPr id="8" name="Shape 0">
            <a:extLst>
              <a:ext uri="{FF2B5EF4-FFF2-40B4-BE49-F238E27FC236}">
                <a16:creationId xmlns:a16="http://schemas.microsoft.com/office/drawing/2014/main" id="{CCB7CEE3-9DAC-402F-FBE9-F8C77C202907}"/>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
        <p:nvSpPr>
          <p:cNvPr id="103" name="Text 4">
            <a:extLst>
              <a:ext uri="{FF2B5EF4-FFF2-40B4-BE49-F238E27FC236}">
                <a16:creationId xmlns:a16="http://schemas.microsoft.com/office/drawing/2014/main" id="{9536E1D2-9156-95F8-E00E-1F0CF005816F}"/>
              </a:ext>
            </a:extLst>
          </p:cNvPr>
          <p:cNvSpPr/>
          <p:nvPr/>
        </p:nvSpPr>
        <p:spPr>
          <a:xfrm>
            <a:off x="259376" y="932166"/>
            <a:ext cx="10972800" cy="365760"/>
          </a:xfrm>
          <a:prstGeom prst="rect">
            <a:avLst/>
          </a:prstGeom>
          <a:noFill/>
          <a:ln/>
        </p:spPr>
        <p:txBody>
          <a:bodyPr wrap="square" lIns="0" tIns="0" rIns="0" bIns="0" rtlCol="0" anchor="ctr"/>
          <a:lstStyle/>
          <a:p>
            <a:pPr marL="0" indent="0">
              <a:buNone/>
            </a:pPr>
            <a:r>
              <a:rPr lang="en-US" sz="1300" i="1">
                <a:solidFill>
                  <a:srgbClr val="64748B"/>
                </a:solidFill>
                <a:latin typeface="Calibri" pitchFamily="34" charset="0"/>
                <a:ea typeface="Calibri" pitchFamily="34" charset="-122"/>
                <a:cs typeface="Calibri" pitchFamily="34" charset="-120"/>
              </a:rPr>
              <a:t>Each estimator has different biases. We blend them so no single model can dominate the result.</a:t>
            </a:r>
            <a:endParaRPr lang="en-US" sz="1300"/>
          </a:p>
        </p:txBody>
      </p:sp>
      <p:sp>
        <p:nvSpPr>
          <p:cNvPr id="104" name="Shape 5">
            <a:extLst>
              <a:ext uri="{FF2B5EF4-FFF2-40B4-BE49-F238E27FC236}">
                <a16:creationId xmlns:a16="http://schemas.microsoft.com/office/drawing/2014/main" id="{1F5347FB-86B7-15DE-5F76-A7B67D948AEB}"/>
              </a:ext>
            </a:extLst>
          </p:cNvPr>
          <p:cNvSpPr/>
          <p:nvPr/>
        </p:nvSpPr>
        <p:spPr>
          <a:xfrm>
            <a:off x="183233" y="1798399"/>
            <a:ext cx="2034540" cy="2641333"/>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05" name="Shape 6">
            <a:extLst>
              <a:ext uri="{FF2B5EF4-FFF2-40B4-BE49-F238E27FC236}">
                <a16:creationId xmlns:a16="http://schemas.microsoft.com/office/drawing/2014/main" id="{7FCAC526-3D20-F062-2FD5-000F6D867F3E}"/>
              </a:ext>
            </a:extLst>
          </p:cNvPr>
          <p:cNvSpPr/>
          <p:nvPr/>
        </p:nvSpPr>
        <p:spPr>
          <a:xfrm>
            <a:off x="183233" y="1298687"/>
            <a:ext cx="2034540" cy="499712"/>
          </a:xfrm>
          <a:prstGeom prst="rect">
            <a:avLst/>
          </a:prstGeom>
          <a:solidFill>
            <a:srgbClr val="F59E0B"/>
          </a:solidFill>
          <a:ln w="12700">
            <a:solidFill>
              <a:srgbClr val="F59E0B"/>
            </a:solidFill>
            <a:prstDash val="solid"/>
          </a:ln>
        </p:spPr>
        <p:txBody>
          <a:bodyPr/>
          <a:lstStyle/>
          <a:p>
            <a:endParaRPr lang="en-US"/>
          </a:p>
        </p:txBody>
      </p:sp>
      <p:sp>
        <p:nvSpPr>
          <p:cNvPr id="106" name="Text 7">
            <a:extLst>
              <a:ext uri="{FF2B5EF4-FFF2-40B4-BE49-F238E27FC236}">
                <a16:creationId xmlns:a16="http://schemas.microsoft.com/office/drawing/2014/main" id="{AB0403AF-856B-0F9F-0963-A7D0A7EE0DCC}"/>
              </a:ext>
            </a:extLst>
          </p:cNvPr>
          <p:cNvSpPr/>
          <p:nvPr/>
        </p:nvSpPr>
        <p:spPr>
          <a:xfrm>
            <a:off x="366113" y="1350021"/>
            <a:ext cx="1748991" cy="356937"/>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MPT</a:t>
            </a:r>
            <a:endParaRPr lang="en-US" sz="2200"/>
          </a:p>
        </p:txBody>
      </p:sp>
      <p:sp>
        <p:nvSpPr>
          <p:cNvPr id="107" name="Text 8">
            <a:extLst>
              <a:ext uri="{FF2B5EF4-FFF2-40B4-BE49-F238E27FC236}">
                <a16:creationId xmlns:a16="http://schemas.microsoft.com/office/drawing/2014/main" id="{1640A749-2908-85A1-CFAF-D6D61D725355}"/>
              </a:ext>
            </a:extLst>
          </p:cNvPr>
          <p:cNvSpPr/>
          <p:nvPr/>
        </p:nvSpPr>
        <p:spPr>
          <a:xfrm>
            <a:off x="366113" y="1350021"/>
            <a:ext cx="1748991" cy="356937"/>
          </a:xfrm>
          <a:prstGeom prst="rect">
            <a:avLst/>
          </a:prstGeom>
          <a:noFill/>
          <a:ln/>
        </p:spPr>
        <p:txBody>
          <a:bodyPr wrap="square" lIns="0" tIns="0" rIns="0" bIns="0" rtlCol="0" anchor="ctr"/>
          <a:lstStyle/>
          <a:p>
            <a:pPr marL="0" indent="0" algn="r">
              <a:buNone/>
            </a:pPr>
            <a:r>
              <a:rPr lang="en-US" sz="1000" b="1" kern="0" spc="200">
                <a:solidFill>
                  <a:srgbClr val="FFFFFF"/>
                </a:solidFill>
                <a:latin typeface="Calibri" pitchFamily="34" charset="0"/>
                <a:ea typeface="Calibri" pitchFamily="34" charset="-122"/>
                <a:cs typeface="Calibri" pitchFamily="34" charset="-120"/>
              </a:rPr>
              <a:t>1952</a:t>
            </a:r>
            <a:endParaRPr lang="en-US" sz="1000"/>
          </a:p>
        </p:txBody>
      </p:sp>
      <p:sp>
        <p:nvSpPr>
          <p:cNvPr id="108" name="Text 9">
            <a:extLst>
              <a:ext uri="{FF2B5EF4-FFF2-40B4-BE49-F238E27FC236}">
                <a16:creationId xmlns:a16="http://schemas.microsoft.com/office/drawing/2014/main" id="{AF878633-12D3-9529-25E0-DED24D84E655}"/>
              </a:ext>
            </a:extLst>
          </p:cNvPr>
          <p:cNvSpPr/>
          <p:nvPr/>
        </p:nvSpPr>
        <p:spPr>
          <a:xfrm>
            <a:off x="366113" y="1913903"/>
            <a:ext cx="1748991" cy="285550"/>
          </a:xfrm>
          <a:prstGeom prst="rect">
            <a:avLst/>
          </a:prstGeom>
          <a:noFill/>
          <a:ln/>
        </p:spPr>
        <p:txBody>
          <a:bodyPr wrap="square" lIns="0" tIns="0" rIns="0" bIns="0" rtlCol="0" anchor="ctr"/>
          <a:lstStyle/>
          <a:p>
            <a:pPr marL="0" indent="0">
              <a:buNone/>
            </a:pPr>
            <a:r>
              <a:rPr lang="en-US" sz="1200" b="1">
                <a:solidFill>
                  <a:srgbClr val="1E2761"/>
                </a:solidFill>
                <a:latin typeface="Calibri" pitchFamily="34" charset="0"/>
                <a:ea typeface="Calibri" pitchFamily="34" charset="-122"/>
                <a:cs typeface="Calibri" pitchFamily="34" charset="-120"/>
              </a:rPr>
              <a:t>Modern Portfolio Theory</a:t>
            </a:r>
            <a:endParaRPr lang="en-US" sz="1200"/>
          </a:p>
        </p:txBody>
      </p:sp>
      <p:sp>
        <p:nvSpPr>
          <p:cNvPr id="109" name="Text 10">
            <a:extLst>
              <a:ext uri="{FF2B5EF4-FFF2-40B4-BE49-F238E27FC236}">
                <a16:creationId xmlns:a16="http://schemas.microsoft.com/office/drawing/2014/main" id="{80509DC6-F03B-756D-C487-B2CCE0C3F464}"/>
              </a:ext>
            </a:extLst>
          </p:cNvPr>
          <p:cNvSpPr/>
          <p:nvPr/>
        </p:nvSpPr>
        <p:spPr>
          <a:xfrm>
            <a:off x="366113" y="2386745"/>
            <a:ext cx="1748991" cy="178468"/>
          </a:xfrm>
          <a:prstGeom prst="rect">
            <a:avLst/>
          </a:prstGeom>
          <a:noFill/>
          <a:ln/>
        </p:spPr>
        <p:txBody>
          <a:bodyPr wrap="square" lIns="0" tIns="0" rIns="0" bIns="0" rtlCol="0" anchor="ctr"/>
          <a:lstStyle/>
          <a:p>
            <a:pPr marL="0" indent="0">
              <a:buNone/>
            </a:pPr>
            <a:r>
              <a:rPr lang="en-US" sz="900" b="1" kern="0" spc="300">
                <a:solidFill>
                  <a:srgbClr val="F59E0B"/>
                </a:solidFill>
                <a:latin typeface="Calibri" pitchFamily="34" charset="0"/>
                <a:ea typeface="Calibri" pitchFamily="34" charset="-122"/>
                <a:cs typeface="Calibri" pitchFamily="34" charset="-120"/>
              </a:rPr>
              <a:t>HOW</a:t>
            </a:r>
            <a:endParaRPr lang="en-US" sz="900"/>
          </a:p>
        </p:txBody>
      </p:sp>
      <p:sp>
        <p:nvSpPr>
          <p:cNvPr id="110" name="Text 11">
            <a:extLst>
              <a:ext uri="{FF2B5EF4-FFF2-40B4-BE49-F238E27FC236}">
                <a16:creationId xmlns:a16="http://schemas.microsoft.com/office/drawing/2014/main" id="{99BD5F89-6849-B798-AE9E-9EB498317EE8}"/>
              </a:ext>
            </a:extLst>
          </p:cNvPr>
          <p:cNvSpPr/>
          <p:nvPr/>
        </p:nvSpPr>
        <p:spPr>
          <a:xfrm>
            <a:off x="366113" y="27055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Historical mean returns, inflation-adjusted</a:t>
            </a:r>
            <a:endParaRPr lang="en-US" sz="1100"/>
          </a:p>
        </p:txBody>
      </p:sp>
      <p:sp>
        <p:nvSpPr>
          <p:cNvPr id="111" name="Text 12">
            <a:extLst>
              <a:ext uri="{FF2B5EF4-FFF2-40B4-BE49-F238E27FC236}">
                <a16:creationId xmlns:a16="http://schemas.microsoft.com/office/drawing/2014/main" id="{3176BEED-3839-8816-6318-2CFBEF8F26C4}"/>
              </a:ext>
            </a:extLst>
          </p:cNvPr>
          <p:cNvSpPr/>
          <p:nvPr/>
        </p:nvSpPr>
        <p:spPr>
          <a:xfrm>
            <a:off x="366113" y="3301145"/>
            <a:ext cx="1748991" cy="178468"/>
          </a:xfrm>
          <a:prstGeom prst="rect">
            <a:avLst/>
          </a:prstGeom>
          <a:noFill/>
          <a:ln/>
        </p:spPr>
        <p:txBody>
          <a:bodyPr wrap="square" lIns="0" tIns="0" rIns="0" bIns="0" rtlCol="0" anchor="ctr"/>
          <a:lstStyle/>
          <a:p>
            <a:pPr marL="0" indent="0">
              <a:buNone/>
            </a:pPr>
            <a:r>
              <a:rPr lang="en-US" sz="900" b="1" kern="0" spc="300">
                <a:solidFill>
                  <a:srgbClr val="F59E0B"/>
                </a:solidFill>
                <a:latin typeface="Calibri" pitchFamily="34" charset="0"/>
                <a:ea typeface="Calibri" pitchFamily="34" charset="-122"/>
                <a:cs typeface="Calibri" pitchFamily="34" charset="-120"/>
              </a:rPr>
              <a:t>STRENGTH</a:t>
            </a:r>
            <a:endParaRPr lang="en-US" sz="900"/>
          </a:p>
        </p:txBody>
      </p:sp>
      <p:sp>
        <p:nvSpPr>
          <p:cNvPr id="112" name="Text 13">
            <a:extLst>
              <a:ext uri="{FF2B5EF4-FFF2-40B4-BE49-F238E27FC236}">
                <a16:creationId xmlns:a16="http://schemas.microsoft.com/office/drawing/2014/main" id="{EF5FB424-5C77-3E7A-84B7-15F1A30F5D76}"/>
              </a:ext>
            </a:extLst>
          </p:cNvPr>
          <p:cNvSpPr/>
          <p:nvPr/>
        </p:nvSpPr>
        <p:spPr>
          <a:xfrm>
            <a:off x="366113" y="36199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Simple, transparent, well-understood</a:t>
            </a:r>
            <a:endParaRPr lang="en-US" sz="1100"/>
          </a:p>
        </p:txBody>
      </p:sp>
      <p:sp>
        <p:nvSpPr>
          <p:cNvPr id="113" name="Shape 14">
            <a:extLst>
              <a:ext uri="{FF2B5EF4-FFF2-40B4-BE49-F238E27FC236}">
                <a16:creationId xmlns:a16="http://schemas.microsoft.com/office/drawing/2014/main" id="{E83088E6-EC42-C443-63F1-DFEE8F6D1A8D}"/>
              </a:ext>
            </a:extLst>
          </p:cNvPr>
          <p:cNvSpPr/>
          <p:nvPr/>
        </p:nvSpPr>
        <p:spPr>
          <a:xfrm>
            <a:off x="366113" y="4134131"/>
            <a:ext cx="1748991" cy="214162"/>
          </a:xfrm>
          <a:prstGeom prst="rect">
            <a:avLst/>
          </a:prstGeom>
          <a:solidFill>
            <a:srgbClr val="F8F9FA"/>
          </a:solidFill>
          <a:ln w="12700">
            <a:solidFill>
              <a:srgbClr val="F59E0B"/>
            </a:solidFill>
            <a:prstDash val="solid"/>
          </a:ln>
        </p:spPr>
        <p:txBody>
          <a:bodyPr/>
          <a:lstStyle/>
          <a:p>
            <a:endParaRPr lang="en-US"/>
          </a:p>
        </p:txBody>
      </p:sp>
      <p:sp>
        <p:nvSpPr>
          <p:cNvPr id="114" name="Text 15">
            <a:extLst>
              <a:ext uri="{FF2B5EF4-FFF2-40B4-BE49-F238E27FC236}">
                <a16:creationId xmlns:a16="http://schemas.microsoft.com/office/drawing/2014/main" id="{49FA7B02-29B6-25EA-19A5-296A7F5EA2F6}"/>
              </a:ext>
            </a:extLst>
          </p:cNvPr>
          <p:cNvSpPr/>
          <p:nvPr/>
        </p:nvSpPr>
        <p:spPr>
          <a:xfrm>
            <a:off x="366113" y="4134131"/>
            <a:ext cx="1748991" cy="214162"/>
          </a:xfrm>
          <a:prstGeom prst="rect">
            <a:avLst/>
          </a:prstGeom>
          <a:noFill/>
          <a:ln/>
        </p:spPr>
        <p:txBody>
          <a:bodyPr wrap="squar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Blend weight: </a:t>
            </a:r>
            <a:r>
              <a:rPr lang="en-US" sz="1000" b="1">
                <a:solidFill>
                  <a:srgbClr val="F59E0B"/>
                </a:solidFill>
                <a:latin typeface="Calibri" pitchFamily="34" charset="0"/>
                <a:ea typeface="Calibri" pitchFamily="34" charset="-122"/>
                <a:cs typeface="Calibri" pitchFamily="34" charset="-120"/>
              </a:rPr>
              <a:t>21.7%</a:t>
            </a:r>
            <a:endParaRPr lang="en-US" sz="900"/>
          </a:p>
        </p:txBody>
      </p:sp>
      <p:sp>
        <p:nvSpPr>
          <p:cNvPr id="115" name="Shape 16">
            <a:extLst>
              <a:ext uri="{FF2B5EF4-FFF2-40B4-BE49-F238E27FC236}">
                <a16:creationId xmlns:a16="http://schemas.microsoft.com/office/drawing/2014/main" id="{451F662E-1286-5128-72BF-7C844C73BC84}"/>
              </a:ext>
            </a:extLst>
          </p:cNvPr>
          <p:cNvSpPr/>
          <p:nvPr/>
        </p:nvSpPr>
        <p:spPr>
          <a:xfrm>
            <a:off x="2293916" y="1798399"/>
            <a:ext cx="2034540" cy="2641333"/>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16" name="Shape 17">
            <a:extLst>
              <a:ext uri="{FF2B5EF4-FFF2-40B4-BE49-F238E27FC236}">
                <a16:creationId xmlns:a16="http://schemas.microsoft.com/office/drawing/2014/main" id="{22BCEC43-B71F-89A4-29DC-E6B0F5AFA555}"/>
              </a:ext>
            </a:extLst>
          </p:cNvPr>
          <p:cNvSpPr/>
          <p:nvPr/>
        </p:nvSpPr>
        <p:spPr>
          <a:xfrm>
            <a:off x="2293916" y="1298687"/>
            <a:ext cx="2034540" cy="499712"/>
          </a:xfrm>
          <a:prstGeom prst="rect">
            <a:avLst/>
          </a:prstGeom>
          <a:solidFill>
            <a:srgbClr val="A855F7"/>
          </a:solidFill>
          <a:ln w="12700">
            <a:solidFill>
              <a:srgbClr val="A855F7"/>
            </a:solidFill>
            <a:prstDash val="solid"/>
          </a:ln>
        </p:spPr>
        <p:txBody>
          <a:bodyPr/>
          <a:lstStyle/>
          <a:p>
            <a:endParaRPr lang="en-US"/>
          </a:p>
        </p:txBody>
      </p:sp>
      <p:sp>
        <p:nvSpPr>
          <p:cNvPr id="117" name="Text 18">
            <a:extLst>
              <a:ext uri="{FF2B5EF4-FFF2-40B4-BE49-F238E27FC236}">
                <a16:creationId xmlns:a16="http://schemas.microsoft.com/office/drawing/2014/main" id="{E57438B1-0CD9-7640-A995-6FB8CDAC2CA8}"/>
              </a:ext>
            </a:extLst>
          </p:cNvPr>
          <p:cNvSpPr/>
          <p:nvPr/>
        </p:nvSpPr>
        <p:spPr>
          <a:xfrm>
            <a:off x="2476796" y="1350021"/>
            <a:ext cx="1748991" cy="356937"/>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CAPM</a:t>
            </a:r>
            <a:endParaRPr lang="en-US" sz="2200"/>
          </a:p>
        </p:txBody>
      </p:sp>
      <p:sp>
        <p:nvSpPr>
          <p:cNvPr id="118" name="Text 19">
            <a:extLst>
              <a:ext uri="{FF2B5EF4-FFF2-40B4-BE49-F238E27FC236}">
                <a16:creationId xmlns:a16="http://schemas.microsoft.com/office/drawing/2014/main" id="{F9CE1234-E2A6-08E1-B2E7-9745101874EB}"/>
              </a:ext>
            </a:extLst>
          </p:cNvPr>
          <p:cNvSpPr/>
          <p:nvPr/>
        </p:nvSpPr>
        <p:spPr>
          <a:xfrm>
            <a:off x="2476796" y="1350021"/>
            <a:ext cx="1748991" cy="356937"/>
          </a:xfrm>
          <a:prstGeom prst="rect">
            <a:avLst/>
          </a:prstGeom>
          <a:noFill/>
          <a:ln/>
        </p:spPr>
        <p:txBody>
          <a:bodyPr wrap="square" lIns="0" tIns="0" rIns="0" bIns="0" rtlCol="0" anchor="ctr"/>
          <a:lstStyle/>
          <a:p>
            <a:pPr marL="0" indent="0" algn="r">
              <a:buNone/>
            </a:pPr>
            <a:r>
              <a:rPr lang="en-US" sz="1000" b="1" kern="0" spc="200">
                <a:solidFill>
                  <a:srgbClr val="FFFFFF"/>
                </a:solidFill>
                <a:latin typeface="Calibri" pitchFamily="34" charset="0"/>
                <a:ea typeface="Calibri" pitchFamily="34" charset="-122"/>
                <a:cs typeface="Calibri" pitchFamily="34" charset="-120"/>
              </a:rPr>
              <a:t>1964</a:t>
            </a:r>
            <a:endParaRPr lang="en-US" sz="1000"/>
          </a:p>
        </p:txBody>
      </p:sp>
      <p:sp>
        <p:nvSpPr>
          <p:cNvPr id="119" name="Text 20">
            <a:extLst>
              <a:ext uri="{FF2B5EF4-FFF2-40B4-BE49-F238E27FC236}">
                <a16:creationId xmlns:a16="http://schemas.microsoft.com/office/drawing/2014/main" id="{E1E32F53-1C60-6470-1DD6-3ADBE2E17681}"/>
              </a:ext>
            </a:extLst>
          </p:cNvPr>
          <p:cNvSpPr/>
          <p:nvPr/>
        </p:nvSpPr>
        <p:spPr>
          <a:xfrm>
            <a:off x="2476796" y="1913903"/>
            <a:ext cx="1748991" cy="285550"/>
          </a:xfrm>
          <a:prstGeom prst="rect">
            <a:avLst/>
          </a:prstGeom>
          <a:noFill/>
          <a:ln/>
        </p:spPr>
        <p:txBody>
          <a:bodyPr wrap="square" lIns="0" tIns="0" rIns="0" bIns="0" rtlCol="0" anchor="ctr"/>
          <a:lstStyle/>
          <a:p>
            <a:pPr marL="0" indent="0">
              <a:buNone/>
            </a:pPr>
            <a:r>
              <a:rPr lang="en-US" sz="1200" b="1">
                <a:solidFill>
                  <a:srgbClr val="1E2761"/>
                </a:solidFill>
                <a:latin typeface="Calibri" pitchFamily="34" charset="0"/>
                <a:ea typeface="Calibri" pitchFamily="34" charset="-122"/>
                <a:cs typeface="Calibri" pitchFamily="34" charset="-120"/>
              </a:rPr>
              <a:t>Capital Asset Pricing Model</a:t>
            </a:r>
            <a:endParaRPr lang="en-US" sz="1200"/>
          </a:p>
        </p:txBody>
      </p:sp>
      <p:sp>
        <p:nvSpPr>
          <p:cNvPr id="120" name="Text 21">
            <a:extLst>
              <a:ext uri="{FF2B5EF4-FFF2-40B4-BE49-F238E27FC236}">
                <a16:creationId xmlns:a16="http://schemas.microsoft.com/office/drawing/2014/main" id="{D61BD402-5D5C-1ECF-CC49-E5CC11F92AC6}"/>
              </a:ext>
            </a:extLst>
          </p:cNvPr>
          <p:cNvSpPr/>
          <p:nvPr/>
        </p:nvSpPr>
        <p:spPr>
          <a:xfrm>
            <a:off x="2476796" y="2386745"/>
            <a:ext cx="1748991" cy="178468"/>
          </a:xfrm>
          <a:prstGeom prst="rect">
            <a:avLst/>
          </a:prstGeom>
          <a:noFill/>
          <a:ln/>
        </p:spPr>
        <p:txBody>
          <a:bodyPr wrap="square" lIns="0" tIns="0" rIns="0" bIns="0" rtlCol="0" anchor="ctr"/>
          <a:lstStyle/>
          <a:p>
            <a:pPr marL="0" indent="0">
              <a:buNone/>
            </a:pPr>
            <a:r>
              <a:rPr lang="en-US" sz="900" b="1" kern="0" spc="300">
                <a:solidFill>
                  <a:srgbClr val="A855F7"/>
                </a:solidFill>
                <a:latin typeface="Calibri" pitchFamily="34" charset="0"/>
                <a:ea typeface="Calibri" pitchFamily="34" charset="-122"/>
                <a:cs typeface="Calibri" pitchFamily="34" charset="-120"/>
              </a:rPr>
              <a:t>HOW</a:t>
            </a:r>
            <a:endParaRPr lang="en-US" sz="900"/>
          </a:p>
        </p:txBody>
      </p:sp>
      <p:sp>
        <p:nvSpPr>
          <p:cNvPr id="121" name="Text 22">
            <a:extLst>
              <a:ext uri="{FF2B5EF4-FFF2-40B4-BE49-F238E27FC236}">
                <a16:creationId xmlns:a16="http://schemas.microsoft.com/office/drawing/2014/main" id="{B42E6210-0B50-BDC7-F011-858BAEE57ADC}"/>
              </a:ext>
            </a:extLst>
          </p:cNvPr>
          <p:cNvSpPr/>
          <p:nvPr/>
        </p:nvSpPr>
        <p:spPr>
          <a:xfrm>
            <a:off x="2476796" y="27055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Beta regression vs market benchmark</a:t>
            </a:r>
            <a:endParaRPr lang="en-US" sz="1100"/>
          </a:p>
        </p:txBody>
      </p:sp>
      <p:sp>
        <p:nvSpPr>
          <p:cNvPr id="122" name="Text 23">
            <a:extLst>
              <a:ext uri="{FF2B5EF4-FFF2-40B4-BE49-F238E27FC236}">
                <a16:creationId xmlns:a16="http://schemas.microsoft.com/office/drawing/2014/main" id="{FAF372D4-B88E-B044-6217-3A3B77695F7A}"/>
              </a:ext>
            </a:extLst>
          </p:cNvPr>
          <p:cNvSpPr/>
          <p:nvPr/>
        </p:nvSpPr>
        <p:spPr>
          <a:xfrm>
            <a:off x="2476796" y="3301145"/>
            <a:ext cx="1748991" cy="178468"/>
          </a:xfrm>
          <a:prstGeom prst="rect">
            <a:avLst/>
          </a:prstGeom>
          <a:noFill/>
          <a:ln/>
        </p:spPr>
        <p:txBody>
          <a:bodyPr wrap="square" lIns="0" tIns="0" rIns="0" bIns="0" rtlCol="0" anchor="ctr"/>
          <a:lstStyle/>
          <a:p>
            <a:pPr marL="0" indent="0">
              <a:buNone/>
            </a:pPr>
            <a:r>
              <a:rPr lang="en-US" sz="900" b="1" kern="0" spc="300">
                <a:solidFill>
                  <a:srgbClr val="A855F7"/>
                </a:solidFill>
                <a:latin typeface="Calibri" pitchFamily="34" charset="0"/>
                <a:ea typeface="Calibri" pitchFamily="34" charset="-122"/>
                <a:cs typeface="Calibri" pitchFamily="34" charset="-120"/>
              </a:rPr>
              <a:t>STRENGTH</a:t>
            </a:r>
            <a:endParaRPr lang="en-US" sz="900"/>
          </a:p>
        </p:txBody>
      </p:sp>
      <p:sp>
        <p:nvSpPr>
          <p:cNvPr id="123" name="Text 24">
            <a:extLst>
              <a:ext uri="{FF2B5EF4-FFF2-40B4-BE49-F238E27FC236}">
                <a16:creationId xmlns:a16="http://schemas.microsoft.com/office/drawing/2014/main" id="{6932A44F-05ED-C26A-EAB6-6E339E955AA1}"/>
              </a:ext>
            </a:extLst>
          </p:cNvPr>
          <p:cNvSpPr/>
          <p:nvPr/>
        </p:nvSpPr>
        <p:spPr>
          <a:xfrm>
            <a:off x="2476796" y="36199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Discounts excess return for systematic risk</a:t>
            </a:r>
            <a:endParaRPr lang="en-US" sz="1100"/>
          </a:p>
        </p:txBody>
      </p:sp>
      <p:sp>
        <p:nvSpPr>
          <p:cNvPr id="124" name="Shape 25">
            <a:extLst>
              <a:ext uri="{FF2B5EF4-FFF2-40B4-BE49-F238E27FC236}">
                <a16:creationId xmlns:a16="http://schemas.microsoft.com/office/drawing/2014/main" id="{EE929225-5688-1747-6584-69ED7D84F492}"/>
              </a:ext>
            </a:extLst>
          </p:cNvPr>
          <p:cNvSpPr/>
          <p:nvPr/>
        </p:nvSpPr>
        <p:spPr>
          <a:xfrm>
            <a:off x="2476796" y="4134131"/>
            <a:ext cx="1748991" cy="214162"/>
          </a:xfrm>
          <a:prstGeom prst="rect">
            <a:avLst/>
          </a:prstGeom>
          <a:solidFill>
            <a:srgbClr val="F8F9FA"/>
          </a:solidFill>
          <a:ln w="12700">
            <a:solidFill>
              <a:srgbClr val="A855F7"/>
            </a:solidFill>
            <a:prstDash val="solid"/>
          </a:ln>
        </p:spPr>
        <p:txBody>
          <a:bodyPr/>
          <a:lstStyle/>
          <a:p>
            <a:endParaRPr lang="en-US"/>
          </a:p>
        </p:txBody>
      </p:sp>
      <p:sp>
        <p:nvSpPr>
          <p:cNvPr id="125" name="Text 26">
            <a:extLst>
              <a:ext uri="{FF2B5EF4-FFF2-40B4-BE49-F238E27FC236}">
                <a16:creationId xmlns:a16="http://schemas.microsoft.com/office/drawing/2014/main" id="{249545CF-A631-F16F-69B1-3656E049FF69}"/>
              </a:ext>
            </a:extLst>
          </p:cNvPr>
          <p:cNvSpPr/>
          <p:nvPr/>
        </p:nvSpPr>
        <p:spPr>
          <a:xfrm>
            <a:off x="2476796" y="4134131"/>
            <a:ext cx="1748991" cy="214162"/>
          </a:xfrm>
          <a:prstGeom prst="rect">
            <a:avLst/>
          </a:prstGeom>
          <a:noFill/>
          <a:ln/>
        </p:spPr>
        <p:txBody>
          <a:bodyPr wrap="squar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Blend weight: </a:t>
            </a:r>
            <a:r>
              <a:rPr lang="en-US" sz="1000" b="1">
                <a:solidFill>
                  <a:srgbClr val="A855F7"/>
                </a:solidFill>
                <a:latin typeface="Calibri" pitchFamily="34" charset="0"/>
                <a:ea typeface="Calibri" pitchFamily="34" charset="-122"/>
                <a:cs typeface="Calibri" pitchFamily="34" charset="-120"/>
              </a:rPr>
              <a:t>21.7%</a:t>
            </a:r>
            <a:endParaRPr lang="en-US" sz="900"/>
          </a:p>
        </p:txBody>
      </p:sp>
      <p:sp>
        <p:nvSpPr>
          <p:cNvPr id="126" name="Shape 27">
            <a:extLst>
              <a:ext uri="{FF2B5EF4-FFF2-40B4-BE49-F238E27FC236}">
                <a16:creationId xmlns:a16="http://schemas.microsoft.com/office/drawing/2014/main" id="{6DAFA656-7CF8-2366-8D71-DFE7535F3FDE}"/>
              </a:ext>
            </a:extLst>
          </p:cNvPr>
          <p:cNvSpPr/>
          <p:nvPr/>
        </p:nvSpPr>
        <p:spPr>
          <a:xfrm>
            <a:off x="4405257" y="1798399"/>
            <a:ext cx="2034540" cy="2641333"/>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7" name="Shape 28">
            <a:extLst>
              <a:ext uri="{FF2B5EF4-FFF2-40B4-BE49-F238E27FC236}">
                <a16:creationId xmlns:a16="http://schemas.microsoft.com/office/drawing/2014/main" id="{262EBA18-4F40-63E0-1587-6603322DD41E}"/>
              </a:ext>
            </a:extLst>
          </p:cNvPr>
          <p:cNvSpPr/>
          <p:nvPr/>
        </p:nvSpPr>
        <p:spPr>
          <a:xfrm>
            <a:off x="4405257" y="1298687"/>
            <a:ext cx="2034540" cy="499712"/>
          </a:xfrm>
          <a:prstGeom prst="rect">
            <a:avLst/>
          </a:prstGeom>
          <a:solidFill>
            <a:srgbClr val="22C55E"/>
          </a:solidFill>
          <a:ln w="12700">
            <a:solidFill>
              <a:srgbClr val="22C55E"/>
            </a:solidFill>
            <a:prstDash val="solid"/>
          </a:ln>
        </p:spPr>
        <p:txBody>
          <a:bodyPr/>
          <a:lstStyle/>
          <a:p>
            <a:endParaRPr lang="en-US"/>
          </a:p>
        </p:txBody>
      </p:sp>
      <p:sp>
        <p:nvSpPr>
          <p:cNvPr id="128" name="Text 29">
            <a:extLst>
              <a:ext uri="{FF2B5EF4-FFF2-40B4-BE49-F238E27FC236}">
                <a16:creationId xmlns:a16="http://schemas.microsoft.com/office/drawing/2014/main" id="{E8C1C708-92FA-0CE3-39B2-0D3740548AF8}"/>
              </a:ext>
            </a:extLst>
          </p:cNvPr>
          <p:cNvSpPr/>
          <p:nvPr/>
        </p:nvSpPr>
        <p:spPr>
          <a:xfrm>
            <a:off x="4588137" y="1350021"/>
            <a:ext cx="1748991" cy="356937"/>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APT</a:t>
            </a:r>
            <a:endParaRPr lang="en-US" sz="2200"/>
          </a:p>
        </p:txBody>
      </p:sp>
      <p:sp>
        <p:nvSpPr>
          <p:cNvPr id="129" name="Text 30">
            <a:extLst>
              <a:ext uri="{FF2B5EF4-FFF2-40B4-BE49-F238E27FC236}">
                <a16:creationId xmlns:a16="http://schemas.microsoft.com/office/drawing/2014/main" id="{B654E614-AEB4-28B2-30DA-18DC57587859}"/>
              </a:ext>
            </a:extLst>
          </p:cNvPr>
          <p:cNvSpPr/>
          <p:nvPr/>
        </p:nvSpPr>
        <p:spPr>
          <a:xfrm>
            <a:off x="4588137" y="1350021"/>
            <a:ext cx="1748991" cy="356937"/>
          </a:xfrm>
          <a:prstGeom prst="rect">
            <a:avLst/>
          </a:prstGeom>
          <a:noFill/>
          <a:ln/>
        </p:spPr>
        <p:txBody>
          <a:bodyPr wrap="square" lIns="0" tIns="0" rIns="0" bIns="0" rtlCol="0" anchor="ctr"/>
          <a:lstStyle/>
          <a:p>
            <a:pPr marL="0" indent="0" algn="r">
              <a:buNone/>
            </a:pPr>
            <a:r>
              <a:rPr lang="en-US" sz="1000" b="1" kern="0" spc="200">
                <a:solidFill>
                  <a:srgbClr val="FFFFFF"/>
                </a:solidFill>
                <a:latin typeface="Calibri" pitchFamily="34" charset="0"/>
                <a:ea typeface="Calibri" pitchFamily="34" charset="-122"/>
                <a:cs typeface="Calibri" pitchFamily="34" charset="-120"/>
              </a:rPr>
              <a:t>1976</a:t>
            </a:r>
            <a:endParaRPr lang="en-US" sz="1000"/>
          </a:p>
        </p:txBody>
      </p:sp>
      <p:sp>
        <p:nvSpPr>
          <p:cNvPr id="130" name="Text 31">
            <a:extLst>
              <a:ext uri="{FF2B5EF4-FFF2-40B4-BE49-F238E27FC236}">
                <a16:creationId xmlns:a16="http://schemas.microsoft.com/office/drawing/2014/main" id="{47094D69-B661-22A8-2BB2-56C2B0DA4101}"/>
              </a:ext>
            </a:extLst>
          </p:cNvPr>
          <p:cNvSpPr/>
          <p:nvPr/>
        </p:nvSpPr>
        <p:spPr>
          <a:xfrm>
            <a:off x="4588137" y="1913903"/>
            <a:ext cx="1748991" cy="285550"/>
          </a:xfrm>
          <a:prstGeom prst="rect">
            <a:avLst/>
          </a:prstGeom>
          <a:noFill/>
          <a:ln/>
        </p:spPr>
        <p:txBody>
          <a:bodyPr wrap="square" lIns="0" tIns="0" rIns="0" bIns="0" rtlCol="0" anchor="ctr"/>
          <a:lstStyle/>
          <a:p>
            <a:pPr marL="0" indent="0">
              <a:buNone/>
            </a:pPr>
            <a:r>
              <a:rPr lang="en-US" sz="1200" b="1">
                <a:solidFill>
                  <a:srgbClr val="1E2761"/>
                </a:solidFill>
                <a:latin typeface="Calibri" pitchFamily="34" charset="0"/>
                <a:ea typeface="Calibri" pitchFamily="34" charset="-122"/>
                <a:cs typeface="Calibri" pitchFamily="34" charset="-120"/>
              </a:rPr>
              <a:t>Arbitrage Pricing Theory</a:t>
            </a:r>
            <a:endParaRPr lang="en-US" sz="1200"/>
          </a:p>
        </p:txBody>
      </p:sp>
      <p:sp>
        <p:nvSpPr>
          <p:cNvPr id="131" name="Text 32">
            <a:extLst>
              <a:ext uri="{FF2B5EF4-FFF2-40B4-BE49-F238E27FC236}">
                <a16:creationId xmlns:a16="http://schemas.microsoft.com/office/drawing/2014/main" id="{E944E474-7A90-44B9-DFDF-A5195C6B294F}"/>
              </a:ext>
            </a:extLst>
          </p:cNvPr>
          <p:cNvSpPr/>
          <p:nvPr/>
        </p:nvSpPr>
        <p:spPr>
          <a:xfrm>
            <a:off x="4588137" y="2386745"/>
            <a:ext cx="1748991" cy="178468"/>
          </a:xfrm>
          <a:prstGeom prst="rect">
            <a:avLst/>
          </a:prstGeom>
          <a:noFill/>
          <a:ln/>
        </p:spPr>
        <p:txBody>
          <a:bodyPr wrap="square" lIns="0" tIns="0" rIns="0" bIns="0" rtlCol="0" anchor="ctr"/>
          <a:lstStyle/>
          <a:p>
            <a:pPr marL="0" indent="0">
              <a:buNone/>
            </a:pPr>
            <a:r>
              <a:rPr lang="en-US" sz="900" b="1" kern="0" spc="300">
                <a:solidFill>
                  <a:srgbClr val="22C55E"/>
                </a:solidFill>
                <a:latin typeface="Calibri" pitchFamily="34" charset="0"/>
                <a:ea typeface="Calibri" pitchFamily="34" charset="-122"/>
                <a:cs typeface="Calibri" pitchFamily="34" charset="-120"/>
              </a:rPr>
              <a:t>HOW</a:t>
            </a:r>
            <a:endParaRPr lang="en-US" sz="900"/>
          </a:p>
        </p:txBody>
      </p:sp>
      <p:sp>
        <p:nvSpPr>
          <p:cNvPr id="132" name="Text 33">
            <a:extLst>
              <a:ext uri="{FF2B5EF4-FFF2-40B4-BE49-F238E27FC236}">
                <a16:creationId xmlns:a16="http://schemas.microsoft.com/office/drawing/2014/main" id="{DBB6D7DD-CCF5-2143-5C60-5801439193F8}"/>
              </a:ext>
            </a:extLst>
          </p:cNvPr>
          <p:cNvSpPr/>
          <p:nvPr/>
        </p:nvSpPr>
        <p:spPr>
          <a:xfrm>
            <a:off x="4588137" y="27055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PCA factor analysis with ridge regression</a:t>
            </a:r>
            <a:endParaRPr lang="en-US" sz="1100"/>
          </a:p>
        </p:txBody>
      </p:sp>
      <p:sp>
        <p:nvSpPr>
          <p:cNvPr id="133" name="Text 34">
            <a:extLst>
              <a:ext uri="{FF2B5EF4-FFF2-40B4-BE49-F238E27FC236}">
                <a16:creationId xmlns:a16="http://schemas.microsoft.com/office/drawing/2014/main" id="{5F413276-5533-C290-D166-5132595D48AA}"/>
              </a:ext>
            </a:extLst>
          </p:cNvPr>
          <p:cNvSpPr/>
          <p:nvPr/>
        </p:nvSpPr>
        <p:spPr>
          <a:xfrm>
            <a:off x="4588137" y="3301145"/>
            <a:ext cx="1748991" cy="178468"/>
          </a:xfrm>
          <a:prstGeom prst="rect">
            <a:avLst/>
          </a:prstGeom>
          <a:noFill/>
          <a:ln/>
        </p:spPr>
        <p:txBody>
          <a:bodyPr wrap="square" lIns="0" tIns="0" rIns="0" bIns="0" rtlCol="0" anchor="ctr"/>
          <a:lstStyle/>
          <a:p>
            <a:pPr marL="0" indent="0">
              <a:buNone/>
            </a:pPr>
            <a:r>
              <a:rPr lang="en-US" sz="900" b="1" kern="0" spc="300">
                <a:solidFill>
                  <a:srgbClr val="22C55E"/>
                </a:solidFill>
                <a:latin typeface="Calibri" pitchFamily="34" charset="0"/>
                <a:ea typeface="Calibri" pitchFamily="34" charset="-122"/>
                <a:cs typeface="Calibri" pitchFamily="34" charset="-120"/>
              </a:rPr>
              <a:t>STRENGTH</a:t>
            </a:r>
            <a:endParaRPr lang="en-US" sz="900"/>
          </a:p>
        </p:txBody>
      </p:sp>
      <p:sp>
        <p:nvSpPr>
          <p:cNvPr id="134" name="Text 35">
            <a:extLst>
              <a:ext uri="{FF2B5EF4-FFF2-40B4-BE49-F238E27FC236}">
                <a16:creationId xmlns:a16="http://schemas.microsoft.com/office/drawing/2014/main" id="{F38E649F-CCC6-18F6-3038-4333E80EBC0D}"/>
              </a:ext>
            </a:extLst>
          </p:cNvPr>
          <p:cNvSpPr/>
          <p:nvPr/>
        </p:nvSpPr>
        <p:spPr>
          <a:xfrm>
            <a:off x="4588137" y="36199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Captures multiple sources of co-movement</a:t>
            </a:r>
            <a:endParaRPr lang="en-US" sz="1100"/>
          </a:p>
        </p:txBody>
      </p:sp>
      <p:sp>
        <p:nvSpPr>
          <p:cNvPr id="135" name="Shape 36">
            <a:extLst>
              <a:ext uri="{FF2B5EF4-FFF2-40B4-BE49-F238E27FC236}">
                <a16:creationId xmlns:a16="http://schemas.microsoft.com/office/drawing/2014/main" id="{915565DC-E5E4-5C63-53AD-55BE29006AB1}"/>
              </a:ext>
            </a:extLst>
          </p:cNvPr>
          <p:cNvSpPr/>
          <p:nvPr/>
        </p:nvSpPr>
        <p:spPr>
          <a:xfrm>
            <a:off x="4588137" y="4134131"/>
            <a:ext cx="1748991" cy="214162"/>
          </a:xfrm>
          <a:prstGeom prst="rect">
            <a:avLst/>
          </a:prstGeom>
          <a:solidFill>
            <a:srgbClr val="F8F9FA"/>
          </a:solidFill>
          <a:ln w="12700">
            <a:solidFill>
              <a:srgbClr val="22C55E"/>
            </a:solidFill>
            <a:prstDash val="solid"/>
          </a:ln>
        </p:spPr>
        <p:txBody>
          <a:bodyPr/>
          <a:lstStyle/>
          <a:p>
            <a:endParaRPr lang="en-US"/>
          </a:p>
        </p:txBody>
      </p:sp>
      <p:sp>
        <p:nvSpPr>
          <p:cNvPr id="136" name="Text 37">
            <a:extLst>
              <a:ext uri="{FF2B5EF4-FFF2-40B4-BE49-F238E27FC236}">
                <a16:creationId xmlns:a16="http://schemas.microsoft.com/office/drawing/2014/main" id="{9D74E6EE-746B-C6F1-DCAD-9E141A50D37D}"/>
              </a:ext>
            </a:extLst>
          </p:cNvPr>
          <p:cNvSpPr/>
          <p:nvPr/>
        </p:nvSpPr>
        <p:spPr>
          <a:xfrm>
            <a:off x="4588137" y="4134131"/>
            <a:ext cx="1748991" cy="214162"/>
          </a:xfrm>
          <a:prstGeom prst="rect">
            <a:avLst/>
          </a:prstGeom>
          <a:noFill/>
          <a:ln/>
        </p:spPr>
        <p:txBody>
          <a:bodyPr wrap="squar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Blend weight: </a:t>
            </a:r>
            <a:r>
              <a:rPr lang="en-US" sz="1000" b="1">
                <a:solidFill>
                  <a:srgbClr val="22C55E"/>
                </a:solidFill>
                <a:latin typeface="Calibri" pitchFamily="34" charset="0"/>
                <a:ea typeface="Calibri" pitchFamily="34" charset="-122"/>
                <a:cs typeface="Calibri" pitchFamily="34" charset="-120"/>
              </a:rPr>
              <a:t>21.7%</a:t>
            </a:r>
            <a:endParaRPr lang="en-US" sz="900"/>
          </a:p>
        </p:txBody>
      </p:sp>
      <p:sp>
        <p:nvSpPr>
          <p:cNvPr id="137" name="Shape 38">
            <a:extLst>
              <a:ext uri="{FF2B5EF4-FFF2-40B4-BE49-F238E27FC236}">
                <a16:creationId xmlns:a16="http://schemas.microsoft.com/office/drawing/2014/main" id="{B29CC4C4-613B-4EF3-500F-B875216D9670}"/>
              </a:ext>
            </a:extLst>
          </p:cNvPr>
          <p:cNvSpPr/>
          <p:nvPr/>
        </p:nvSpPr>
        <p:spPr>
          <a:xfrm>
            <a:off x="6515940" y="1798399"/>
            <a:ext cx="2034540" cy="2641333"/>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38" name="Shape 39">
            <a:extLst>
              <a:ext uri="{FF2B5EF4-FFF2-40B4-BE49-F238E27FC236}">
                <a16:creationId xmlns:a16="http://schemas.microsoft.com/office/drawing/2014/main" id="{E116E4BD-A5ED-EAF8-EA6F-3EFFA04781E0}"/>
              </a:ext>
            </a:extLst>
          </p:cNvPr>
          <p:cNvSpPr/>
          <p:nvPr/>
        </p:nvSpPr>
        <p:spPr>
          <a:xfrm>
            <a:off x="6515940" y="1298687"/>
            <a:ext cx="2034540" cy="499712"/>
          </a:xfrm>
          <a:prstGeom prst="rect">
            <a:avLst/>
          </a:prstGeom>
          <a:solidFill>
            <a:srgbClr val="0EA5E9"/>
          </a:solidFill>
          <a:ln w="12700">
            <a:solidFill>
              <a:srgbClr val="0EA5E9"/>
            </a:solidFill>
            <a:prstDash val="solid"/>
          </a:ln>
        </p:spPr>
        <p:txBody>
          <a:bodyPr/>
          <a:lstStyle/>
          <a:p>
            <a:endParaRPr lang="en-US"/>
          </a:p>
        </p:txBody>
      </p:sp>
      <p:sp>
        <p:nvSpPr>
          <p:cNvPr id="139" name="Text 40">
            <a:extLst>
              <a:ext uri="{FF2B5EF4-FFF2-40B4-BE49-F238E27FC236}">
                <a16:creationId xmlns:a16="http://schemas.microsoft.com/office/drawing/2014/main" id="{D7342448-F2FD-C71C-2B1A-4E030B08F77A}"/>
              </a:ext>
            </a:extLst>
          </p:cNvPr>
          <p:cNvSpPr/>
          <p:nvPr/>
        </p:nvSpPr>
        <p:spPr>
          <a:xfrm>
            <a:off x="6698820" y="1350021"/>
            <a:ext cx="1748991" cy="356937"/>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ML</a:t>
            </a:r>
            <a:endParaRPr lang="en-US" sz="2200"/>
          </a:p>
        </p:txBody>
      </p:sp>
      <p:sp>
        <p:nvSpPr>
          <p:cNvPr id="140" name="Text 41">
            <a:extLst>
              <a:ext uri="{FF2B5EF4-FFF2-40B4-BE49-F238E27FC236}">
                <a16:creationId xmlns:a16="http://schemas.microsoft.com/office/drawing/2014/main" id="{7747FE87-E031-D784-087B-4B4D2307D5E2}"/>
              </a:ext>
            </a:extLst>
          </p:cNvPr>
          <p:cNvSpPr/>
          <p:nvPr/>
        </p:nvSpPr>
        <p:spPr>
          <a:xfrm>
            <a:off x="6698820" y="1350021"/>
            <a:ext cx="1748991" cy="356937"/>
          </a:xfrm>
          <a:prstGeom prst="rect">
            <a:avLst/>
          </a:prstGeom>
          <a:noFill/>
          <a:ln/>
        </p:spPr>
        <p:txBody>
          <a:bodyPr wrap="square" lIns="0" tIns="0" rIns="0" bIns="0" rtlCol="0" anchor="ctr"/>
          <a:lstStyle/>
          <a:p>
            <a:pPr marL="0" indent="0" algn="r">
              <a:buNone/>
            </a:pPr>
            <a:r>
              <a:rPr lang="en-US" sz="1000" b="1" kern="0" spc="200">
                <a:solidFill>
                  <a:srgbClr val="FFFFFF"/>
                </a:solidFill>
                <a:latin typeface="Calibri" pitchFamily="34" charset="0"/>
                <a:ea typeface="Calibri" pitchFamily="34" charset="-122"/>
                <a:cs typeface="Calibri" pitchFamily="34" charset="-120"/>
              </a:rPr>
              <a:t>Modern</a:t>
            </a:r>
            <a:endParaRPr lang="en-US" sz="1000"/>
          </a:p>
        </p:txBody>
      </p:sp>
      <p:sp>
        <p:nvSpPr>
          <p:cNvPr id="141" name="Text 42">
            <a:extLst>
              <a:ext uri="{FF2B5EF4-FFF2-40B4-BE49-F238E27FC236}">
                <a16:creationId xmlns:a16="http://schemas.microsoft.com/office/drawing/2014/main" id="{EA7C2EAA-D265-074C-A64F-282B3B55676A}"/>
              </a:ext>
            </a:extLst>
          </p:cNvPr>
          <p:cNvSpPr/>
          <p:nvPr/>
        </p:nvSpPr>
        <p:spPr>
          <a:xfrm>
            <a:off x="6698820" y="1913903"/>
            <a:ext cx="1748991" cy="285550"/>
          </a:xfrm>
          <a:prstGeom prst="rect">
            <a:avLst/>
          </a:prstGeom>
          <a:noFill/>
          <a:ln/>
        </p:spPr>
        <p:txBody>
          <a:bodyPr wrap="square" lIns="0" tIns="0" rIns="0" bIns="0" rtlCol="0" anchor="ctr"/>
          <a:lstStyle/>
          <a:p>
            <a:pPr marL="0" indent="0">
              <a:buNone/>
            </a:pPr>
            <a:r>
              <a:rPr lang="en-US" sz="1200" b="1">
                <a:solidFill>
                  <a:srgbClr val="1E2761"/>
                </a:solidFill>
                <a:latin typeface="Calibri" pitchFamily="34" charset="0"/>
                <a:ea typeface="Calibri" pitchFamily="34" charset="-122"/>
                <a:cs typeface="Calibri" pitchFamily="34" charset="-120"/>
              </a:rPr>
              <a:t>Machine Learning</a:t>
            </a:r>
            <a:endParaRPr lang="en-US" sz="1200"/>
          </a:p>
        </p:txBody>
      </p:sp>
      <p:sp>
        <p:nvSpPr>
          <p:cNvPr id="142" name="Text 43">
            <a:extLst>
              <a:ext uri="{FF2B5EF4-FFF2-40B4-BE49-F238E27FC236}">
                <a16:creationId xmlns:a16="http://schemas.microsoft.com/office/drawing/2014/main" id="{039A2E9B-5336-082B-1275-A71A810985B5}"/>
              </a:ext>
            </a:extLst>
          </p:cNvPr>
          <p:cNvSpPr/>
          <p:nvPr/>
        </p:nvSpPr>
        <p:spPr>
          <a:xfrm>
            <a:off x="6698820" y="2386745"/>
            <a:ext cx="1748991" cy="178468"/>
          </a:xfrm>
          <a:prstGeom prst="rect">
            <a:avLst/>
          </a:prstGeom>
          <a:noFill/>
          <a:ln/>
        </p:spPr>
        <p:txBody>
          <a:bodyPr wrap="square" lIns="0" tIns="0" rIns="0" bIns="0" rtlCol="0" anchor="ctr"/>
          <a:lstStyle/>
          <a:p>
            <a:pPr marL="0" indent="0">
              <a:buNone/>
            </a:pPr>
            <a:r>
              <a:rPr lang="en-US" sz="900" b="1" kern="0" spc="300">
                <a:solidFill>
                  <a:srgbClr val="0EA5E9"/>
                </a:solidFill>
                <a:latin typeface="Calibri" pitchFamily="34" charset="0"/>
                <a:ea typeface="Calibri" pitchFamily="34" charset="-122"/>
                <a:cs typeface="Calibri" pitchFamily="34" charset="-120"/>
              </a:rPr>
              <a:t>HOW</a:t>
            </a:r>
            <a:endParaRPr lang="en-US" sz="900"/>
          </a:p>
        </p:txBody>
      </p:sp>
      <p:sp>
        <p:nvSpPr>
          <p:cNvPr id="143" name="Text 44">
            <a:extLst>
              <a:ext uri="{FF2B5EF4-FFF2-40B4-BE49-F238E27FC236}">
                <a16:creationId xmlns:a16="http://schemas.microsoft.com/office/drawing/2014/main" id="{67416A1D-0D5A-AC39-8C41-2884B6B28964}"/>
              </a:ext>
            </a:extLst>
          </p:cNvPr>
          <p:cNvSpPr/>
          <p:nvPr/>
        </p:nvSpPr>
        <p:spPr>
          <a:xfrm>
            <a:off x="6698820" y="27055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Ridge regression with TimeSeriesSplit CV</a:t>
            </a:r>
            <a:endParaRPr lang="en-US" sz="1100"/>
          </a:p>
        </p:txBody>
      </p:sp>
      <p:sp>
        <p:nvSpPr>
          <p:cNvPr id="144" name="Text 45">
            <a:extLst>
              <a:ext uri="{FF2B5EF4-FFF2-40B4-BE49-F238E27FC236}">
                <a16:creationId xmlns:a16="http://schemas.microsoft.com/office/drawing/2014/main" id="{D5A1D6F2-4B90-8177-5A46-0704AC1A284E}"/>
              </a:ext>
            </a:extLst>
          </p:cNvPr>
          <p:cNvSpPr/>
          <p:nvPr/>
        </p:nvSpPr>
        <p:spPr>
          <a:xfrm>
            <a:off x="6698820" y="3301145"/>
            <a:ext cx="1748991" cy="178468"/>
          </a:xfrm>
          <a:prstGeom prst="rect">
            <a:avLst/>
          </a:prstGeom>
          <a:noFill/>
          <a:ln/>
        </p:spPr>
        <p:txBody>
          <a:bodyPr wrap="square" lIns="0" tIns="0" rIns="0" bIns="0" rtlCol="0" anchor="ctr"/>
          <a:lstStyle/>
          <a:p>
            <a:pPr marL="0" indent="0">
              <a:buNone/>
            </a:pPr>
            <a:r>
              <a:rPr lang="en-US" sz="900" b="1" kern="0" spc="300">
                <a:solidFill>
                  <a:srgbClr val="0EA5E9"/>
                </a:solidFill>
                <a:latin typeface="Calibri" pitchFamily="34" charset="0"/>
                <a:ea typeface="Calibri" pitchFamily="34" charset="-122"/>
                <a:cs typeface="Calibri" pitchFamily="34" charset="-120"/>
              </a:rPr>
              <a:t>STRENGTH</a:t>
            </a:r>
            <a:endParaRPr lang="en-US" sz="900"/>
          </a:p>
        </p:txBody>
      </p:sp>
      <p:sp>
        <p:nvSpPr>
          <p:cNvPr id="145" name="Text 46">
            <a:extLst>
              <a:ext uri="{FF2B5EF4-FFF2-40B4-BE49-F238E27FC236}">
                <a16:creationId xmlns:a16="http://schemas.microsoft.com/office/drawing/2014/main" id="{2E644724-2DF7-EF87-D6B4-E1C72DA7C1CB}"/>
              </a:ext>
            </a:extLst>
          </p:cNvPr>
          <p:cNvSpPr/>
          <p:nvPr/>
        </p:nvSpPr>
        <p:spPr>
          <a:xfrm>
            <a:off x="6698820" y="3619981"/>
            <a:ext cx="1748991" cy="499712"/>
          </a:xfrm>
          <a:prstGeom prst="rect">
            <a:avLst/>
          </a:prstGeom>
          <a:noFill/>
          <a:ln/>
        </p:spPr>
        <p:txBody>
          <a:bodyPr wrap="square" lIns="0" tIns="0" rIns="0" bIns="0" rtlCol="0" anchor="ctr"/>
          <a:lstStyle/>
          <a:p>
            <a:pPr marL="0" indent="0">
              <a:buNone/>
            </a:pPr>
            <a:r>
              <a:rPr lang="en-US" sz="1100">
                <a:solidFill>
                  <a:srgbClr val="1A202C"/>
                </a:solidFill>
                <a:latin typeface="Calibri" pitchFamily="34" charset="0"/>
                <a:ea typeface="Calibri" pitchFamily="34" charset="-122"/>
                <a:cs typeface="Calibri" pitchFamily="34" charset="-120"/>
              </a:rPr>
              <a:t>Adapts to short-term patterns</a:t>
            </a:r>
            <a:endParaRPr lang="en-US" sz="1100"/>
          </a:p>
        </p:txBody>
      </p:sp>
      <p:sp>
        <p:nvSpPr>
          <p:cNvPr id="146" name="Shape 47">
            <a:extLst>
              <a:ext uri="{FF2B5EF4-FFF2-40B4-BE49-F238E27FC236}">
                <a16:creationId xmlns:a16="http://schemas.microsoft.com/office/drawing/2014/main" id="{BECA3851-ED52-F7DD-6CA4-4B3B9628737F}"/>
              </a:ext>
            </a:extLst>
          </p:cNvPr>
          <p:cNvSpPr/>
          <p:nvPr/>
        </p:nvSpPr>
        <p:spPr>
          <a:xfrm>
            <a:off x="6698820" y="4134131"/>
            <a:ext cx="1748991" cy="214162"/>
          </a:xfrm>
          <a:prstGeom prst="rect">
            <a:avLst/>
          </a:prstGeom>
          <a:solidFill>
            <a:srgbClr val="F8F9FA"/>
          </a:solidFill>
          <a:ln w="12700">
            <a:solidFill>
              <a:srgbClr val="0EA5E9"/>
            </a:solidFill>
            <a:prstDash val="solid"/>
          </a:ln>
        </p:spPr>
        <p:txBody>
          <a:bodyPr/>
          <a:lstStyle/>
          <a:p>
            <a:endParaRPr lang="en-US"/>
          </a:p>
        </p:txBody>
      </p:sp>
      <p:sp>
        <p:nvSpPr>
          <p:cNvPr id="147" name="Text 48">
            <a:extLst>
              <a:ext uri="{FF2B5EF4-FFF2-40B4-BE49-F238E27FC236}">
                <a16:creationId xmlns:a16="http://schemas.microsoft.com/office/drawing/2014/main" id="{E85AECF2-9B4C-FFDD-9249-19E42CA2DA04}"/>
              </a:ext>
            </a:extLst>
          </p:cNvPr>
          <p:cNvSpPr/>
          <p:nvPr/>
        </p:nvSpPr>
        <p:spPr>
          <a:xfrm>
            <a:off x="6698820" y="4134131"/>
            <a:ext cx="1748991" cy="214162"/>
          </a:xfrm>
          <a:prstGeom prst="rect">
            <a:avLst/>
          </a:prstGeom>
          <a:noFill/>
          <a:ln/>
        </p:spPr>
        <p:txBody>
          <a:bodyPr wrap="square" lIns="0" tIns="0" rIns="0" bIns="0" rtlCol="0" anchor="ctr"/>
          <a:lstStyle/>
          <a:p>
            <a:pPr marL="0" indent="0" algn="ctr">
              <a:buNone/>
            </a:pPr>
            <a:r>
              <a:rPr lang="en-US" sz="900">
                <a:solidFill>
                  <a:srgbClr val="64748B"/>
                </a:solidFill>
                <a:latin typeface="Calibri" pitchFamily="34" charset="0"/>
                <a:ea typeface="Calibri" pitchFamily="34" charset="-122"/>
                <a:cs typeface="Calibri" pitchFamily="34" charset="-120"/>
              </a:rPr>
              <a:t>Blend weight: </a:t>
            </a:r>
            <a:r>
              <a:rPr lang="en-US" sz="1000" b="1">
                <a:solidFill>
                  <a:srgbClr val="0EA5E9"/>
                </a:solidFill>
                <a:latin typeface="Calibri" pitchFamily="34" charset="0"/>
                <a:ea typeface="Calibri" pitchFamily="34" charset="-122"/>
                <a:cs typeface="Calibri" pitchFamily="34" charset="-120"/>
              </a:rPr>
              <a:t>35.0%</a:t>
            </a:r>
            <a:endParaRPr lang="en-US" sz="900"/>
          </a:p>
        </p:txBody>
      </p:sp>
      <p:sp>
        <p:nvSpPr>
          <p:cNvPr id="148" name="Shape 49">
            <a:extLst>
              <a:ext uri="{FF2B5EF4-FFF2-40B4-BE49-F238E27FC236}">
                <a16:creationId xmlns:a16="http://schemas.microsoft.com/office/drawing/2014/main" id="{24DD221F-6ADF-71F8-139C-924D096F6E5D}"/>
              </a:ext>
            </a:extLst>
          </p:cNvPr>
          <p:cNvSpPr/>
          <p:nvPr/>
        </p:nvSpPr>
        <p:spPr>
          <a:xfrm>
            <a:off x="183233" y="4606634"/>
            <a:ext cx="8367247" cy="301752"/>
          </a:xfrm>
          <a:prstGeom prst="rect">
            <a:avLst/>
          </a:prstGeom>
          <a:solidFill>
            <a:srgbClr val="1E2761"/>
          </a:solidFill>
          <a:ln w="12700">
            <a:solidFill>
              <a:srgbClr val="0EA5E9"/>
            </a:solidFill>
            <a:prstDash val="solid"/>
          </a:ln>
        </p:spPr>
        <p:txBody>
          <a:bodyPr/>
          <a:lstStyle/>
          <a:p>
            <a:endParaRPr lang="en-US"/>
          </a:p>
        </p:txBody>
      </p:sp>
      <p:sp>
        <p:nvSpPr>
          <p:cNvPr id="149" name="Text 50">
            <a:extLst>
              <a:ext uri="{FF2B5EF4-FFF2-40B4-BE49-F238E27FC236}">
                <a16:creationId xmlns:a16="http://schemas.microsoft.com/office/drawing/2014/main" id="{DB531A04-8452-6319-B3FC-3BAAF2D67B66}"/>
              </a:ext>
            </a:extLst>
          </p:cNvPr>
          <p:cNvSpPr/>
          <p:nvPr/>
        </p:nvSpPr>
        <p:spPr>
          <a:xfrm>
            <a:off x="366113" y="4624922"/>
            <a:ext cx="8085995" cy="274320"/>
          </a:xfrm>
          <a:prstGeom prst="rect">
            <a:avLst/>
          </a:prstGeom>
          <a:noFill/>
          <a:ln/>
        </p:spPr>
        <p:txBody>
          <a:bodyPr wrap="square" lIns="0" tIns="0" rIns="0" bIns="0" rtlCol="0" anchor="ctr"/>
          <a:lstStyle/>
          <a:p>
            <a:pPr marL="0" indent="0">
              <a:buNone/>
            </a:pPr>
            <a:r>
              <a:rPr lang="en-US" sz="1200" b="1" kern="0" spc="200" err="1">
                <a:solidFill>
                  <a:srgbClr val="0EA5E9"/>
                </a:solidFill>
                <a:latin typeface="Calibri" pitchFamily="34" charset="0"/>
                <a:ea typeface="Calibri" pitchFamily="34" charset="-122"/>
                <a:cs typeface="Calibri" pitchFamily="34" charset="-120"/>
              </a:rPr>
              <a:t>Optimiser</a:t>
            </a:r>
            <a:r>
              <a:rPr lang="en-US" sz="1200" b="1" kern="0" spc="200">
                <a:solidFill>
                  <a:srgbClr val="0EA5E9"/>
                </a:solidFill>
                <a:latin typeface="Calibri" pitchFamily="34" charset="0"/>
                <a:ea typeface="Calibri" pitchFamily="34" charset="-122"/>
                <a:cs typeface="Calibri" pitchFamily="34" charset="-120"/>
              </a:rPr>
              <a:t>:</a:t>
            </a:r>
            <a:r>
              <a:rPr lang="en-US" sz="1200" b="1" kern="0" spc="200">
                <a:solidFill>
                  <a:srgbClr val="F59E0B"/>
                </a:solidFill>
                <a:latin typeface="Calibri" pitchFamily="34" charset="0"/>
                <a:ea typeface="Calibri" pitchFamily="34" charset="-122"/>
                <a:cs typeface="Calibri" pitchFamily="34" charset="-120"/>
              </a:rPr>
              <a:t>  </a:t>
            </a:r>
            <a:r>
              <a:rPr lang="en-US" sz="1200" i="1" err="1">
                <a:solidFill>
                  <a:srgbClr val="FFFFFF"/>
                </a:solidFill>
                <a:latin typeface="Calibri" pitchFamily="34" charset="0"/>
                <a:ea typeface="Calibri" pitchFamily="34" charset="-122"/>
                <a:cs typeface="Calibri" pitchFamily="34" charset="-120"/>
              </a:rPr>
              <a:t>scipy.optimize.minimize</a:t>
            </a:r>
            <a:r>
              <a:rPr lang="en-US" sz="1200" i="1">
                <a:solidFill>
                  <a:srgbClr val="FFFFFF"/>
                </a:solidFill>
                <a:latin typeface="Calibri" pitchFamily="34" charset="0"/>
                <a:ea typeface="Calibri" pitchFamily="34" charset="-122"/>
                <a:cs typeface="Calibri" pitchFamily="34" charset="-120"/>
              </a:rPr>
              <a:t> (SLSQP) </a:t>
            </a:r>
            <a:r>
              <a:rPr lang="en-US" sz="1200" i="1" err="1">
                <a:solidFill>
                  <a:srgbClr val="FFFFFF"/>
                </a:solidFill>
                <a:latin typeface="Calibri" pitchFamily="34" charset="0"/>
                <a:ea typeface="Calibri" pitchFamily="34" charset="-122"/>
                <a:cs typeface="Calibri" pitchFamily="34" charset="-120"/>
              </a:rPr>
              <a:t>maximises</a:t>
            </a:r>
            <a:r>
              <a:rPr lang="en-US" sz="1200" i="1">
                <a:solidFill>
                  <a:srgbClr val="FFFFFF"/>
                </a:solidFill>
                <a:latin typeface="Calibri" pitchFamily="34" charset="0"/>
                <a:ea typeface="Calibri" pitchFamily="34" charset="-122"/>
                <a:cs typeface="Calibri" pitchFamily="34" charset="-120"/>
              </a:rPr>
              <a:t> the Sharpe ratio subject to weight constraints (max 20% per asset).</a:t>
            </a:r>
            <a:endParaRPr lang="en-US" sz="1200"/>
          </a:p>
        </p:txBody>
      </p:sp>
      <p:sp>
        <p:nvSpPr>
          <p:cNvPr id="150" name="Text 51">
            <a:extLst>
              <a:ext uri="{FF2B5EF4-FFF2-40B4-BE49-F238E27FC236}">
                <a16:creationId xmlns:a16="http://schemas.microsoft.com/office/drawing/2014/main" id="{446BFE8E-88D4-89B2-8EB4-36055FD93370}"/>
              </a:ext>
            </a:extLst>
          </p:cNvPr>
          <p:cNvSpPr/>
          <p:nvPr/>
        </p:nvSpPr>
        <p:spPr>
          <a:xfrm>
            <a:off x="30776" y="10112401"/>
            <a:ext cx="4572000" cy="274320"/>
          </a:xfrm>
          <a:prstGeom prst="rect">
            <a:avLst/>
          </a:prstGeom>
          <a:noFill/>
          <a:ln/>
        </p:spPr>
        <p:txBody>
          <a:bodyPr wrap="square" rtlCol="0" anchor="ctr"/>
          <a:lstStyle/>
          <a:p>
            <a:pPr marL="0" indent="0">
              <a:buNone/>
            </a:pPr>
            <a:r>
              <a:rPr lang="en-US" sz="900">
                <a:solidFill>
                  <a:srgbClr val="64748B"/>
                </a:solidFill>
                <a:latin typeface="Calibri" pitchFamily="34" charset="0"/>
                <a:ea typeface="Calibri" pitchFamily="34" charset="-122"/>
                <a:cs typeface="Calibri" pitchFamily="34" charset="-120"/>
              </a:rPr>
              <a:t>Team 3 — IGP Sept 2025</a:t>
            </a:r>
            <a:endParaRPr lang="en-US" sz="900"/>
          </a:p>
        </p:txBody>
      </p:sp>
      <p:sp>
        <p:nvSpPr>
          <p:cNvPr id="151" name="Text 52">
            <a:extLst>
              <a:ext uri="{FF2B5EF4-FFF2-40B4-BE49-F238E27FC236}">
                <a16:creationId xmlns:a16="http://schemas.microsoft.com/office/drawing/2014/main" id="{AAB4F981-C5EC-9C17-EDEA-FAC18F2D8ED8}"/>
              </a:ext>
            </a:extLst>
          </p:cNvPr>
          <p:cNvSpPr/>
          <p:nvPr/>
        </p:nvSpPr>
        <p:spPr>
          <a:xfrm>
            <a:off x="10363496" y="10112401"/>
            <a:ext cx="6400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12 / 18</a:t>
            </a:r>
            <a:endParaRPr lang="en-US" sz="900"/>
          </a:p>
        </p:txBody>
      </p:sp>
    </p:spTree>
    <p:extLst>
      <p:ext uri="{BB962C8B-B14F-4D97-AF65-F5344CB8AC3E}">
        <p14:creationId xmlns:p14="http://schemas.microsoft.com/office/powerpoint/2010/main" val="385214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A41ED-846D-6C21-9DFF-EB15152DB8CA}"/>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B4BC910F-1C6F-24B0-87F4-A35D66612EF7}"/>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988AA37A-C818-9A6B-404E-D90DA6B19D63}"/>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6" name="Text 2">
            <a:extLst>
              <a:ext uri="{FF2B5EF4-FFF2-40B4-BE49-F238E27FC236}">
                <a16:creationId xmlns:a16="http://schemas.microsoft.com/office/drawing/2014/main" id="{82D7AECC-3D2E-9CCD-3D70-BF1EC1DC2C93}"/>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Academic Foundations of the Model</a:t>
            </a:r>
            <a:endParaRPr lang="en-US" sz="3000"/>
          </a:p>
        </p:txBody>
      </p:sp>
      <p:sp>
        <p:nvSpPr>
          <p:cNvPr id="7" name="Shape 3">
            <a:extLst>
              <a:ext uri="{FF2B5EF4-FFF2-40B4-BE49-F238E27FC236}">
                <a16:creationId xmlns:a16="http://schemas.microsoft.com/office/drawing/2014/main" id="{92203BEF-BA12-D061-76D8-FA851A73E1FF}"/>
              </a:ext>
            </a:extLst>
          </p:cNvPr>
          <p:cNvSpPr/>
          <p:nvPr/>
        </p:nvSpPr>
        <p:spPr>
          <a:xfrm>
            <a:off x="1640335" y="816662"/>
            <a:ext cx="548640" cy="45720"/>
          </a:xfrm>
          <a:prstGeom prst="rect">
            <a:avLst/>
          </a:prstGeom>
          <a:solidFill>
            <a:srgbClr val="A855F7"/>
          </a:solidFill>
          <a:ln w="12700">
            <a:solidFill>
              <a:srgbClr val="A855F7"/>
            </a:solidFill>
            <a:prstDash val="solid"/>
          </a:ln>
        </p:spPr>
        <p:txBody>
          <a:bodyPr/>
          <a:lstStyle/>
          <a:p>
            <a:endParaRPr lang="en-GB" noProof="0"/>
          </a:p>
        </p:txBody>
      </p:sp>
      <p:sp>
        <p:nvSpPr>
          <p:cNvPr id="8" name="Shape 0">
            <a:extLst>
              <a:ext uri="{FF2B5EF4-FFF2-40B4-BE49-F238E27FC236}">
                <a16:creationId xmlns:a16="http://schemas.microsoft.com/office/drawing/2014/main" id="{F80B7D0A-BA56-1A46-D139-7FACFE004EF3}"/>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sp>
        <p:nvSpPr>
          <p:cNvPr id="11" name="Text 4">
            <a:extLst>
              <a:ext uri="{FF2B5EF4-FFF2-40B4-BE49-F238E27FC236}">
                <a16:creationId xmlns:a16="http://schemas.microsoft.com/office/drawing/2014/main" id="{CA4A4CCA-DC55-A1C1-83DD-94411A530012}"/>
              </a:ext>
            </a:extLst>
          </p:cNvPr>
          <p:cNvSpPr/>
          <p:nvPr/>
        </p:nvSpPr>
        <p:spPr>
          <a:xfrm>
            <a:off x="366113" y="1090982"/>
            <a:ext cx="10972800" cy="365760"/>
          </a:xfrm>
          <a:prstGeom prst="rect">
            <a:avLst/>
          </a:prstGeom>
          <a:noFill/>
          <a:ln/>
        </p:spPr>
        <p:txBody>
          <a:bodyPr wrap="square" lIns="0" tIns="0" rIns="0" bIns="0" rtlCol="0" anchor="ctr"/>
          <a:lstStyle/>
          <a:p>
            <a:pPr marL="0" indent="0">
              <a:buNone/>
            </a:pPr>
            <a:r>
              <a:rPr lang="en-US" sz="1200" b="1" kern="0" spc="400">
                <a:solidFill>
                  <a:srgbClr val="A855F7"/>
                </a:solidFill>
                <a:latin typeface="Calibri" pitchFamily="34" charset="0"/>
                <a:ea typeface="Calibri" pitchFamily="34" charset="-122"/>
                <a:cs typeface="Calibri" pitchFamily="34" charset="-120"/>
              </a:rPr>
              <a:t>OUR MODEL DRAWS ON 70+ YEARS OF PORTFOLIO THEORY</a:t>
            </a:r>
            <a:endParaRPr lang="en-US" sz="1200"/>
          </a:p>
        </p:txBody>
      </p:sp>
      <p:sp>
        <p:nvSpPr>
          <p:cNvPr id="12" name="Shape 5">
            <a:extLst>
              <a:ext uri="{FF2B5EF4-FFF2-40B4-BE49-F238E27FC236}">
                <a16:creationId xmlns:a16="http://schemas.microsoft.com/office/drawing/2014/main" id="{3D3FF816-4525-5263-EEB7-9E0B9276DE2C}"/>
              </a:ext>
            </a:extLst>
          </p:cNvPr>
          <p:cNvSpPr/>
          <p:nvPr/>
        </p:nvSpPr>
        <p:spPr>
          <a:xfrm>
            <a:off x="183234" y="2554011"/>
            <a:ext cx="7699126" cy="45719"/>
          </a:xfrm>
          <a:prstGeom prst="rect">
            <a:avLst/>
          </a:prstGeom>
          <a:solidFill>
            <a:srgbClr val="A855F7"/>
          </a:solidFill>
          <a:ln w="12700">
            <a:solidFill>
              <a:srgbClr val="A855F7"/>
            </a:solidFill>
            <a:prstDash val="solid"/>
          </a:ln>
        </p:spPr>
        <p:txBody>
          <a:bodyPr/>
          <a:lstStyle/>
          <a:p>
            <a:endParaRPr lang="en-US"/>
          </a:p>
        </p:txBody>
      </p:sp>
      <p:sp>
        <p:nvSpPr>
          <p:cNvPr id="13" name="Shape 6">
            <a:extLst>
              <a:ext uri="{FF2B5EF4-FFF2-40B4-BE49-F238E27FC236}">
                <a16:creationId xmlns:a16="http://schemas.microsoft.com/office/drawing/2014/main" id="{4D5A6279-54C1-51A5-6AD3-50B62078D74B}"/>
              </a:ext>
            </a:extLst>
          </p:cNvPr>
          <p:cNvSpPr/>
          <p:nvPr/>
        </p:nvSpPr>
        <p:spPr>
          <a:xfrm>
            <a:off x="914463" y="2497647"/>
            <a:ext cx="183487" cy="183487"/>
          </a:xfrm>
          <a:prstGeom prst="ellipse">
            <a:avLst/>
          </a:prstGeom>
          <a:solidFill>
            <a:srgbClr val="F59E0B"/>
          </a:solidFill>
          <a:ln w="25400">
            <a:solidFill>
              <a:srgbClr val="A855F7"/>
            </a:solidFill>
            <a:prstDash val="solid"/>
          </a:ln>
        </p:spPr>
        <p:txBody>
          <a:bodyPr/>
          <a:lstStyle/>
          <a:p>
            <a:endParaRPr lang="en-US"/>
          </a:p>
        </p:txBody>
      </p:sp>
      <p:sp>
        <p:nvSpPr>
          <p:cNvPr id="14" name="Text 7">
            <a:extLst>
              <a:ext uri="{FF2B5EF4-FFF2-40B4-BE49-F238E27FC236}">
                <a16:creationId xmlns:a16="http://schemas.microsoft.com/office/drawing/2014/main" id="{D4AC809C-6251-8F2D-F994-71B428320D31}"/>
              </a:ext>
            </a:extLst>
          </p:cNvPr>
          <p:cNvSpPr/>
          <p:nvPr/>
        </p:nvSpPr>
        <p:spPr>
          <a:xfrm>
            <a:off x="272261" y="1643803"/>
            <a:ext cx="1467893" cy="305811"/>
          </a:xfrm>
          <a:prstGeom prst="rect">
            <a:avLst/>
          </a:prstGeom>
          <a:noFill/>
          <a:ln/>
        </p:spPr>
        <p:txBody>
          <a:bodyPr wrap="square" lIns="0" tIns="0" rIns="0" bIns="0" rtlCol="0" anchor="ctr"/>
          <a:lstStyle/>
          <a:p>
            <a:pPr marL="0" indent="0" algn="ctr">
              <a:buNone/>
            </a:pPr>
            <a:r>
              <a:rPr lang="en-US" sz="2200" b="1">
                <a:solidFill>
                  <a:srgbClr val="1E2761"/>
                </a:solidFill>
                <a:latin typeface="Calibri" pitchFamily="34" charset="0"/>
                <a:ea typeface="Calibri" pitchFamily="34" charset="-122"/>
                <a:cs typeface="Calibri" pitchFamily="34" charset="-120"/>
              </a:rPr>
              <a:t>1952</a:t>
            </a:r>
            <a:endParaRPr lang="en-US" sz="2200"/>
          </a:p>
        </p:txBody>
      </p:sp>
      <p:sp>
        <p:nvSpPr>
          <p:cNvPr id="40" name="Text 8">
            <a:extLst>
              <a:ext uri="{FF2B5EF4-FFF2-40B4-BE49-F238E27FC236}">
                <a16:creationId xmlns:a16="http://schemas.microsoft.com/office/drawing/2014/main" id="{5C59D2F4-E60B-EA7D-2A09-2A4F1C6D69C4}"/>
              </a:ext>
            </a:extLst>
          </p:cNvPr>
          <p:cNvSpPr/>
          <p:nvPr/>
        </p:nvSpPr>
        <p:spPr>
          <a:xfrm>
            <a:off x="257213" y="2070725"/>
            <a:ext cx="1467894" cy="244649"/>
          </a:xfrm>
          <a:prstGeom prst="rect">
            <a:avLst/>
          </a:prstGeom>
          <a:noFill/>
          <a:ln/>
        </p:spPr>
        <p:txBody>
          <a:bodyPr wrap="square" lIns="0" tIns="0" rIns="0" bIns="0" rtlCol="0" anchor="ctr"/>
          <a:lstStyle/>
          <a:p>
            <a:pPr marL="0" indent="0" algn="ctr">
              <a:buNone/>
            </a:pPr>
            <a:r>
              <a:rPr lang="en-US" sz="1100" b="1" kern="0" spc="200">
                <a:solidFill>
                  <a:srgbClr val="A855F7"/>
                </a:solidFill>
                <a:latin typeface="Calibri" pitchFamily="34" charset="0"/>
                <a:ea typeface="Calibri" pitchFamily="34" charset="-122"/>
                <a:cs typeface="Calibri" pitchFamily="34" charset="-120"/>
              </a:rPr>
              <a:t>Markowitz</a:t>
            </a:r>
            <a:endParaRPr lang="en-US" sz="1100"/>
          </a:p>
        </p:txBody>
      </p:sp>
      <p:sp>
        <p:nvSpPr>
          <p:cNvPr id="41" name="Text 9">
            <a:extLst>
              <a:ext uri="{FF2B5EF4-FFF2-40B4-BE49-F238E27FC236}">
                <a16:creationId xmlns:a16="http://schemas.microsoft.com/office/drawing/2014/main" id="{1A4E0224-29B4-57FC-2D6F-0F6DFF6894FE}"/>
              </a:ext>
            </a:extLst>
          </p:cNvPr>
          <p:cNvSpPr/>
          <p:nvPr/>
        </p:nvSpPr>
        <p:spPr>
          <a:xfrm>
            <a:off x="183233" y="2893977"/>
            <a:ext cx="1467893" cy="305811"/>
          </a:xfrm>
          <a:prstGeom prst="rect">
            <a:avLst/>
          </a:prstGeom>
          <a:noFill/>
          <a:ln/>
        </p:spPr>
        <p:txBody>
          <a:bodyPr wrap="square" lIns="0" tIns="0" rIns="0" bIns="0" rtlCol="0" anchor="ctr"/>
          <a:lstStyle/>
          <a:p>
            <a:pPr marL="0" indent="0" algn="ctr">
              <a:buNone/>
            </a:pPr>
            <a:r>
              <a:rPr lang="en-US" sz="1400" b="1">
                <a:solidFill>
                  <a:srgbClr val="1E2761"/>
                </a:solidFill>
                <a:latin typeface="Calibri" pitchFamily="34" charset="0"/>
                <a:ea typeface="Calibri" pitchFamily="34" charset="-122"/>
                <a:cs typeface="Calibri" pitchFamily="34" charset="-120"/>
              </a:rPr>
              <a:t>Modern Portfolio Theory</a:t>
            </a:r>
            <a:endParaRPr lang="en-US" sz="1400"/>
          </a:p>
        </p:txBody>
      </p:sp>
      <p:sp>
        <p:nvSpPr>
          <p:cNvPr id="42" name="Text 10">
            <a:extLst>
              <a:ext uri="{FF2B5EF4-FFF2-40B4-BE49-F238E27FC236}">
                <a16:creationId xmlns:a16="http://schemas.microsoft.com/office/drawing/2014/main" id="{E643B408-91C1-6AFC-012B-6A586AD16BA3}"/>
              </a:ext>
            </a:extLst>
          </p:cNvPr>
          <p:cNvSpPr/>
          <p:nvPr/>
        </p:nvSpPr>
        <p:spPr>
          <a:xfrm>
            <a:off x="368144" y="2955443"/>
            <a:ext cx="1282055" cy="1463040"/>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Formalised diversification through mean-variance optimisation. Nobel Prize 1990.</a:t>
            </a:r>
            <a:endParaRPr lang="en-US" sz="1000"/>
          </a:p>
        </p:txBody>
      </p:sp>
      <p:sp>
        <p:nvSpPr>
          <p:cNvPr id="43" name="Shape 11">
            <a:extLst>
              <a:ext uri="{FF2B5EF4-FFF2-40B4-BE49-F238E27FC236}">
                <a16:creationId xmlns:a16="http://schemas.microsoft.com/office/drawing/2014/main" id="{92F61089-4845-EC5B-6DD6-A0D5EA6756F6}"/>
              </a:ext>
            </a:extLst>
          </p:cNvPr>
          <p:cNvSpPr/>
          <p:nvPr/>
        </p:nvSpPr>
        <p:spPr>
          <a:xfrm>
            <a:off x="2804243" y="2497647"/>
            <a:ext cx="183487" cy="183487"/>
          </a:xfrm>
          <a:prstGeom prst="ellipse">
            <a:avLst/>
          </a:prstGeom>
          <a:solidFill>
            <a:srgbClr val="F59E0B"/>
          </a:solidFill>
          <a:ln w="25400">
            <a:solidFill>
              <a:srgbClr val="A855F7"/>
            </a:solidFill>
            <a:prstDash val="solid"/>
          </a:ln>
        </p:spPr>
        <p:txBody>
          <a:bodyPr/>
          <a:lstStyle/>
          <a:p>
            <a:endParaRPr lang="en-US"/>
          </a:p>
        </p:txBody>
      </p:sp>
      <p:sp>
        <p:nvSpPr>
          <p:cNvPr id="44" name="Text 12">
            <a:extLst>
              <a:ext uri="{FF2B5EF4-FFF2-40B4-BE49-F238E27FC236}">
                <a16:creationId xmlns:a16="http://schemas.microsoft.com/office/drawing/2014/main" id="{2202E3AB-22C7-0A08-FE8D-CAE6E69E916D}"/>
              </a:ext>
            </a:extLst>
          </p:cNvPr>
          <p:cNvSpPr/>
          <p:nvPr/>
        </p:nvSpPr>
        <p:spPr>
          <a:xfrm>
            <a:off x="2161276" y="1693056"/>
            <a:ext cx="1467893" cy="305811"/>
          </a:xfrm>
          <a:prstGeom prst="rect">
            <a:avLst/>
          </a:prstGeom>
          <a:noFill/>
          <a:ln/>
        </p:spPr>
        <p:txBody>
          <a:bodyPr wrap="square" lIns="0" tIns="0" rIns="0" bIns="0" rtlCol="0" anchor="ctr"/>
          <a:lstStyle/>
          <a:p>
            <a:pPr marL="0" indent="0" algn="ctr">
              <a:buNone/>
            </a:pPr>
            <a:r>
              <a:rPr lang="en-US" sz="2200" b="1">
                <a:solidFill>
                  <a:srgbClr val="1E2761"/>
                </a:solidFill>
                <a:latin typeface="Calibri" pitchFamily="34" charset="0"/>
                <a:ea typeface="Calibri" pitchFamily="34" charset="-122"/>
                <a:cs typeface="Calibri" pitchFamily="34" charset="-120"/>
              </a:rPr>
              <a:t>1964</a:t>
            </a:r>
            <a:endParaRPr lang="en-US" sz="2200"/>
          </a:p>
        </p:txBody>
      </p:sp>
      <p:sp>
        <p:nvSpPr>
          <p:cNvPr id="45" name="Text 13">
            <a:extLst>
              <a:ext uri="{FF2B5EF4-FFF2-40B4-BE49-F238E27FC236}">
                <a16:creationId xmlns:a16="http://schemas.microsoft.com/office/drawing/2014/main" id="{9ACF9777-1510-8D76-822D-EA2EA248FA43}"/>
              </a:ext>
            </a:extLst>
          </p:cNvPr>
          <p:cNvSpPr/>
          <p:nvPr/>
        </p:nvSpPr>
        <p:spPr>
          <a:xfrm>
            <a:off x="2161276" y="2119978"/>
            <a:ext cx="1467894" cy="244649"/>
          </a:xfrm>
          <a:prstGeom prst="rect">
            <a:avLst/>
          </a:prstGeom>
          <a:noFill/>
          <a:ln/>
        </p:spPr>
        <p:txBody>
          <a:bodyPr wrap="square" lIns="0" tIns="0" rIns="0" bIns="0" rtlCol="0" anchor="ctr"/>
          <a:lstStyle/>
          <a:p>
            <a:pPr marL="0" indent="0" algn="ctr">
              <a:buNone/>
            </a:pPr>
            <a:r>
              <a:rPr lang="en-US" sz="1100" b="1" kern="0" spc="200">
                <a:solidFill>
                  <a:srgbClr val="A855F7"/>
                </a:solidFill>
                <a:latin typeface="Calibri" pitchFamily="34" charset="0"/>
                <a:ea typeface="Calibri" pitchFamily="34" charset="-122"/>
                <a:cs typeface="Calibri" pitchFamily="34" charset="-120"/>
              </a:rPr>
              <a:t>Sharpe</a:t>
            </a:r>
            <a:endParaRPr lang="en-US" sz="1100"/>
          </a:p>
        </p:txBody>
      </p:sp>
      <p:sp>
        <p:nvSpPr>
          <p:cNvPr id="46" name="Text 14">
            <a:extLst>
              <a:ext uri="{FF2B5EF4-FFF2-40B4-BE49-F238E27FC236}">
                <a16:creationId xmlns:a16="http://schemas.microsoft.com/office/drawing/2014/main" id="{13874D1B-70A6-5141-F348-5BE943630019}"/>
              </a:ext>
            </a:extLst>
          </p:cNvPr>
          <p:cNvSpPr/>
          <p:nvPr/>
        </p:nvSpPr>
        <p:spPr>
          <a:xfrm>
            <a:off x="2161275" y="2899837"/>
            <a:ext cx="1467893" cy="305811"/>
          </a:xfrm>
          <a:prstGeom prst="rect">
            <a:avLst/>
          </a:prstGeom>
          <a:noFill/>
          <a:ln/>
        </p:spPr>
        <p:txBody>
          <a:bodyPr wrap="square" lIns="0" tIns="0" rIns="0" bIns="0" rtlCol="0" anchor="ctr"/>
          <a:lstStyle/>
          <a:p>
            <a:pPr marL="0" indent="0" algn="ctr">
              <a:buNone/>
            </a:pPr>
            <a:r>
              <a:rPr lang="en-US" sz="1400" b="1">
                <a:solidFill>
                  <a:srgbClr val="1E2761"/>
                </a:solidFill>
                <a:latin typeface="Calibri" pitchFamily="34" charset="0"/>
                <a:ea typeface="Calibri" pitchFamily="34" charset="-122"/>
                <a:cs typeface="Calibri" pitchFamily="34" charset="-120"/>
              </a:rPr>
              <a:t>CAPM</a:t>
            </a:r>
            <a:endParaRPr lang="en-US" sz="1400"/>
          </a:p>
        </p:txBody>
      </p:sp>
      <p:sp>
        <p:nvSpPr>
          <p:cNvPr id="47" name="Text 15">
            <a:extLst>
              <a:ext uri="{FF2B5EF4-FFF2-40B4-BE49-F238E27FC236}">
                <a16:creationId xmlns:a16="http://schemas.microsoft.com/office/drawing/2014/main" id="{AABE3122-6AEC-27F7-2171-848B9F159E11}"/>
              </a:ext>
            </a:extLst>
          </p:cNvPr>
          <p:cNvSpPr/>
          <p:nvPr/>
        </p:nvSpPr>
        <p:spPr>
          <a:xfrm>
            <a:off x="2181568" y="2826624"/>
            <a:ext cx="1519454" cy="1463040"/>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Linked expected returns to systematic risk via beta. Nobel Prize 1990.</a:t>
            </a:r>
            <a:endParaRPr lang="en-US" sz="1000"/>
          </a:p>
        </p:txBody>
      </p:sp>
      <p:sp>
        <p:nvSpPr>
          <p:cNvPr id="48" name="Shape 16">
            <a:extLst>
              <a:ext uri="{FF2B5EF4-FFF2-40B4-BE49-F238E27FC236}">
                <a16:creationId xmlns:a16="http://schemas.microsoft.com/office/drawing/2014/main" id="{9B9F56E9-5BEE-A34F-AE04-3D2B103F937F}"/>
              </a:ext>
            </a:extLst>
          </p:cNvPr>
          <p:cNvSpPr/>
          <p:nvPr/>
        </p:nvSpPr>
        <p:spPr>
          <a:xfrm>
            <a:off x="4718046" y="2497647"/>
            <a:ext cx="183487" cy="183487"/>
          </a:xfrm>
          <a:prstGeom prst="ellipse">
            <a:avLst/>
          </a:prstGeom>
          <a:solidFill>
            <a:srgbClr val="F59E0B"/>
          </a:solidFill>
          <a:ln w="25400">
            <a:solidFill>
              <a:srgbClr val="A855F7"/>
            </a:solidFill>
            <a:prstDash val="solid"/>
          </a:ln>
        </p:spPr>
        <p:txBody>
          <a:bodyPr/>
          <a:lstStyle/>
          <a:p>
            <a:endParaRPr lang="en-US"/>
          </a:p>
        </p:txBody>
      </p:sp>
      <p:sp>
        <p:nvSpPr>
          <p:cNvPr id="49" name="Text 17">
            <a:extLst>
              <a:ext uri="{FF2B5EF4-FFF2-40B4-BE49-F238E27FC236}">
                <a16:creationId xmlns:a16="http://schemas.microsoft.com/office/drawing/2014/main" id="{03F71E11-6700-3127-F02D-A6D3087BAAE0}"/>
              </a:ext>
            </a:extLst>
          </p:cNvPr>
          <p:cNvSpPr/>
          <p:nvPr/>
        </p:nvSpPr>
        <p:spPr>
          <a:xfrm>
            <a:off x="4058355" y="1643803"/>
            <a:ext cx="1467893" cy="305811"/>
          </a:xfrm>
          <a:prstGeom prst="rect">
            <a:avLst/>
          </a:prstGeom>
          <a:noFill/>
          <a:ln/>
        </p:spPr>
        <p:txBody>
          <a:bodyPr wrap="square" lIns="0" tIns="0" rIns="0" bIns="0" rtlCol="0" anchor="ctr"/>
          <a:lstStyle/>
          <a:p>
            <a:pPr marL="0" indent="0" algn="ctr">
              <a:buNone/>
            </a:pPr>
            <a:r>
              <a:rPr lang="en-US" sz="2200" b="1">
                <a:solidFill>
                  <a:srgbClr val="1E2761"/>
                </a:solidFill>
                <a:latin typeface="Calibri" pitchFamily="34" charset="0"/>
                <a:ea typeface="Calibri" pitchFamily="34" charset="-122"/>
                <a:cs typeface="Calibri" pitchFamily="34" charset="-120"/>
              </a:rPr>
              <a:t>1976</a:t>
            </a:r>
            <a:endParaRPr lang="en-US" sz="2200"/>
          </a:p>
        </p:txBody>
      </p:sp>
      <p:sp>
        <p:nvSpPr>
          <p:cNvPr id="50" name="Text 18">
            <a:extLst>
              <a:ext uri="{FF2B5EF4-FFF2-40B4-BE49-F238E27FC236}">
                <a16:creationId xmlns:a16="http://schemas.microsoft.com/office/drawing/2014/main" id="{FDF5F6D9-E932-FE6F-68F9-9204418E7FE4}"/>
              </a:ext>
            </a:extLst>
          </p:cNvPr>
          <p:cNvSpPr/>
          <p:nvPr/>
        </p:nvSpPr>
        <p:spPr>
          <a:xfrm>
            <a:off x="4058355" y="2070725"/>
            <a:ext cx="1467894" cy="244649"/>
          </a:xfrm>
          <a:prstGeom prst="rect">
            <a:avLst/>
          </a:prstGeom>
          <a:noFill/>
          <a:ln/>
        </p:spPr>
        <p:txBody>
          <a:bodyPr wrap="square" lIns="0" tIns="0" rIns="0" bIns="0" rtlCol="0" anchor="ctr"/>
          <a:lstStyle/>
          <a:p>
            <a:pPr marL="0" indent="0" algn="ctr">
              <a:buNone/>
            </a:pPr>
            <a:r>
              <a:rPr lang="en-US" sz="1100" b="1" kern="0" spc="200">
                <a:solidFill>
                  <a:srgbClr val="A855F7"/>
                </a:solidFill>
                <a:latin typeface="Calibri" pitchFamily="34" charset="0"/>
                <a:ea typeface="Calibri" pitchFamily="34" charset="-122"/>
                <a:cs typeface="Calibri" pitchFamily="34" charset="-120"/>
              </a:rPr>
              <a:t>Ross</a:t>
            </a:r>
            <a:endParaRPr lang="en-US" sz="1100"/>
          </a:p>
        </p:txBody>
      </p:sp>
      <p:sp>
        <p:nvSpPr>
          <p:cNvPr id="51" name="Text 19">
            <a:extLst>
              <a:ext uri="{FF2B5EF4-FFF2-40B4-BE49-F238E27FC236}">
                <a16:creationId xmlns:a16="http://schemas.microsoft.com/office/drawing/2014/main" id="{939F98D3-DBF2-52B1-31A7-F3582A5EFD64}"/>
              </a:ext>
            </a:extLst>
          </p:cNvPr>
          <p:cNvSpPr/>
          <p:nvPr/>
        </p:nvSpPr>
        <p:spPr>
          <a:xfrm>
            <a:off x="4058355" y="2898503"/>
            <a:ext cx="1467893" cy="305811"/>
          </a:xfrm>
          <a:prstGeom prst="rect">
            <a:avLst/>
          </a:prstGeom>
          <a:noFill/>
          <a:ln/>
        </p:spPr>
        <p:txBody>
          <a:bodyPr wrap="square" lIns="0" tIns="0" rIns="0" bIns="0" rtlCol="0" anchor="ctr"/>
          <a:lstStyle/>
          <a:p>
            <a:pPr marL="0" indent="0" algn="ctr">
              <a:buNone/>
            </a:pPr>
            <a:r>
              <a:rPr lang="en-US" sz="1400" b="1">
                <a:solidFill>
                  <a:srgbClr val="1E2761"/>
                </a:solidFill>
                <a:latin typeface="Calibri" pitchFamily="34" charset="0"/>
                <a:ea typeface="Calibri" pitchFamily="34" charset="-122"/>
                <a:cs typeface="Calibri" pitchFamily="34" charset="-120"/>
              </a:rPr>
              <a:t>Arbitrage Pricing Theory</a:t>
            </a:r>
            <a:endParaRPr lang="en-US" sz="1400"/>
          </a:p>
        </p:txBody>
      </p:sp>
      <p:sp>
        <p:nvSpPr>
          <p:cNvPr id="52" name="Text 20">
            <a:extLst>
              <a:ext uri="{FF2B5EF4-FFF2-40B4-BE49-F238E27FC236}">
                <a16:creationId xmlns:a16="http://schemas.microsoft.com/office/drawing/2014/main" id="{4D038688-4014-7AB7-14C5-3BA127861356}"/>
              </a:ext>
            </a:extLst>
          </p:cNvPr>
          <p:cNvSpPr/>
          <p:nvPr/>
        </p:nvSpPr>
        <p:spPr>
          <a:xfrm>
            <a:off x="4276839" y="2943048"/>
            <a:ext cx="1043278" cy="1463040"/>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Generalised CAPM to allow multiple risk factors driving returns.</a:t>
            </a:r>
            <a:endParaRPr lang="en-US" sz="1000"/>
          </a:p>
        </p:txBody>
      </p:sp>
      <p:sp>
        <p:nvSpPr>
          <p:cNvPr id="53" name="Shape 21">
            <a:extLst>
              <a:ext uri="{FF2B5EF4-FFF2-40B4-BE49-F238E27FC236}">
                <a16:creationId xmlns:a16="http://schemas.microsoft.com/office/drawing/2014/main" id="{67643856-0EB5-5211-B4F4-B84379C9F7F9}"/>
              </a:ext>
            </a:extLst>
          </p:cNvPr>
          <p:cNvSpPr/>
          <p:nvPr/>
        </p:nvSpPr>
        <p:spPr>
          <a:xfrm>
            <a:off x="6944332" y="2497647"/>
            <a:ext cx="183487" cy="183487"/>
          </a:xfrm>
          <a:prstGeom prst="ellipse">
            <a:avLst/>
          </a:prstGeom>
          <a:solidFill>
            <a:srgbClr val="F59E0B"/>
          </a:solidFill>
          <a:ln w="25400">
            <a:solidFill>
              <a:srgbClr val="A855F7"/>
            </a:solidFill>
            <a:prstDash val="solid"/>
          </a:ln>
        </p:spPr>
        <p:txBody>
          <a:bodyPr/>
          <a:lstStyle/>
          <a:p>
            <a:endParaRPr lang="en-US"/>
          </a:p>
        </p:txBody>
      </p:sp>
      <p:sp>
        <p:nvSpPr>
          <p:cNvPr id="74" name="Text 22">
            <a:extLst>
              <a:ext uri="{FF2B5EF4-FFF2-40B4-BE49-F238E27FC236}">
                <a16:creationId xmlns:a16="http://schemas.microsoft.com/office/drawing/2014/main" id="{678E911B-2E36-B34E-7464-5F9D96B80360}"/>
              </a:ext>
            </a:extLst>
          </p:cNvPr>
          <p:cNvSpPr/>
          <p:nvPr/>
        </p:nvSpPr>
        <p:spPr>
          <a:xfrm>
            <a:off x="6258787" y="1643803"/>
            <a:ext cx="1467893" cy="305811"/>
          </a:xfrm>
          <a:prstGeom prst="rect">
            <a:avLst/>
          </a:prstGeom>
          <a:noFill/>
          <a:ln/>
        </p:spPr>
        <p:txBody>
          <a:bodyPr wrap="square" lIns="0" tIns="0" rIns="0" bIns="0" rtlCol="0" anchor="ctr"/>
          <a:lstStyle/>
          <a:p>
            <a:pPr marL="0" indent="0" algn="ctr">
              <a:buNone/>
            </a:pPr>
            <a:r>
              <a:rPr lang="en-US" sz="2200" b="1">
                <a:solidFill>
                  <a:srgbClr val="1E2761"/>
                </a:solidFill>
                <a:latin typeface="Calibri" pitchFamily="34" charset="0"/>
                <a:ea typeface="Calibri" pitchFamily="34" charset="-122"/>
                <a:cs typeface="Calibri" pitchFamily="34" charset="-120"/>
              </a:rPr>
              <a:t>1992</a:t>
            </a:r>
            <a:endParaRPr lang="en-US" sz="2200"/>
          </a:p>
        </p:txBody>
      </p:sp>
      <p:sp>
        <p:nvSpPr>
          <p:cNvPr id="75" name="Text 23">
            <a:extLst>
              <a:ext uri="{FF2B5EF4-FFF2-40B4-BE49-F238E27FC236}">
                <a16:creationId xmlns:a16="http://schemas.microsoft.com/office/drawing/2014/main" id="{23815908-869B-3E8D-9F3E-E8BCAF6967DB}"/>
              </a:ext>
            </a:extLst>
          </p:cNvPr>
          <p:cNvSpPr/>
          <p:nvPr/>
        </p:nvSpPr>
        <p:spPr>
          <a:xfrm>
            <a:off x="6258787" y="2070725"/>
            <a:ext cx="1467894" cy="244649"/>
          </a:xfrm>
          <a:prstGeom prst="rect">
            <a:avLst/>
          </a:prstGeom>
          <a:noFill/>
          <a:ln/>
        </p:spPr>
        <p:txBody>
          <a:bodyPr wrap="square" lIns="0" tIns="0" rIns="0" bIns="0" rtlCol="0" anchor="ctr"/>
          <a:lstStyle/>
          <a:p>
            <a:pPr marL="0" indent="0" algn="ctr">
              <a:buNone/>
            </a:pPr>
            <a:r>
              <a:rPr lang="en-US" sz="1100" b="1" kern="0" spc="200">
                <a:solidFill>
                  <a:srgbClr val="A855F7"/>
                </a:solidFill>
                <a:latin typeface="Calibri" pitchFamily="34" charset="0"/>
                <a:ea typeface="Calibri" pitchFamily="34" charset="-122"/>
                <a:cs typeface="Calibri" pitchFamily="34" charset="-120"/>
              </a:rPr>
              <a:t>Fama &amp; French</a:t>
            </a:r>
            <a:endParaRPr lang="en-US" sz="1100"/>
          </a:p>
        </p:txBody>
      </p:sp>
      <p:sp>
        <p:nvSpPr>
          <p:cNvPr id="76" name="Text 24">
            <a:extLst>
              <a:ext uri="{FF2B5EF4-FFF2-40B4-BE49-F238E27FC236}">
                <a16:creationId xmlns:a16="http://schemas.microsoft.com/office/drawing/2014/main" id="{12EDC4A4-3A57-6446-FC98-EF62D01BC131}"/>
              </a:ext>
            </a:extLst>
          </p:cNvPr>
          <p:cNvSpPr/>
          <p:nvPr/>
        </p:nvSpPr>
        <p:spPr>
          <a:xfrm>
            <a:off x="6258787" y="2893977"/>
            <a:ext cx="1467893" cy="305811"/>
          </a:xfrm>
          <a:prstGeom prst="rect">
            <a:avLst/>
          </a:prstGeom>
          <a:noFill/>
          <a:ln/>
        </p:spPr>
        <p:txBody>
          <a:bodyPr wrap="square" lIns="0" tIns="0" rIns="0" bIns="0" rtlCol="0" anchor="ctr"/>
          <a:lstStyle/>
          <a:p>
            <a:pPr marL="0" indent="0" algn="ctr">
              <a:buNone/>
            </a:pPr>
            <a:r>
              <a:rPr lang="en-US" sz="1400" b="1">
                <a:solidFill>
                  <a:srgbClr val="1E2761"/>
                </a:solidFill>
                <a:latin typeface="Calibri" pitchFamily="34" charset="0"/>
                <a:ea typeface="Calibri" pitchFamily="34" charset="-122"/>
                <a:cs typeface="Calibri" pitchFamily="34" charset="-120"/>
              </a:rPr>
              <a:t>Three-Factor Model</a:t>
            </a:r>
            <a:endParaRPr lang="en-US" sz="1400"/>
          </a:p>
        </p:txBody>
      </p:sp>
      <p:sp>
        <p:nvSpPr>
          <p:cNvPr id="77" name="Text 25">
            <a:extLst>
              <a:ext uri="{FF2B5EF4-FFF2-40B4-BE49-F238E27FC236}">
                <a16:creationId xmlns:a16="http://schemas.microsoft.com/office/drawing/2014/main" id="{B67067B8-72B7-7967-579E-F33F93F128F7}"/>
              </a:ext>
            </a:extLst>
          </p:cNvPr>
          <p:cNvSpPr/>
          <p:nvPr/>
        </p:nvSpPr>
        <p:spPr>
          <a:xfrm>
            <a:off x="6424207" y="2903220"/>
            <a:ext cx="1223735" cy="1463040"/>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Empirical evidence that size and value factors explain returns alongside market.</a:t>
            </a:r>
            <a:endParaRPr lang="en-US" sz="1000"/>
          </a:p>
        </p:txBody>
      </p:sp>
      <p:sp>
        <p:nvSpPr>
          <p:cNvPr id="78" name="Shape 26">
            <a:extLst>
              <a:ext uri="{FF2B5EF4-FFF2-40B4-BE49-F238E27FC236}">
                <a16:creationId xmlns:a16="http://schemas.microsoft.com/office/drawing/2014/main" id="{E699F2E6-1648-940F-32F4-A59ECBCCE43B}"/>
              </a:ext>
            </a:extLst>
          </p:cNvPr>
          <p:cNvSpPr/>
          <p:nvPr/>
        </p:nvSpPr>
        <p:spPr>
          <a:xfrm>
            <a:off x="183233" y="4338828"/>
            <a:ext cx="8444618" cy="502920"/>
          </a:xfrm>
          <a:prstGeom prst="rect">
            <a:avLst/>
          </a:prstGeom>
          <a:solidFill>
            <a:srgbClr val="1E2761"/>
          </a:solidFill>
          <a:ln w="25400">
            <a:solidFill>
              <a:srgbClr val="A855F7"/>
            </a:solidFill>
            <a:prstDash val="solid"/>
          </a:ln>
        </p:spPr>
        <p:txBody>
          <a:bodyPr/>
          <a:lstStyle/>
          <a:p>
            <a:endParaRPr lang="en-US"/>
          </a:p>
        </p:txBody>
      </p:sp>
      <p:sp>
        <p:nvSpPr>
          <p:cNvPr id="79" name="Text 27">
            <a:extLst>
              <a:ext uri="{FF2B5EF4-FFF2-40B4-BE49-F238E27FC236}">
                <a16:creationId xmlns:a16="http://schemas.microsoft.com/office/drawing/2014/main" id="{1F224ABB-A7BD-E4C3-6918-A2798B7DC3F8}"/>
              </a:ext>
            </a:extLst>
          </p:cNvPr>
          <p:cNvSpPr/>
          <p:nvPr/>
        </p:nvSpPr>
        <p:spPr>
          <a:xfrm>
            <a:off x="366113" y="4366260"/>
            <a:ext cx="10515600" cy="457200"/>
          </a:xfrm>
          <a:prstGeom prst="rect">
            <a:avLst/>
          </a:prstGeom>
          <a:noFill/>
          <a:ln/>
        </p:spPr>
        <p:txBody>
          <a:bodyPr wrap="square" lIns="0" tIns="0" rIns="0" bIns="0" rtlCol="0" anchor="ctr"/>
          <a:lstStyle/>
          <a:p>
            <a:pPr marL="0" indent="0">
              <a:buNone/>
            </a:pPr>
            <a:r>
              <a:rPr lang="en-US" sz="1200" b="1" kern="0" spc="200">
                <a:solidFill>
                  <a:srgbClr val="A855F7"/>
                </a:solidFill>
                <a:latin typeface="Calibri" pitchFamily="34" charset="0"/>
                <a:ea typeface="Calibri" pitchFamily="34" charset="-122"/>
                <a:cs typeface="Calibri" pitchFamily="34" charset="-120"/>
              </a:rPr>
              <a:t>Why this matters:  </a:t>
            </a:r>
            <a:r>
              <a:rPr lang="en-US" sz="1200" i="1">
                <a:solidFill>
                  <a:schemeClr val="bg1"/>
                </a:solidFill>
                <a:latin typeface="Calibri" pitchFamily="34" charset="0"/>
                <a:ea typeface="Calibri" pitchFamily="34" charset="-122"/>
                <a:cs typeface="Calibri" pitchFamily="34" charset="-120"/>
              </a:rPr>
              <a:t>We blend all four estimators rather than relying on any single one — robust to any single model failing.</a:t>
            </a:r>
            <a:endParaRPr lang="en-US" sz="1200">
              <a:solidFill>
                <a:schemeClr val="bg1"/>
              </a:solidFill>
            </a:endParaRPr>
          </a:p>
        </p:txBody>
      </p:sp>
      <p:sp>
        <p:nvSpPr>
          <p:cNvPr id="81" name="Text 29">
            <a:extLst>
              <a:ext uri="{FF2B5EF4-FFF2-40B4-BE49-F238E27FC236}">
                <a16:creationId xmlns:a16="http://schemas.microsoft.com/office/drawing/2014/main" id="{E6B41E65-5D85-B8D3-974F-405A410A2C4D}"/>
              </a:ext>
            </a:extLst>
          </p:cNvPr>
          <p:cNvSpPr/>
          <p:nvPr/>
        </p:nvSpPr>
        <p:spPr>
          <a:xfrm>
            <a:off x="10515953" y="4978908"/>
            <a:ext cx="6400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18</a:t>
            </a:r>
            <a:endParaRPr lang="en-US" sz="900"/>
          </a:p>
        </p:txBody>
      </p:sp>
    </p:spTree>
    <p:extLst>
      <p:ext uri="{BB962C8B-B14F-4D97-AF65-F5344CB8AC3E}">
        <p14:creationId xmlns:p14="http://schemas.microsoft.com/office/powerpoint/2010/main" val="505951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73C4B-7EE7-B095-F34B-43380C033724}"/>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A3B11320-2105-7C26-B9AF-A282BD58C32D}"/>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D3EDB180-BA3A-19CE-C794-0D26F32E53A2}"/>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0EA5E9"/>
                </a:solidFill>
                <a:latin typeface="Calibri" pitchFamily="34" charset="0"/>
                <a:ea typeface="Calibri" pitchFamily="34" charset="-122"/>
                <a:cs typeface="Calibri" pitchFamily="34" charset="-120"/>
              </a:rPr>
              <a:t>03  ·  Methods Used</a:t>
            </a:r>
            <a:endParaRPr lang="en-GB" sz="1000" noProof="0">
              <a:solidFill>
                <a:srgbClr val="0EA5E9"/>
              </a:solidFill>
            </a:endParaRPr>
          </a:p>
        </p:txBody>
      </p:sp>
      <p:sp>
        <p:nvSpPr>
          <p:cNvPr id="6" name="Text 2">
            <a:extLst>
              <a:ext uri="{FF2B5EF4-FFF2-40B4-BE49-F238E27FC236}">
                <a16:creationId xmlns:a16="http://schemas.microsoft.com/office/drawing/2014/main" id="{1FB935C1-B10F-B73F-FA68-905DB110B311}"/>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What the Models Tell Us</a:t>
            </a:r>
            <a:endParaRPr lang="en-US" sz="3000"/>
          </a:p>
        </p:txBody>
      </p:sp>
      <p:sp>
        <p:nvSpPr>
          <p:cNvPr id="7" name="Shape 3">
            <a:extLst>
              <a:ext uri="{FF2B5EF4-FFF2-40B4-BE49-F238E27FC236}">
                <a16:creationId xmlns:a16="http://schemas.microsoft.com/office/drawing/2014/main" id="{660CC3E3-242D-BD55-97BB-53737E9532CA}"/>
              </a:ext>
            </a:extLst>
          </p:cNvPr>
          <p:cNvSpPr/>
          <p:nvPr/>
        </p:nvSpPr>
        <p:spPr>
          <a:xfrm>
            <a:off x="1640335" y="816662"/>
            <a:ext cx="548640" cy="45720"/>
          </a:xfrm>
          <a:prstGeom prst="rect">
            <a:avLst/>
          </a:prstGeom>
          <a:solidFill>
            <a:srgbClr val="0EA5E9"/>
          </a:solidFill>
          <a:ln w="12700">
            <a:solidFill>
              <a:srgbClr val="0EA5E9"/>
            </a:solidFill>
            <a:prstDash val="solid"/>
          </a:ln>
        </p:spPr>
        <p:txBody>
          <a:bodyPr/>
          <a:lstStyle/>
          <a:p>
            <a:endParaRPr lang="en-GB" noProof="0"/>
          </a:p>
        </p:txBody>
      </p:sp>
      <p:sp>
        <p:nvSpPr>
          <p:cNvPr id="8" name="Shape 0">
            <a:extLst>
              <a:ext uri="{FF2B5EF4-FFF2-40B4-BE49-F238E27FC236}">
                <a16:creationId xmlns:a16="http://schemas.microsoft.com/office/drawing/2014/main" id="{F1541B2F-E74A-359C-520B-49EB2CB6EA0C}"/>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
        <p:nvSpPr>
          <p:cNvPr id="2" name="Shape 4">
            <a:extLst>
              <a:ext uri="{FF2B5EF4-FFF2-40B4-BE49-F238E27FC236}">
                <a16:creationId xmlns:a16="http://schemas.microsoft.com/office/drawing/2014/main" id="{7647D241-0A91-CFA5-5F47-297AB7F32FD7}"/>
              </a:ext>
            </a:extLst>
          </p:cNvPr>
          <p:cNvSpPr/>
          <p:nvPr/>
        </p:nvSpPr>
        <p:spPr>
          <a:xfrm>
            <a:off x="183233" y="1480451"/>
            <a:ext cx="2648745" cy="295833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 name="Text 5">
            <a:extLst>
              <a:ext uri="{FF2B5EF4-FFF2-40B4-BE49-F238E27FC236}">
                <a16:creationId xmlns:a16="http://schemas.microsoft.com/office/drawing/2014/main" id="{00C075AE-6C2E-CBC0-F75D-A6B4F82C36C6}"/>
              </a:ext>
            </a:extLst>
          </p:cNvPr>
          <p:cNvSpPr/>
          <p:nvPr/>
        </p:nvSpPr>
        <p:spPr>
          <a:xfrm>
            <a:off x="411832" y="984963"/>
            <a:ext cx="687985" cy="412791"/>
          </a:xfrm>
          <a:prstGeom prst="rect">
            <a:avLst/>
          </a:prstGeom>
          <a:noFill/>
          <a:ln/>
        </p:spPr>
        <p:txBody>
          <a:bodyPr wrap="square" lIns="0" tIns="0" rIns="0" bIns="0" rtlCol="0" anchor="ctr"/>
          <a:lstStyle/>
          <a:p>
            <a:pPr marL="0" indent="0">
              <a:buNone/>
            </a:pPr>
            <a:r>
              <a:rPr lang="en-US" sz="3600" b="1">
                <a:solidFill>
                  <a:srgbClr val="22C55E"/>
                </a:solidFill>
                <a:latin typeface="Calibri" pitchFamily="34" charset="0"/>
                <a:ea typeface="Calibri" pitchFamily="34" charset="-122"/>
                <a:cs typeface="Calibri" pitchFamily="34" charset="-120"/>
              </a:rPr>
              <a:t>01</a:t>
            </a:r>
            <a:endParaRPr lang="en-US" sz="3600"/>
          </a:p>
        </p:txBody>
      </p:sp>
      <p:sp>
        <p:nvSpPr>
          <p:cNvPr id="9" name="Text 6">
            <a:extLst>
              <a:ext uri="{FF2B5EF4-FFF2-40B4-BE49-F238E27FC236}">
                <a16:creationId xmlns:a16="http://schemas.microsoft.com/office/drawing/2014/main" id="{6383DEF9-0069-10D5-2615-6139CB776CC3}"/>
              </a:ext>
            </a:extLst>
          </p:cNvPr>
          <p:cNvSpPr/>
          <p:nvPr/>
        </p:nvSpPr>
        <p:spPr>
          <a:xfrm>
            <a:off x="411833" y="1579323"/>
            <a:ext cx="2304752" cy="619187"/>
          </a:xfrm>
          <a:prstGeom prst="rect">
            <a:avLst/>
          </a:prstGeom>
          <a:noFill/>
          <a:ln/>
        </p:spPr>
        <p:txBody>
          <a:bodyPr wrap="square" lIns="0" tIns="0" rIns="0" bIns="0" rtlCol="0" anchor="ctr"/>
          <a:lstStyle/>
          <a:p>
            <a:pPr marL="0" indent="0">
              <a:buNone/>
            </a:pPr>
            <a:r>
              <a:rPr lang="en-US" sz="1600" b="1">
                <a:solidFill>
                  <a:srgbClr val="1E2761"/>
                </a:solidFill>
                <a:latin typeface="Calibri" pitchFamily="34" charset="0"/>
                <a:ea typeface="Calibri" pitchFamily="34" charset="-122"/>
                <a:cs typeface="Calibri" pitchFamily="34" charset="-120"/>
              </a:rPr>
              <a:t>Diversification works as expected</a:t>
            </a:r>
            <a:endParaRPr lang="en-US" sz="1600"/>
          </a:p>
        </p:txBody>
      </p:sp>
      <p:sp>
        <p:nvSpPr>
          <p:cNvPr id="10" name="Shape 7">
            <a:extLst>
              <a:ext uri="{FF2B5EF4-FFF2-40B4-BE49-F238E27FC236}">
                <a16:creationId xmlns:a16="http://schemas.microsoft.com/office/drawing/2014/main" id="{8A116179-E201-9320-877A-65D47D0B3F51}"/>
              </a:ext>
            </a:extLst>
          </p:cNvPr>
          <p:cNvSpPr/>
          <p:nvPr/>
        </p:nvSpPr>
        <p:spPr>
          <a:xfrm>
            <a:off x="411832" y="2280808"/>
            <a:ext cx="685785" cy="45719"/>
          </a:xfrm>
          <a:prstGeom prst="rect">
            <a:avLst/>
          </a:prstGeom>
          <a:solidFill>
            <a:srgbClr val="22C55E"/>
          </a:solidFill>
          <a:ln w="12700">
            <a:solidFill>
              <a:srgbClr val="22C55E"/>
            </a:solidFill>
            <a:prstDash val="solid"/>
          </a:ln>
        </p:spPr>
        <p:txBody>
          <a:bodyPr/>
          <a:lstStyle/>
          <a:p>
            <a:endParaRPr lang="en-US"/>
          </a:p>
        </p:txBody>
      </p:sp>
      <p:sp>
        <p:nvSpPr>
          <p:cNvPr id="54" name="Text 8">
            <a:extLst>
              <a:ext uri="{FF2B5EF4-FFF2-40B4-BE49-F238E27FC236}">
                <a16:creationId xmlns:a16="http://schemas.microsoft.com/office/drawing/2014/main" id="{5A14A9A9-2324-0036-DB56-2812FEE00FAF}"/>
              </a:ext>
            </a:extLst>
          </p:cNvPr>
          <p:cNvSpPr/>
          <p:nvPr/>
        </p:nvSpPr>
        <p:spPr>
          <a:xfrm>
            <a:off x="411833" y="2486525"/>
            <a:ext cx="2304752" cy="963180"/>
          </a:xfrm>
          <a:prstGeom prst="rect">
            <a:avLst/>
          </a:prstGeom>
          <a:noFill/>
          <a:ln/>
        </p:spPr>
        <p:txBody>
          <a:bodyPr wrap="square" lIns="0" tIns="0" rIns="0" bIns="0" rtlCol="0" anchor="ctr"/>
          <a:lstStyle/>
          <a:p>
            <a:pPr marL="0" indent="0">
              <a:buNone/>
            </a:pPr>
            <a:r>
              <a:rPr lang="en-US" sz="1400">
                <a:solidFill>
                  <a:srgbClr val="64748B"/>
                </a:solidFill>
                <a:latin typeface="Calibri" pitchFamily="34" charset="0"/>
                <a:ea typeface="Calibri" pitchFamily="34" charset="-122"/>
                <a:cs typeface="Calibri" pitchFamily="34" charset="-120"/>
              </a:rPr>
              <a:t>Portfolios spanning 4+ sectors produce Sharpe ratios 25–40% higher than single-sector portfolios with the same expected return.</a:t>
            </a:r>
            <a:endParaRPr lang="en-US" sz="1400"/>
          </a:p>
        </p:txBody>
      </p:sp>
      <p:sp>
        <p:nvSpPr>
          <p:cNvPr id="55" name="Shape 9">
            <a:extLst>
              <a:ext uri="{FF2B5EF4-FFF2-40B4-BE49-F238E27FC236}">
                <a16:creationId xmlns:a16="http://schemas.microsoft.com/office/drawing/2014/main" id="{09A7D7B0-0C96-2D75-B794-96409E8A4487}"/>
              </a:ext>
            </a:extLst>
          </p:cNvPr>
          <p:cNvSpPr/>
          <p:nvPr/>
        </p:nvSpPr>
        <p:spPr>
          <a:xfrm>
            <a:off x="183233" y="3888401"/>
            <a:ext cx="2648747" cy="550389"/>
          </a:xfrm>
          <a:prstGeom prst="rect">
            <a:avLst/>
          </a:prstGeom>
          <a:solidFill>
            <a:srgbClr val="22C55E"/>
          </a:solidFill>
          <a:ln w="12700">
            <a:solidFill>
              <a:srgbClr val="22C55E"/>
            </a:solidFill>
            <a:prstDash val="solid"/>
          </a:ln>
        </p:spPr>
        <p:txBody>
          <a:bodyPr/>
          <a:lstStyle/>
          <a:p>
            <a:endParaRPr lang="en-US"/>
          </a:p>
        </p:txBody>
      </p:sp>
      <p:sp>
        <p:nvSpPr>
          <p:cNvPr id="56" name="Text 10">
            <a:extLst>
              <a:ext uri="{FF2B5EF4-FFF2-40B4-BE49-F238E27FC236}">
                <a16:creationId xmlns:a16="http://schemas.microsoft.com/office/drawing/2014/main" id="{C9EB4D3E-331E-19C2-3FF9-A1311FD0EDCA}"/>
              </a:ext>
            </a:extLst>
          </p:cNvPr>
          <p:cNvSpPr/>
          <p:nvPr/>
        </p:nvSpPr>
        <p:spPr>
          <a:xfrm>
            <a:off x="366113" y="3911481"/>
            <a:ext cx="1031979" cy="48159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+34%</a:t>
            </a:r>
            <a:endParaRPr lang="en-US" sz="2200"/>
          </a:p>
        </p:txBody>
      </p:sp>
      <p:sp>
        <p:nvSpPr>
          <p:cNvPr id="57" name="Text 11">
            <a:extLst>
              <a:ext uri="{FF2B5EF4-FFF2-40B4-BE49-F238E27FC236}">
                <a16:creationId xmlns:a16="http://schemas.microsoft.com/office/drawing/2014/main" id="{68564253-2B80-26F5-FE92-1BE80F5ED1A2}"/>
              </a:ext>
            </a:extLst>
          </p:cNvPr>
          <p:cNvSpPr/>
          <p:nvPr/>
        </p:nvSpPr>
        <p:spPr>
          <a:xfrm>
            <a:off x="1356051" y="3925640"/>
            <a:ext cx="1341572" cy="481590"/>
          </a:xfrm>
          <a:prstGeom prst="rect">
            <a:avLst/>
          </a:prstGeom>
          <a:noFill/>
          <a:ln/>
        </p:spPr>
        <p:txBody>
          <a:bodyPr wrap="square" lIns="0" tIns="0" rIns="0" bIns="0" rtlCol="0" anchor="ctr"/>
          <a:lstStyle/>
          <a:p>
            <a:pPr marL="0" indent="0">
              <a:buNone/>
            </a:pPr>
            <a:r>
              <a:rPr lang="en-US" sz="1000" i="1">
                <a:solidFill>
                  <a:srgbClr val="FFFFFF"/>
                </a:solidFill>
                <a:latin typeface="Calibri" pitchFamily="34" charset="0"/>
                <a:ea typeface="Calibri" pitchFamily="34" charset="-122"/>
                <a:cs typeface="Calibri" pitchFamily="34" charset="-120"/>
              </a:rPr>
              <a:t>avg. Sharpe improvement</a:t>
            </a:r>
            <a:endParaRPr lang="en-US" sz="1000"/>
          </a:p>
        </p:txBody>
      </p:sp>
      <p:sp>
        <p:nvSpPr>
          <p:cNvPr id="58" name="Shape 12">
            <a:extLst>
              <a:ext uri="{FF2B5EF4-FFF2-40B4-BE49-F238E27FC236}">
                <a16:creationId xmlns:a16="http://schemas.microsoft.com/office/drawing/2014/main" id="{890CD239-964C-D27B-FF4D-62255185F4FB}"/>
              </a:ext>
            </a:extLst>
          </p:cNvPr>
          <p:cNvSpPr/>
          <p:nvPr/>
        </p:nvSpPr>
        <p:spPr>
          <a:xfrm>
            <a:off x="3112904" y="1480451"/>
            <a:ext cx="2648745" cy="295833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9" name="Text 13">
            <a:extLst>
              <a:ext uri="{FF2B5EF4-FFF2-40B4-BE49-F238E27FC236}">
                <a16:creationId xmlns:a16="http://schemas.microsoft.com/office/drawing/2014/main" id="{EB1708AA-5989-9162-D301-446BA7C18100}"/>
              </a:ext>
            </a:extLst>
          </p:cNvPr>
          <p:cNvSpPr/>
          <p:nvPr/>
        </p:nvSpPr>
        <p:spPr>
          <a:xfrm>
            <a:off x="3341503" y="984963"/>
            <a:ext cx="687985" cy="412791"/>
          </a:xfrm>
          <a:prstGeom prst="rect">
            <a:avLst/>
          </a:prstGeom>
          <a:noFill/>
          <a:ln/>
        </p:spPr>
        <p:txBody>
          <a:bodyPr wrap="square" lIns="0" tIns="0" rIns="0" bIns="0" rtlCol="0" anchor="ctr"/>
          <a:lstStyle/>
          <a:p>
            <a:pPr marL="0" indent="0">
              <a:buNone/>
            </a:pPr>
            <a:r>
              <a:rPr lang="en-US" sz="3600" b="1">
                <a:solidFill>
                  <a:srgbClr val="0EA5E9"/>
                </a:solidFill>
                <a:latin typeface="Calibri" pitchFamily="34" charset="0"/>
                <a:ea typeface="Calibri" pitchFamily="34" charset="-122"/>
                <a:cs typeface="Calibri" pitchFamily="34" charset="-120"/>
              </a:rPr>
              <a:t>02</a:t>
            </a:r>
            <a:endParaRPr lang="en-US" sz="3600"/>
          </a:p>
        </p:txBody>
      </p:sp>
      <p:sp>
        <p:nvSpPr>
          <p:cNvPr id="60" name="Text 14">
            <a:extLst>
              <a:ext uri="{FF2B5EF4-FFF2-40B4-BE49-F238E27FC236}">
                <a16:creationId xmlns:a16="http://schemas.microsoft.com/office/drawing/2014/main" id="{C2F88F65-9332-A901-678E-362CD49730A6}"/>
              </a:ext>
            </a:extLst>
          </p:cNvPr>
          <p:cNvSpPr/>
          <p:nvPr/>
        </p:nvSpPr>
        <p:spPr>
          <a:xfrm>
            <a:off x="3341504" y="1579323"/>
            <a:ext cx="2304752" cy="619187"/>
          </a:xfrm>
          <a:prstGeom prst="rect">
            <a:avLst/>
          </a:prstGeom>
          <a:noFill/>
          <a:ln/>
        </p:spPr>
        <p:txBody>
          <a:bodyPr wrap="square" lIns="0" tIns="0" rIns="0" bIns="0" rtlCol="0" anchor="ctr"/>
          <a:lstStyle/>
          <a:p>
            <a:pPr marL="0" indent="0">
              <a:buNone/>
            </a:pPr>
            <a:r>
              <a:rPr lang="en-US" sz="1600" b="1">
                <a:solidFill>
                  <a:srgbClr val="1E2761"/>
                </a:solidFill>
                <a:latin typeface="Calibri" pitchFamily="34" charset="0"/>
                <a:ea typeface="Calibri" pitchFamily="34" charset="-122"/>
                <a:cs typeface="Calibri" pitchFamily="34" charset="-120"/>
              </a:rPr>
              <a:t>Risk score meaningfully shifts allocation</a:t>
            </a:r>
            <a:endParaRPr lang="en-US" sz="1600"/>
          </a:p>
        </p:txBody>
      </p:sp>
      <p:sp>
        <p:nvSpPr>
          <p:cNvPr id="61" name="Shape 15">
            <a:extLst>
              <a:ext uri="{FF2B5EF4-FFF2-40B4-BE49-F238E27FC236}">
                <a16:creationId xmlns:a16="http://schemas.microsoft.com/office/drawing/2014/main" id="{F6996236-1434-98CB-36D0-81DE75C899FF}"/>
              </a:ext>
            </a:extLst>
          </p:cNvPr>
          <p:cNvSpPr/>
          <p:nvPr/>
        </p:nvSpPr>
        <p:spPr>
          <a:xfrm>
            <a:off x="3341503" y="2280808"/>
            <a:ext cx="685785" cy="45719"/>
          </a:xfrm>
          <a:prstGeom prst="rect">
            <a:avLst/>
          </a:prstGeom>
          <a:solidFill>
            <a:srgbClr val="0EA5E9"/>
          </a:solidFill>
          <a:ln w="12700">
            <a:solidFill>
              <a:srgbClr val="0EA5E9"/>
            </a:solidFill>
            <a:prstDash val="solid"/>
          </a:ln>
        </p:spPr>
        <p:txBody>
          <a:bodyPr/>
          <a:lstStyle/>
          <a:p>
            <a:endParaRPr lang="en-US"/>
          </a:p>
        </p:txBody>
      </p:sp>
      <p:sp>
        <p:nvSpPr>
          <p:cNvPr id="62" name="Text 16">
            <a:extLst>
              <a:ext uri="{FF2B5EF4-FFF2-40B4-BE49-F238E27FC236}">
                <a16:creationId xmlns:a16="http://schemas.microsoft.com/office/drawing/2014/main" id="{34F801E3-1884-D36E-1C77-CCFE23042181}"/>
              </a:ext>
            </a:extLst>
          </p:cNvPr>
          <p:cNvSpPr/>
          <p:nvPr/>
        </p:nvSpPr>
        <p:spPr>
          <a:xfrm>
            <a:off x="3301151" y="2472603"/>
            <a:ext cx="2304752" cy="1209918"/>
          </a:xfrm>
          <a:prstGeom prst="rect">
            <a:avLst/>
          </a:prstGeom>
          <a:noFill/>
          <a:ln/>
        </p:spPr>
        <p:txBody>
          <a:bodyPr wrap="square" lIns="0" tIns="0" rIns="0" bIns="0" rtlCol="0" anchor="ctr"/>
          <a:lstStyle/>
          <a:p>
            <a:pPr marL="0" indent="0">
              <a:buNone/>
            </a:pPr>
            <a:r>
              <a:rPr lang="en-US" sz="1400">
                <a:solidFill>
                  <a:srgbClr val="64748B"/>
                </a:solidFill>
                <a:latin typeface="Calibri" pitchFamily="34" charset="0"/>
                <a:ea typeface="Calibri" pitchFamily="34" charset="-122"/>
                <a:cs typeface="Calibri" pitchFamily="34" charset="-120"/>
              </a:rPr>
              <a:t>A user with risk score 1 receives 70% government bonds, 30% equities. A user with risk score 5 receives 90% equities, 10% bonds. Identical inputs otherwise.</a:t>
            </a:r>
            <a:endParaRPr lang="en-US" sz="1400"/>
          </a:p>
        </p:txBody>
      </p:sp>
      <p:sp>
        <p:nvSpPr>
          <p:cNvPr id="63" name="Shape 17">
            <a:extLst>
              <a:ext uri="{FF2B5EF4-FFF2-40B4-BE49-F238E27FC236}">
                <a16:creationId xmlns:a16="http://schemas.microsoft.com/office/drawing/2014/main" id="{82658F13-6F2F-9CF6-F95B-F76D1013C30B}"/>
              </a:ext>
            </a:extLst>
          </p:cNvPr>
          <p:cNvSpPr/>
          <p:nvPr/>
        </p:nvSpPr>
        <p:spPr>
          <a:xfrm>
            <a:off x="3112904" y="3888401"/>
            <a:ext cx="2648747" cy="550389"/>
          </a:xfrm>
          <a:prstGeom prst="rect">
            <a:avLst/>
          </a:prstGeom>
          <a:solidFill>
            <a:srgbClr val="0EA5E9"/>
          </a:solidFill>
          <a:ln w="12700">
            <a:solidFill>
              <a:srgbClr val="0EA5E9"/>
            </a:solidFill>
            <a:prstDash val="solid"/>
          </a:ln>
        </p:spPr>
        <p:txBody>
          <a:bodyPr/>
          <a:lstStyle/>
          <a:p>
            <a:endParaRPr lang="en-US"/>
          </a:p>
        </p:txBody>
      </p:sp>
      <p:sp>
        <p:nvSpPr>
          <p:cNvPr id="64" name="Text 18">
            <a:extLst>
              <a:ext uri="{FF2B5EF4-FFF2-40B4-BE49-F238E27FC236}">
                <a16:creationId xmlns:a16="http://schemas.microsoft.com/office/drawing/2014/main" id="{8DBF7E46-7D92-D01C-C472-98FD148DCC4C}"/>
              </a:ext>
            </a:extLst>
          </p:cNvPr>
          <p:cNvSpPr/>
          <p:nvPr/>
        </p:nvSpPr>
        <p:spPr>
          <a:xfrm>
            <a:off x="3295784" y="3911481"/>
            <a:ext cx="1031979" cy="48159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60%</a:t>
            </a:r>
            <a:endParaRPr lang="en-US" sz="2200"/>
          </a:p>
        </p:txBody>
      </p:sp>
      <p:sp>
        <p:nvSpPr>
          <p:cNvPr id="65" name="Text 19">
            <a:extLst>
              <a:ext uri="{FF2B5EF4-FFF2-40B4-BE49-F238E27FC236}">
                <a16:creationId xmlns:a16="http://schemas.microsoft.com/office/drawing/2014/main" id="{97A72D59-1B60-0147-934A-3CBD24CE1170}"/>
              </a:ext>
            </a:extLst>
          </p:cNvPr>
          <p:cNvSpPr/>
          <p:nvPr/>
        </p:nvSpPr>
        <p:spPr>
          <a:xfrm>
            <a:off x="4720758" y="3925640"/>
            <a:ext cx="1341572" cy="481590"/>
          </a:xfrm>
          <a:prstGeom prst="rect">
            <a:avLst/>
          </a:prstGeom>
          <a:noFill/>
          <a:ln/>
        </p:spPr>
        <p:txBody>
          <a:bodyPr wrap="square" lIns="0" tIns="0" rIns="0" bIns="0" rtlCol="0" anchor="ctr"/>
          <a:lstStyle/>
          <a:p>
            <a:pPr marL="0" indent="0">
              <a:buNone/>
            </a:pPr>
            <a:r>
              <a:rPr lang="en-US" sz="1000" i="1">
                <a:solidFill>
                  <a:srgbClr val="FFFFFF"/>
                </a:solidFill>
                <a:latin typeface="Calibri" pitchFamily="34" charset="0"/>
                <a:ea typeface="Calibri" pitchFamily="34" charset="-122"/>
                <a:cs typeface="Calibri" pitchFamily="34" charset="-120"/>
              </a:rPr>
              <a:t>allocation swing</a:t>
            </a:r>
            <a:endParaRPr lang="en-US" sz="1000"/>
          </a:p>
        </p:txBody>
      </p:sp>
      <p:sp>
        <p:nvSpPr>
          <p:cNvPr id="66" name="Shape 20">
            <a:extLst>
              <a:ext uri="{FF2B5EF4-FFF2-40B4-BE49-F238E27FC236}">
                <a16:creationId xmlns:a16="http://schemas.microsoft.com/office/drawing/2014/main" id="{7587C7B3-92AA-7ECC-96B0-1654BB9432E3}"/>
              </a:ext>
            </a:extLst>
          </p:cNvPr>
          <p:cNvSpPr/>
          <p:nvPr/>
        </p:nvSpPr>
        <p:spPr>
          <a:xfrm>
            <a:off x="6040858" y="1480451"/>
            <a:ext cx="2648745" cy="2958339"/>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67" name="Text 21">
            <a:extLst>
              <a:ext uri="{FF2B5EF4-FFF2-40B4-BE49-F238E27FC236}">
                <a16:creationId xmlns:a16="http://schemas.microsoft.com/office/drawing/2014/main" id="{F239BF53-4016-E4A7-1DB9-A63BCE5E5686}"/>
              </a:ext>
            </a:extLst>
          </p:cNvPr>
          <p:cNvSpPr/>
          <p:nvPr/>
        </p:nvSpPr>
        <p:spPr>
          <a:xfrm>
            <a:off x="6269457" y="984963"/>
            <a:ext cx="687985" cy="412791"/>
          </a:xfrm>
          <a:prstGeom prst="rect">
            <a:avLst/>
          </a:prstGeom>
          <a:noFill/>
          <a:ln/>
        </p:spPr>
        <p:txBody>
          <a:bodyPr wrap="square" lIns="0" tIns="0" rIns="0" bIns="0" rtlCol="0" anchor="ctr"/>
          <a:lstStyle/>
          <a:p>
            <a:pPr marL="0" indent="0">
              <a:buNone/>
            </a:pPr>
            <a:r>
              <a:rPr lang="en-US" sz="3600" b="1">
                <a:solidFill>
                  <a:srgbClr val="A855F7"/>
                </a:solidFill>
                <a:latin typeface="Calibri" pitchFamily="34" charset="0"/>
                <a:ea typeface="Calibri" pitchFamily="34" charset="-122"/>
                <a:cs typeface="Calibri" pitchFamily="34" charset="-120"/>
              </a:rPr>
              <a:t>03</a:t>
            </a:r>
            <a:endParaRPr lang="en-US" sz="3600"/>
          </a:p>
        </p:txBody>
      </p:sp>
      <p:sp>
        <p:nvSpPr>
          <p:cNvPr id="68" name="Text 22">
            <a:extLst>
              <a:ext uri="{FF2B5EF4-FFF2-40B4-BE49-F238E27FC236}">
                <a16:creationId xmlns:a16="http://schemas.microsoft.com/office/drawing/2014/main" id="{A97AFA05-B099-2D13-FAD3-4FAF018DE69F}"/>
              </a:ext>
            </a:extLst>
          </p:cNvPr>
          <p:cNvSpPr/>
          <p:nvPr/>
        </p:nvSpPr>
        <p:spPr>
          <a:xfrm>
            <a:off x="6269458" y="1579323"/>
            <a:ext cx="2304752" cy="619187"/>
          </a:xfrm>
          <a:prstGeom prst="rect">
            <a:avLst/>
          </a:prstGeom>
          <a:noFill/>
          <a:ln/>
        </p:spPr>
        <p:txBody>
          <a:bodyPr wrap="square" lIns="0" tIns="0" rIns="0" bIns="0" rtlCol="0" anchor="ctr"/>
          <a:lstStyle/>
          <a:p>
            <a:pPr marL="0" indent="0">
              <a:buNone/>
            </a:pPr>
            <a:r>
              <a:rPr lang="en-US" sz="1600" b="1">
                <a:solidFill>
                  <a:srgbClr val="1E2761"/>
                </a:solidFill>
                <a:latin typeface="Calibri" pitchFamily="34" charset="0"/>
                <a:ea typeface="Calibri" pitchFamily="34" charset="-122"/>
                <a:cs typeface="Calibri" pitchFamily="34" charset="-120"/>
              </a:rPr>
              <a:t>Monte Carlo reveals true risk</a:t>
            </a:r>
            <a:endParaRPr lang="en-US" sz="1600"/>
          </a:p>
        </p:txBody>
      </p:sp>
      <p:sp>
        <p:nvSpPr>
          <p:cNvPr id="69" name="Shape 23">
            <a:extLst>
              <a:ext uri="{FF2B5EF4-FFF2-40B4-BE49-F238E27FC236}">
                <a16:creationId xmlns:a16="http://schemas.microsoft.com/office/drawing/2014/main" id="{CDF8F6A9-0682-DC36-9727-ABF9E2E2E402}"/>
              </a:ext>
            </a:extLst>
          </p:cNvPr>
          <p:cNvSpPr/>
          <p:nvPr/>
        </p:nvSpPr>
        <p:spPr>
          <a:xfrm>
            <a:off x="6269457" y="2280808"/>
            <a:ext cx="685785" cy="45719"/>
          </a:xfrm>
          <a:prstGeom prst="rect">
            <a:avLst/>
          </a:prstGeom>
          <a:solidFill>
            <a:srgbClr val="A855F7"/>
          </a:solidFill>
          <a:ln w="12700">
            <a:solidFill>
              <a:srgbClr val="A855F7"/>
            </a:solidFill>
            <a:prstDash val="solid"/>
          </a:ln>
        </p:spPr>
        <p:txBody>
          <a:bodyPr/>
          <a:lstStyle/>
          <a:p>
            <a:endParaRPr lang="en-US"/>
          </a:p>
        </p:txBody>
      </p:sp>
      <p:sp>
        <p:nvSpPr>
          <p:cNvPr id="70" name="Text 24">
            <a:extLst>
              <a:ext uri="{FF2B5EF4-FFF2-40B4-BE49-F238E27FC236}">
                <a16:creationId xmlns:a16="http://schemas.microsoft.com/office/drawing/2014/main" id="{46D40A28-8E56-A2C6-73D0-2DDFA2EB6E7B}"/>
              </a:ext>
            </a:extLst>
          </p:cNvPr>
          <p:cNvSpPr/>
          <p:nvPr/>
        </p:nvSpPr>
        <p:spPr>
          <a:xfrm>
            <a:off x="6223738" y="2449061"/>
            <a:ext cx="2304752" cy="1072549"/>
          </a:xfrm>
          <a:prstGeom prst="rect">
            <a:avLst/>
          </a:prstGeom>
          <a:noFill/>
          <a:ln/>
        </p:spPr>
        <p:txBody>
          <a:bodyPr wrap="square" lIns="0" tIns="0" rIns="0" bIns="0" rtlCol="0" anchor="ctr"/>
          <a:lstStyle/>
          <a:p>
            <a:pPr marL="0" indent="0">
              <a:buNone/>
            </a:pPr>
            <a:r>
              <a:rPr lang="en-US" sz="1400">
                <a:solidFill>
                  <a:srgbClr val="64748B"/>
                </a:solidFill>
                <a:latin typeface="Calibri" pitchFamily="34" charset="0"/>
                <a:ea typeface="Calibri" pitchFamily="34" charset="-122"/>
                <a:cs typeface="Calibri" pitchFamily="34" charset="-120"/>
              </a:rPr>
              <a:t>10-year £10k investments show median outcomes of £18-25k, but 10th percentile outcomes can fall below £10k. Single-line projections would hide this risk.</a:t>
            </a:r>
            <a:endParaRPr lang="en-US" sz="1400"/>
          </a:p>
        </p:txBody>
      </p:sp>
      <p:sp>
        <p:nvSpPr>
          <p:cNvPr id="71" name="Shape 25">
            <a:extLst>
              <a:ext uri="{FF2B5EF4-FFF2-40B4-BE49-F238E27FC236}">
                <a16:creationId xmlns:a16="http://schemas.microsoft.com/office/drawing/2014/main" id="{062F4270-82D9-F8CB-CBF4-8E0A38AD3510}"/>
              </a:ext>
            </a:extLst>
          </p:cNvPr>
          <p:cNvSpPr/>
          <p:nvPr/>
        </p:nvSpPr>
        <p:spPr>
          <a:xfrm>
            <a:off x="6040858" y="3888401"/>
            <a:ext cx="2648747" cy="550389"/>
          </a:xfrm>
          <a:prstGeom prst="rect">
            <a:avLst/>
          </a:prstGeom>
          <a:solidFill>
            <a:srgbClr val="A855F7"/>
          </a:solidFill>
          <a:ln w="12700">
            <a:solidFill>
              <a:srgbClr val="A855F7"/>
            </a:solidFill>
            <a:prstDash val="solid"/>
          </a:ln>
        </p:spPr>
        <p:txBody>
          <a:bodyPr/>
          <a:lstStyle/>
          <a:p>
            <a:endParaRPr lang="en-US"/>
          </a:p>
        </p:txBody>
      </p:sp>
      <p:sp>
        <p:nvSpPr>
          <p:cNvPr id="72" name="Text 26">
            <a:extLst>
              <a:ext uri="{FF2B5EF4-FFF2-40B4-BE49-F238E27FC236}">
                <a16:creationId xmlns:a16="http://schemas.microsoft.com/office/drawing/2014/main" id="{4785C4DE-A8E4-30C0-16B0-8D3703E92039}"/>
              </a:ext>
            </a:extLst>
          </p:cNvPr>
          <p:cNvSpPr/>
          <p:nvPr/>
        </p:nvSpPr>
        <p:spPr>
          <a:xfrm>
            <a:off x="6223738" y="3911481"/>
            <a:ext cx="1031979" cy="48159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5–95%</a:t>
            </a:r>
            <a:endParaRPr lang="en-US" sz="2200"/>
          </a:p>
        </p:txBody>
      </p:sp>
      <p:sp>
        <p:nvSpPr>
          <p:cNvPr id="73" name="Text 27">
            <a:extLst>
              <a:ext uri="{FF2B5EF4-FFF2-40B4-BE49-F238E27FC236}">
                <a16:creationId xmlns:a16="http://schemas.microsoft.com/office/drawing/2014/main" id="{C453CBDA-2C62-3D37-041F-AEBF4311E9B4}"/>
              </a:ext>
            </a:extLst>
          </p:cNvPr>
          <p:cNvSpPr/>
          <p:nvPr/>
        </p:nvSpPr>
        <p:spPr>
          <a:xfrm>
            <a:off x="7394188" y="3925640"/>
            <a:ext cx="1341572" cy="481590"/>
          </a:xfrm>
          <a:prstGeom prst="rect">
            <a:avLst/>
          </a:prstGeom>
          <a:noFill/>
          <a:ln/>
        </p:spPr>
        <p:txBody>
          <a:bodyPr wrap="square" lIns="0" tIns="0" rIns="0" bIns="0" rtlCol="0" anchor="ctr"/>
          <a:lstStyle/>
          <a:p>
            <a:pPr marL="0" indent="0">
              <a:buNone/>
            </a:pPr>
            <a:r>
              <a:rPr lang="en-US" sz="1000" i="1">
                <a:solidFill>
                  <a:srgbClr val="FFFFFF"/>
                </a:solidFill>
                <a:latin typeface="Calibri" pitchFamily="34" charset="0"/>
                <a:ea typeface="Calibri" pitchFamily="34" charset="-122"/>
                <a:cs typeface="Calibri" pitchFamily="34" charset="-120"/>
              </a:rPr>
              <a:t>outcome range shown</a:t>
            </a:r>
            <a:endParaRPr lang="en-US" sz="1000"/>
          </a:p>
        </p:txBody>
      </p:sp>
    </p:spTree>
    <p:extLst>
      <p:ext uri="{BB962C8B-B14F-4D97-AF65-F5344CB8AC3E}">
        <p14:creationId xmlns:p14="http://schemas.microsoft.com/office/powerpoint/2010/main" val="1342885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CAC0-4E36-C47F-7FFC-0D463F6AED9F}"/>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44279566-D832-8F47-513A-32A2DB490C4F}"/>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75FEBE78-D581-8830-87B7-62BA76D854FA}"/>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0EA5E9"/>
                </a:solidFill>
                <a:latin typeface="Calibri" pitchFamily="34" charset="0"/>
                <a:ea typeface="Calibri" pitchFamily="34" charset="-122"/>
                <a:cs typeface="Calibri" pitchFamily="34" charset="-120"/>
              </a:rPr>
              <a:t>03  ·  Methods Used</a:t>
            </a:r>
            <a:endParaRPr lang="en-GB" sz="1000" noProof="0">
              <a:solidFill>
                <a:srgbClr val="0EA5E9"/>
              </a:solidFill>
            </a:endParaRPr>
          </a:p>
        </p:txBody>
      </p:sp>
      <p:sp>
        <p:nvSpPr>
          <p:cNvPr id="6" name="Text 2">
            <a:extLst>
              <a:ext uri="{FF2B5EF4-FFF2-40B4-BE49-F238E27FC236}">
                <a16:creationId xmlns:a16="http://schemas.microsoft.com/office/drawing/2014/main" id="{91E56F7E-DADD-5156-F8E6-5862778EFB23}"/>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Validation: Model vs Excel Reference</a:t>
            </a:r>
            <a:endParaRPr lang="en-US" sz="3000"/>
          </a:p>
        </p:txBody>
      </p:sp>
      <p:sp>
        <p:nvSpPr>
          <p:cNvPr id="7" name="Shape 3">
            <a:extLst>
              <a:ext uri="{FF2B5EF4-FFF2-40B4-BE49-F238E27FC236}">
                <a16:creationId xmlns:a16="http://schemas.microsoft.com/office/drawing/2014/main" id="{A7712762-3332-14E9-CDD6-1908B0C8ACAB}"/>
              </a:ext>
            </a:extLst>
          </p:cNvPr>
          <p:cNvSpPr/>
          <p:nvPr/>
        </p:nvSpPr>
        <p:spPr>
          <a:xfrm>
            <a:off x="1640335" y="816662"/>
            <a:ext cx="548640" cy="45720"/>
          </a:xfrm>
          <a:prstGeom prst="rect">
            <a:avLst/>
          </a:prstGeom>
          <a:solidFill>
            <a:srgbClr val="0EA5E9"/>
          </a:solidFill>
          <a:ln w="12700">
            <a:solidFill>
              <a:srgbClr val="0EA5E9"/>
            </a:solidFill>
            <a:prstDash val="solid"/>
          </a:ln>
        </p:spPr>
        <p:txBody>
          <a:bodyPr/>
          <a:lstStyle/>
          <a:p>
            <a:endParaRPr lang="en-GB" noProof="0"/>
          </a:p>
        </p:txBody>
      </p:sp>
      <p:sp>
        <p:nvSpPr>
          <p:cNvPr id="8" name="Shape 0">
            <a:extLst>
              <a:ext uri="{FF2B5EF4-FFF2-40B4-BE49-F238E27FC236}">
                <a16:creationId xmlns:a16="http://schemas.microsoft.com/office/drawing/2014/main" id="{09A04C2F-E3A6-C30E-DC0F-C9E41F2D2720}"/>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
        <p:nvSpPr>
          <p:cNvPr id="11" name="Text 4">
            <a:extLst>
              <a:ext uri="{FF2B5EF4-FFF2-40B4-BE49-F238E27FC236}">
                <a16:creationId xmlns:a16="http://schemas.microsoft.com/office/drawing/2014/main" id="{8B9FE6EA-3634-87B4-0362-AB4C053ECF70}"/>
              </a:ext>
            </a:extLst>
          </p:cNvPr>
          <p:cNvSpPr/>
          <p:nvPr/>
        </p:nvSpPr>
        <p:spPr>
          <a:xfrm>
            <a:off x="183233" y="935814"/>
            <a:ext cx="10972800" cy="365760"/>
          </a:xfrm>
          <a:prstGeom prst="rect">
            <a:avLst/>
          </a:prstGeom>
          <a:noFill/>
          <a:ln/>
        </p:spPr>
        <p:txBody>
          <a:bodyPr wrap="square" lIns="0" tIns="0" rIns="0" bIns="0" rtlCol="0" anchor="ctr"/>
          <a:lstStyle/>
          <a:p>
            <a:pPr marL="0" indent="0">
              <a:buNone/>
            </a:pPr>
            <a:r>
              <a:rPr lang="en-US" sz="1400" i="1">
                <a:solidFill>
                  <a:srgbClr val="64748B"/>
                </a:solidFill>
                <a:latin typeface="Calibri" pitchFamily="34" charset="0"/>
                <a:ea typeface="Calibri" pitchFamily="34" charset="-122"/>
                <a:cs typeface="Calibri" pitchFamily="34" charset="-120"/>
              </a:rPr>
              <a:t>We cross-checked every output against an independently built Excel reference model.</a:t>
            </a:r>
            <a:endParaRPr lang="en-US" sz="1400"/>
          </a:p>
        </p:txBody>
      </p:sp>
      <p:sp>
        <p:nvSpPr>
          <p:cNvPr id="12" name="Shape 5">
            <a:extLst>
              <a:ext uri="{FF2B5EF4-FFF2-40B4-BE49-F238E27FC236}">
                <a16:creationId xmlns:a16="http://schemas.microsoft.com/office/drawing/2014/main" id="{9E192816-9FCF-75D9-684F-F116001AB81D}"/>
              </a:ext>
            </a:extLst>
          </p:cNvPr>
          <p:cNvSpPr/>
          <p:nvPr/>
        </p:nvSpPr>
        <p:spPr>
          <a:xfrm>
            <a:off x="183233" y="1295443"/>
            <a:ext cx="1922640" cy="1484143"/>
          </a:xfrm>
          <a:prstGeom prst="rect">
            <a:avLst/>
          </a:prstGeom>
          <a:solidFill>
            <a:srgbClr val="FFFFFF"/>
          </a:solidFill>
          <a:ln w="25400">
            <a:solidFill>
              <a:srgbClr val="22C55E"/>
            </a:solidFill>
            <a:prstDash val="solid"/>
          </a:ln>
          <a:effectLst>
            <a:outerShdw blurRad="101600" dist="25400" dir="5400000" algn="bl" rotWithShape="0">
              <a:srgbClr val="000000">
                <a:alpha val="8000"/>
              </a:srgbClr>
            </a:outerShdw>
          </a:effectLst>
        </p:spPr>
        <p:txBody>
          <a:bodyPr/>
          <a:lstStyle/>
          <a:p>
            <a:endParaRPr lang="en-US"/>
          </a:p>
        </p:txBody>
      </p:sp>
      <p:sp>
        <p:nvSpPr>
          <p:cNvPr id="13" name="Text 6">
            <a:extLst>
              <a:ext uri="{FF2B5EF4-FFF2-40B4-BE49-F238E27FC236}">
                <a16:creationId xmlns:a16="http://schemas.microsoft.com/office/drawing/2014/main" id="{EAE04F12-7A56-1F3A-2596-A4426D938F17}"/>
              </a:ext>
            </a:extLst>
          </p:cNvPr>
          <p:cNvSpPr/>
          <p:nvPr/>
        </p:nvSpPr>
        <p:spPr>
          <a:xfrm>
            <a:off x="183233" y="1385637"/>
            <a:ext cx="1922639" cy="607149"/>
          </a:xfrm>
          <a:prstGeom prst="rect">
            <a:avLst/>
          </a:prstGeom>
          <a:noFill/>
          <a:ln/>
        </p:spPr>
        <p:txBody>
          <a:bodyPr wrap="square" lIns="0" tIns="0" rIns="0" bIns="0" rtlCol="0" anchor="ctr"/>
          <a:lstStyle/>
          <a:p>
            <a:pPr marL="0" indent="0" algn="ctr">
              <a:buNone/>
            </a:pPr>
            <a:r>
              <a:rPr lang="en-US" sz="5000" b="1">
                <a:solidFill>
                  <a:srgbClr val="22C55E"/>
                </a:solidFill>
                <a:latin typeface="Calibri" pitchFamily="34" charset="0"/>
                <a:ea typeface="Calibri" pitchFamily="34" charset="-122"/>
                <a:cs typeface="Calibri" pitchFamily="34" charset="-120"/>
              </a:rPr>
              <a:t>&lt;0.5%</a:t>
            </a:r>
            <a:endParaRPr lang="en-US" sz="5000"/>
          </a:p>
        </p:txBody>
      </p:sp>
      <p:sp>
        <p:nvSpPr>
          <p:cNvPr id="14" name="Text 7">
            <a:extLst>
              <a:ext uri="{FF2B5EF4-FFF2-40B4-BE49-F238E27FC236}">
                <a16:creationId xmlns:a16="http://schemas.microsoft.com/office/drawing/2014/main" id="{D547F7F6-07C0-38EC-BC30-0FDE287B57B9}"/>
              </a:ext>
            </a:extLst>
          </p:cNvPr>
          <p:cNvSpPr/>
          <p:nvPr/>
        </p:nvSpPr>
        <p:spPr>
          <a:xfrm>
            <a:off x="309555" y="2012045"/>
            <a:ext cx="1720256" cy="269844"/>
          </a:xfrm>
          <a:prstGeom prst="rect">
            <a:avLst/>
          </a:prstGeom>
          <a:noFill/>
          <a:ln/>
        </p:spPr>
        <p:txBody>
          <a:bodyPr wrap="square" lIns="0" tIns="0" rIns="0" bIns="0" rtlCol="0" anchor="ctr"/>
          <a:lstStyle/>
          <a:p>
            <a:pPr marL="0" indent="0" algn="ctr">
              <a:buNone/>
            </a:pPr>
            <a:r>
              <a:rPr lang="en-US" sz="1300" b="1">
                <a:solidFill>
                  <a:srgbClr val="1E2761"/>
                </a:solidFill>
                <a:latin typeface="Calibri" pitchFamily="34" charset="0"/>
                <a:ea typeface="Calibri" pitchFamily="34" charset="-122"/>
                <a:cs typeface="Calibri" pitchFamily="34" charset="-120"/>
              </a:rPr>
              <a:t>Maximum deviation</a:t>
            </a:r>
            <a:endParaRPr lang="en-US" sz="1300"/>
          </a:p>
        </p:txBody>
      </p:sp>
      <p:sp>
        <p:nvSpPr>
          <p:cNvPr id="40" name="Text 8">
            <a:extLst>
              <a:ext uri="{FF2B5EF4-FFF2-40B4-BE49-F238E27FC236}">
                <a16:creationId xmlns:a16="http://schemas.microsoft.com/office/drawing/2014/main" id="{29869C4C-EBB7-2C67-95D6-C9084DDDC0E3}"/>
              </a:ext>
            </a:extLst>
          </p:cNvPr>
          <p:cNvSpPr/>
          <p:nvPr/>
        </p:nvSpPr>
        <p:spPr>
          <a:xfrm>
            <a:off x="309554" y="2294016"/>
            <a:ext cx="1720257" cy="438497"/>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between our model and the Excel reference across all tested portfolios</a:t>
            </a:r>
            <a:endParaRPr lang="en-US" sz="1000"/>
          </a:p>
        </p:txBody>
      </p:sp>
      <p:sp>
        <p:nvSpPr>
          <p:cNvPr id="41" name="Shape 9">
            <a:extLst>
              <a:ext uri="{FF2B5EF4-FFF2-40B4-BE49-F238E27FC236}">
                <a16:creationId xmlns:a16="http://schemas.microsoft.com/office/drawing/2014/main" id="{C1BB1944-7FCA-DCC2-B4CD-ABA8DE85B4EF}"/>
              </a:ext>
            </a:extLst>
          </p:cNvPr>
          <p:cNvSpPr/>
          <p:nvPr/>
        </p:nvSpPr>
        <p:spPr>
          <a:xfrm>
            <a:off x="2307317" y="1295443"/>
            <a:ext cx="1922640" cy="1484143"/>
          </a:xfrm>
          <a:prstGeom prst="rect">
            <a:avLst/>
          </a:prstGeom>
          <a:solidFill>
            <a:srgbClr val="FFFFFF"/>
          </a:solidFill>
          <a:ln w="25400">
            <a:solidFill>
              <a:srgbClr val="0EA5E9"/>
            </a:solidFill>
            <a:prstDash val="solid"/>
          </a:ln>
          <a:effectLst>
            <a:outerShdw blurRad="101600" dist="25400" dir="5400000" algn="bl" rotWithShape="0">
              <a:srgbClr val="000000">
                <a:alpha val="8000"/>
              </a:srgbClr>
            </a:outerShdw>
          </a:effectLst>
        </p:spPr>
        <p:txBody>
          <a:bodyPr/>
          <a:lstStyle/>
          <a:p>
            <a:endParaRPr lang="en-US"/>
          </a:p>
        </p:txBody>
      </p:sp>
      <p:sp>
        <p:nvSpPr>
          <p:cNvPr id="42" name="Text 10">
            <a:extLst>
              <a:ext uri="{FF2B5EF4-FFF2-40B4-BE49-F238E27FC236}">
                <a16:creationId xmlns:a16="http://schemas.microsoft.com/office/drawing/2014/main" id="{5B8C012C-6B57-D9E0-B5E1-7EB739858886}"/>
              </a:ext>
            </a:extLst>
          </p:cNvPr>
          <p:cNvSpPr/>
          <p:nvPr/>
        </p:nvSpPr>
        <p:spPr>
          <a:xfrm>
            <a:off x="2307317" y="1385637"/>
            <a:ext cx="1922639" cy="607149"/>
          </a:xfrm>
          <a:prstGeom prst="rect">
            <a:avLst/>
          </a:prstGeom>
          <a:noFill/>
          <a:ln/>
        </p:spPr>
        <p:txBody>
          <a:bodyPr wrap="square" lIns="0" tIns="0" rIns="0" bIns="0" rtlCol="0" anchor="ctr"/>
          <a:lstStyle/>
          <a:p>
            <a:pPr marL="0" indent="0" algn="ctr">
              <a:buNone/>
            </a:pPr>
            <a:r>
              <a:rPr lang="en-US" sz="5000" b="1">
                <a:solidFill>
                  <a:srgbClr val="0EA5E9"/>
                </a:solidFill>
                <a:latin typeface="Calibri" pitchFamily="34" charset="0"/>
                <a:ea typeface="Calibri" pitchFamily="34" charset="-122"/>
                <a:cs typeface="Calibri" pitchFamily="34" charset="-120"/>
              </a:rPr>
              <a:t>100%</a:t>
            </a:r>
            <a:endParaRPr lang="en-US" sz="5000"/>
          </a:p>
        </p:txBody>
      </p:sp>
      <p:sp>
        <p:nvSpPr>
          <p:cNvPr id="43" name="Text 11">
            <a:extLst>
              <a:ext uri="{FF2B5EF4-FFF2-40B4-BE49-F238E27FC236}">
                <a16:creationId xmlns:a16="http://schemas.microsoft.com/office/drawing/2014/main" id="{C951A3C2-89D2-3B2F-90D3-1EC473653AC8}"/>
              </a:ext>
            </a:extLst>
          </p:cNvPr>
          <p:cNvSpPr/>
          <p:nvPr/>
        </p:nvSpPr>
        <p:spPr>
          <a:xfrm>
            <a:off x="2433639" y="2012045"/>
            <a:ext cx="1720256" cy="269844"/>
          </a:xfrm>
          <a:prstGeom prst="rect">
            <a:avLst/>
          </a:prstGeom>
          <a:noFill/>
          <a:ln/>
        </p:spPr>
        <p:txBody>
          <a:bodyPr wrap="square" lIns="0" tIns="0" rIns="0" bIns="0" rtlCol="0" anchor="ctr"/>
          <a:lstStyle/>
          <a:p>
            <a:pPr marL="0" indent="0" algn="ctr">
              <a:buNone/>
            </a:pPr>
            <a:r>
              <a:rPr lang="en-US" sz="1300" b="1">
                <a:solidFill>
                  <a:srgbClr val="1E2761"/>
                </a:solidFill>
                <a:latin typeface="Calibri" pitchFamily="34" charset="0"/>
                <a:ea typeface="Calibri" pitchFamily="34" charset="-122"/>
                <a:cs typeface="Calibri" pitchFamily="34" charset="-120"/>
              </a:rPr>
              <a:t>Test coverage</a:t>
            </a:r>
            <a:endParaRPr lang="en-US" sz="1300"/>
          </a:p>
        </p:txBody>
      </p:sp>
      <p:sp>
        <p:nvSpPr>
          <p:cNvPr id="44" name="Text 12">
            <a:extLst>
              <a:ext uri="{FF2B5EF4-FFF2-40B4-BE49-F238E27FC236}">
                <a16:creationId xmlns:a16="http://schemas.microsoft.com/office/drawing/2014/main" id="{209C55DA-6AA0-C295-4909-101E01DF704E}"/>
              </a:ext>
            </a:extLst>
          </p:cNvPr>
          <p:cNvSpPr/>
          <p:nvPr/>
        </p:nvSpPr>
        <p:spPr>
          <a:xfrm>
            <a:off x="2433638" y="2294016"/>
            <a:ext cx="1720257" cy="438497"/>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all 9 sectors and 30+ tickers tested across multiple risk profiles</a:t>
            </a:r>
            <a:endParaRPr lang="en-US" sz="1000"/>
          </a:p>
        </p:txBody>
      </p:sp>
      <p:sp>
        <p:nvSpPr>
          <p:cNvPr id="45" name="Shape 13">
            <a:extLst>
              <a:ext uri="{FF2B5EF4-FFF2-40B4-BE49-F238E27FC236}">
                <a16:creationId xmlns:a16="http://schemas.microsoft.com/office/drawing/2014/main" id="{DC8AE0A0-4EC4-9D52-C008-939DDE893217}"/>
              </a:ext>
            </a:extLst>
          </p:cNvPr>
          <p:cNvSpPr/>
          <p:nvPr/>
        </p:nvSpPr>
        <p:spPr>
          <a:xfrm>
            <a:off x="4431400" y="1295443"/>
            <a:ext cx="1922640" cy="1484143"/>
          </a:xfrm>
          <a:prstGeom prst="rect">
            <a:avLst/>
          </a:prstGeom>
          <a:solidFill>
            <a:srgbClr val="FFFFFF"/>
          </a:solidFill>
          <a:ln w="25400">
            <a:solidFill>
              <a:srgbClr val="A855F7"/>
            </a:solidFill>
            <a:prstDash val="solid"/>
          </a:ln>
          <a:effectLst>
            <a:outerShdw blurRad="101600" dist="25400" dir="5400000" algn="bl" rotWithShape="0">
              <a:srgbClr val="000000">
                <a:alpha val="8000"/>
              </a:srgbClr>
            </a:outerShdw>
          </a:effectLst>
        </p:spPr>
        <p:txBody>
          <a:bodyPr/>
          <a:lstStyle/>
          <a:p>
            <a:endParaRPr lang="en-US"/>
          </a:p>
        </p:txBody>
      </p:sp>
      <p:sp>
        <p:nvSpPr>
          <p:cNvPr id="46" name="Text 14">
            <a:extLst>
              <a:ext uri="{FF2B5EF4-FFF2-40B4-BE49-F238E27FC236}">
                <a16:creationId xmlns:a16="http://schemas.microsoft.com/office/drawing/2014/main" id="{A30A4628-7F3E-F9F4-2FFC-410FF82C830C}"/>
              </a:ext>
            </a:extLst>
          </p:cNvPr>
          <p:cNvSpPr/>
          <p:nvPr/>
        </p:nvSpPr>
        <p:spPr>
          <a:xfrm>
            <a:off x="4431400" y="1385637"/>
            <a:ext cx="1922639" cy="607149"/>
          </a:xfrm>
          <a:prstGeom prst="rect">
            <a:avLst/>
          </a:prstGeom>
          <a:noFill/>
          <a:ln/>
        </p:spPr>
        <p:txBody>
          <a:bodyPr wrap="square" lIns="0" tIns="0" rIns="0" bIns="0" rtlCol="0" anchor="ctr"/>
          <a:lstStyle/>
          <a:p>
            <a:pPr marL="0" indent="0" algn="ctr">
              <a:buNone/>
            </a:pPr>
            <a:r>
              <a:rPr lang="en-US" sz="5000" b="1">
                <a:solidFill>
                  <a:srgbClr val="A855F7"/>
                </a:solidFill>
                <a:latin typeface="Calibri" pitchFamily="34" charset="0"/>
                <a:ea typeface="Calibri" pitchFamily="34" charset="-122"/>
                <a:cs typeface="Calibri" pitchFamily="34" charset="-120"/>
              </a:rPr>
              <a:t>2</a:t>
            </a:r>
            <a:endParaRPr lang="en-US" sz="5000"/>
          </a:p>
        </p:txBody>
      </p:sp>
      <p:sp>
        <p:nvSpPr>
          <p:cNvPr id="47" name="Text 15">
            <a:extLst>
              <a:ext uri="{FF2B5EF4-FFF2-40B4-BE49-F238E27FC236}">
                <a16:creationId xmlns:a16="http://schemas.microsoft.com/office/drawing/2014/main" id="{DEFCD9F0-CE16-5FD9-AD5F-BAB7C7ECE9DA}"/>
              </a:ext>
            </a:extLst>
          </p:cNvPr>
          <p:cNvSpPr/>
          <p:nvPr/>
        </p:nvSpPr>
        <p:spPr>
          <a:xfrm>
            <a:off x="4557722" y="2012045"/>
            <a:ext cx="1720256" cy="269844"/>
          </a:xfrm>
          <a:prstGeom prst="rect">
            <a:avLst/>
          </a:prstGeom>
          <a:noFill/>
          <a:ln/>
        </p:spPr>
        <p:txBody>
          <a:bodyPr wrap="square" lIns="0" tIns="0" rIns="0" bIns="0" rtlCol="0" anchor="ctr"/>
          <a:lstStyle/>
          <a:p>
            <a:pPr marL="0" indent="0" algn="ctr">
              <a:buNone/>
            </a:pPr>
            <a:r>
              <a:rPr lang="en-US" sz="1300" b="1">
                <a:solidFill>
                  <a:srgbClr val="1E2761"/>
                </a:solidFill>
                <a:latin typeface="Calibri" pitchFamily="34" charset="0"/>
                <a:ea typeface="Calibri" pitchFamily="34" charset="-122"/>
                <a:cs typeface="Calibri" pitchFamily="34" charset="-120"/>
              </a:rPr>
              <a:t>Validation stages</a:t>
            </a:r>
            <a:endParaRPr lang="en-US" sz="1300"/>
          </a:p>
        </p:txBody>
      </p:sp>
      <p:sp>
        <p:nvSpPr>
          <p:cNvPr id="48" name="Text 16">
            <a:extLst>
              <a:ext uri="{FF2B5EF4-FFF2-40B4-BE49-F238E27FC236}">
                <a16:creationId xmlns:a16="http://schemas.microsoft.com/office/drawing/2014/main" id="{246F5259-5162-425C-1F28-C787137F908B}"/>
              </a:ext>
            </a:extLst>
          </p:cNvPr>
          <p:cNvSpPr/>
          <p:nvPr/>
        </p:nvSpPr>
        <p:spPr>
          <a:xfrm>
            <a:off x="4557721" y="2294016"/>
            <a:ext cx="1720257" cy="438497"/>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small subset test, then full asset universe with realistic inputs</a:t>
            </a:r>
            <a:endParaRPr lang="en-US" sz="1000"/>
          </a:p>
        </p:txBody>
      </p:sp>
      <p:sp>
        <p:nvSpPr>
          <p:cNvPr id="49" name="Shape 17">
            <a:extLst>
              <a:ext uri="{FF2B5EF4-FFF2-40B4-BE49-F238E27FC236}">
                <a16:creationId xmlns:a16="http://schemas.microsoft.com/office/drawing/2014/main" id="{E556DC39-0A86-BA92-1BE9-071DC23CB87A}"/>
              </a:ext>
            </a:extLst>
          </p:cNvPr>
          <p:cNvSpPr/>
          <p:nvPr/>
        </p:nvSpPr>
        <p:spPr>
          <a:xfrm>
            <a:off x="6555482" y="1295443"/>
            <a:ext cx="1922640" cy="1484143"/>
          </a:xfrm>
          <a:prstGeom prst="rect">
            <a:avLst/>
          </a:prstGeom>
          <a:solidFill>
            <a:srgbClr val="FFFFFF"/>
          </a:solidFill>
          <a:ln w="25400">
            <a:solidFill>
              <a:srgbClr val="F59E0B"/>
            </a:solidFill>
            <a:prstDash val="solid"/>
          </a:ln>
          <a:effectLst>
            <a:outerShdw blurRad="101600" dist="25400" dir="5400000" algn="bl" rotWithShape="0">
              <a:srgbClr val="000000">
                <a:alpha val="8000"/>
              </a:srgbClr>
            </a:outerShdw>
          </a:effectLst>
        </p:spPr>
        <p:txBody>
          <a:bodyPr/>
          <a:lstStyle/>
          <a:p>
            <a:endParaRPr lang="en-US"/>
          </a:p>
        </p:txBody>
      </p:sp>
      <p:sp>
        <p:nvSpPr>
          <p:cNvPr id="50" name="Text 18">
            <a:extLst>
              <a:ext uri="{FF2B5EF4-FFF2-40B4-BE49-F238E27FC236}">
                <a16:creationId xmlns:a16="http://schemas.microsoft.com/office/drawing/2014/main" id="{9669DB21-C8B7-420C-D547-CEF7D0160870}"/>
              </a:ext>
            </a:extLst>
          </p:cNvPr>
          <p:cNvSpPr/>
          <p:nvPr/>
        </p:nvSpPr>
        <p:spPr>
          <a:xfrm>
            <a:off x="6555482" y="1385637"/>
            <a:ext cx="1922639" cy="607149"/>
          </a:xfrm>
          <a:prstGeom prst="rect">
            <a:avLst/>
          </a:prstGeom>
          <a:noFill/>
          <a:ln/>
        </p:spPr>
        <p:txBody>
          <a:bodyPr wrap="square" lIns="0" tIns="0" rIns="0" bIns="0" rtlCol="0" anchor="ctr"/>
          <a:lstStyle/>
          <a:p>
            <a:pPr marL="0" indent="0" algn="ctr">
              <a:buNone/>
            </a:pPr>
            <a:r>
              <a:rPr lang="en-US" sz="5000" b="1">
                <a:solidFill>
                  <a:srgbClr val="F59E0B"/>
                </a:solidFill>
                <a:latin typeface="Calibri" pitchFamily="34" charset="0"/>
                <a:ea typeface="Calibri" pitchFamily="34" charset="-122"/>
                <a:cs typeface="Calibri" pitchFamily="34" charset="-120"/>
              </a:rPr>
              <a:t>✓</a:t>
            </a:r>
            <a:endParaRPr lang="en-US" sz="5000"/>
          </a:p>
        </p:txBody>
      </p:sp>
      <p:sp>
        <p:nvSpPr>
          <p:cNvPr id="51" name="Text 19">
            <a:extLst>
              <a:ext uri="{FF2B5EF4-FFF2-40B4-BE49-F238E27FC236}">
                <a16:creationId xmlns:a16="http://schemas.microsoft.com/office/drawing/2014/main" id="{DD3C33CF-744C-55D4-5025-8B3362242F56}"/>
              </a:ext>
            </a:extLst>
          </p:cNvPr>
          <p:cNvSpPr/>
          <p:nvPr/>
        </p:nvSpPr>
        <p:spPr>
          <a:xfrm>
            <a:off x="6681804" y="2012045"/>
            <a:ext cx="1720256" cy="269844"/>
          </a:xfrm>
          <a:prstGeom prst="rect">
            <a:avLst/>
          </a:prstGeom>
          <a:noFill/>
          <a:ln/>
        </p:spPr>
        <p:txBody>
          <a:bodyPr wrap="square" lIns="0" tIns="0" rIns="0" bIns="0" rtlCol="0" anchor="ctr"/>
          <a:lstStyle/>
          <a:p>
            <a:pPr marL="0" indent="0" algn="ctr">
              <a:buNone/>
            </a:pPr>
            <a:r>
              <a:rPr lang="en-US" sz="1300" b="1">
                <a:solidFill>
                  <a:srgbClr val="1E2761"/>
                </a:solidFill>
                <a:latin typeface="Calibri" pitchFamily="34" charset="0"/>
                <a:ea typeface="Calibri" pitchFamily="34" charset="-122"/>
                <a:cs typeface="Calibri" pitchFamily="34" charset="-120"/>
              </a:rPr>
              <a:t>Sign-off</a:t>
            </a:r>
            <a:endParaRPr lang="en-US" sz="1300"/>
          </a:p>
        </p:txBody>
      </p:sp>
      <p:sp>
        <p:nvSpPr>
          <p:cNvPr id="52" name="Text 20">
            <a:extLst>
              <a:ext uri="{FF2B5EF4-FFF2-40B4-BE49-F238E27FC236}">
                <a16:creationId xmlns:a16="http://schemas.microsoft.com/office/drawing/2014/main" id="{43050911-CDF5-1730-3365-7796BBD9528E}"/>
              </a:ext>
            </a:extLst>
          </p:cNvPr>
          <p:cNvSpPr/>
          <p:nvPr/>
        </p:nvSpPr>
        <p:spPr>
          <a:xfrm>
            <a:off x="6681803" y="2294016"/>
            <a:ext cx="1720257" cy="438497"/>
          </a:xfrm>
          <a:prstGeom prst="rect">
            <a:avLst/>
          </a:prstGeom>
          <a:noFill/>
          <a:ln/>
        </p:spPr>
        <p:txBody>
          <a:bodyPr wrap="square" lIns="0" tIns="0" rIns="0" bIns="0" rtlCol="0" anchor="ctr"/>
          <a:lstStyle/>
          <a:p>
            <a:pPr marL="0" indent="0" algn="ctr">
              <a:buNone/>
            </a:pPr>
            <a:r>
              <a:rPr lang="en-US" sz="1000">
                <a:solidFill>
                  <a:srgbClr val="64748B"/>
                </a:solidFill>
                <a:latin typeface="Calibri" pitchFamily="34" charset="0"/>
                <a:ea typeface="Calibri" pitchFamily="34" charset="-122"/>
                <a:cs typeface="Calibri" pitchFamily="34" charset="-120"/>
              </a:rPr>
              <a:t>model approved for production deployment after validation report</a:t>
            </a:r>
            <a:endParaRPr lang="en-US" sz="1000"/>
          </a:p>
        </p:txBody>
      </p:sp>
      <p:sp>
        <p:nvSpPr>
          <p:cNvPr id="53" name="Text 21">
            <a:extLst>
              <a:ext uri="{FF2B5EF4-FFF2-40B4-BE49-F238E27FC236}">
                <a16:creationId xmlns:a16="http://schemas.microsoft.com/office/drawing/2014/main" id="{33408CA4-1FE6-B720-D0EF-953B5C2F9DAA}"/>
              </a:ext>
            </a:extLst>
          </p:cNvPr>
          <p:cNvSpPr/>
          <p:nvPr/>
        </p:nvSpPr>
        <p:spPr>
          <a:xfrm>
            <a:off x="183233" y="2892242"/>
            <a:ext cx="10972800" cy="320040"/>
          </a:xfrm>
          <a:prstGeom prst="rect">
            <a:avLst/>
          </a:prstGeom>
          <a:noFill/>
          <a:ln/>
        </p:spPr>
        <p:txBody>
          <a:bodyPr wrap="square" lIns="0" tIns="0" rIns="0" bIns="0" rtlCol="0" anchor="ctr"/>
          <a:lstStyle/>
          <a:p>
            <a:pPr marL="0" indent="0">
              <a:buNone/>
            </a:pPr>
            <a:r>
              <a:rPr lang="en-US" sz="1400" b="1" kern="0" spc="300">
                <a:solidFill>
                  <a:srgbClr val="22C55E"/>
                </a:solidFill>
                <a:latin typeface="Calibri" pitchFamily="34" charset="0"/>
                <a:ea typeface="Calibri" pitchFamily="34" charset="-122"/>
                <a:cs typeface="Calibri" pitchFamily="34" charset="-120"/>
              </a:rPr>
              <a:t>EXAMPLE: MODERATE RISK PORTFOLIO  (£10,000  ·  60 months  ·  All sectors)</a:t>
            </a:r>
            <a:endParaRPr lang="en-US" sz="1400"/>
          </a:p>
        </p:txBody>
      </p:sp>
      <p:graphicFrame>
        <p:nvGraphicFramePr>
          <p:cNvPr id="96" name="Table 95">
            <a:extLst>
              <a:ext uri="{FF2B5EF4-FFF2-40B4-BE49-F238E27FC236}">
                <a16:creationId xmlns:a16="http://schemas.microsoft.com/office/drawing/2014/main" id="{455A8F40-A6FA-7BF0-81FE-05975EF429C7}"/>
              </a:ext>
            </a:extLst>
          </p:cNvPr>
          <p:cNvGraphicFramePr>
            <a:graphicFrameLocks noGrp="1"/>
          </p:cNvGraphicFramePr>
          <p:nvPr>
            <p:extLst>
              <p:ext uri="{D42A27DB-BD31-4B8C-83A1-F6EECF244321}">
                <p14:modId xmlns:p14="http://schemas.microsoft.com/office/powerpoint/2010/main" val="3528642962"/>
              </p:ext>
            </p:extLst>
          </p:nvPr>
        </p:nvGraphicFramePr>
        <p:xfrm>
          <a:off x="183233" y="3201896"/>
          <a:ext cx="8294888" cy="1676400"/>
        </p:xfrm>
        <a:graphic>
          <a:graphicData uri="http://schemas.openxmlformats.org/drawingml/2006/table">
            <a:tbl>
              <a:tblPr firstRow="1" bandRow="1">
                <a:tableStyleId>{5C22544A-7EE6-4342-B048-85BDC9FD1C3A}</a:tableStyleId>
              </a:tblPr>
              <a:tblGrid>
                <a:gridCol w="2271209">
                  <a:extLst>
                    <a:ext uri="{9D8B030D-6E8A-4147-A177-3AD203B41FA5}">
                      <a16:colId xmlns:a16="http://schemas.microsoft.com/office/drawing/2014/main" val="2768103276"/>
                    </a:ext>
                  </a:extLst>
                </a:gridCol>
                <a:gridCol w="2245895">
                  <a:extLst>
                    <a:ext uri="{9D8B030D-6E8A-4147-A177-3AD203B41FA5}">
                      <a16:colId xmlns:a16="http://schemas.microsoft.com/office/drawing/2014/main" val="702046037"/>
                    </a:ext>
                  </a:extLst>
                </a:gridCol>
                <a:gridCol w="1828800">
                  <a:extLst>
                    <a:ext uri="{9D8B030D-6E8A-4147-A177-3AD203B41FA5}">
                      <a16:colId xmlns:a16="http://schemas.microsoft.com/office/drawing/2014/main" val="3991590800"/>
                    </a:ext>
                  </a:extLst>
                </a:gridCol>
                <a:gridCol w="1948984">
                  <a:extLst>
                    <a:ext uri="{9D8B030D-6E8A-4147-A177-3AD203B41FA5}">
                      <a16:colId xmlns:a16="http://schemas.microsoft.com/office/drawing/2014/main" val="1375007493"/>
                    </a:ext>
                  </a:extLst>
                </a:gridCol>
              </a:tblGrid>
              <a:tr h="298806">
                <a:tc>
                  <a:txBody>
                    <a:bodyPr/>
                    <a:lstStyle/>
                    <a:p>
                      <a:pPr algn="ctr"/>
                      <a:r>
                        <a:rPr lang="en-US" sz="1600"/>
                        <a:t>Metric</a:t>
                      </a:r>
                    </a:p>
                  </a:txBody>
                  <a:tcPr>
                    <a:solidFill>
                      <a:srgbClr val="0EA5E9"/>
                    </a:solidFill>
                  </a:tcPr>
                </a:tc>
                <a:tc>
                  <a:txBody>
                    <a:bodyPr/>
                    <a:lstStyle/>
                    <a:p>
                      <a:pPr algn="ctr"/>
                      <a:r>
                        <a:rPr lang="en-US" sz="1600"/>
                        <a:t>Model</a:t>
                      </a:r>
                    </a:p>
                  </a:txBody>
                  <a:tcPr>
                    <a:solidFill>
                      <a:srgbClr val="0EA5E9"/>
                    </a:solidFill>
                  </a:tcPr>
                </a:tc>
                <a:tc>
                  <a:txBody>
                    <a:bodyPr/>
                    <a:lstStyle/>
                    <a:p>
                      <a:pPr algn="ctr"/>
                      <a:r>
                        <a:rPr lang="en-US" sz="1600"/>
                        <a:t>Excel </a:t>
                      </a:r>
                    </a:p>
                  </a:txBody>
                  <a:tcPr>
                    <a:solidFill>
                      <a:srgbClr val="0EA5E9"/>
                    </a:solidFill>
                  </a:tcPr>
                </a:tc>
                <a:tc>
                  <a:txBody>
                    <a:bodyPr/>
                    <a:lstStyle/>
                    <a:p>
                      <a:pPr algn="ctr"/>
                      <a:r>
                        <a:rPr lang="en-US" sz="1600"/>
                        <a:t>Deviation </a:t>
                      </a:r>
                    </a:p>
                  </a:txBody>
                  <a:tcPr>
                    <a:solidFill>
                      <a:srgbClr val="0EA5E9"/>
                    </a:solidFill>
                  </a:tcPr>
                </a:tc>
                <a:extLst>
                  <a:ext uri="{0D108BD9-81ED-4DB2-BD59-A6C34878D82A}">
                    <a16:rowId xmlns:a16="http://schemas.microsoft.com/office/drawing/2014/main" val="2796385060"/>
                  </a:ext>
                </a:extLst>
              </a:tr>
              <a:tr h="312929">
                <a:tc>
                  <a:txBody>
                    <a:bodyPr/>
                    <a:lstStyle/>
                    <a:p>
                      <a:pPr algn="ctr"/>
                      <a:r>
                        <a:rPr lang="en-US" sz="1600"/>
                        <a:t>Expected Return</a:t>
                      </a:r>
                    </a:p>
                  </a:txBody>
                  <a:tcPr/>
                </a:tc>
                <a:tc>
                  <a:txBody>
                    <a:bodyPr/>
                    <a:lstStyle/>
                    <a:p>
                      <a:pPr algn="ctr"/>
                      <a:r>
                        <a:rPr lang="en-US" sz="1600"/>
                        <a:t>8.7%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8.7%</a:t>
                      </a:r>
                    </a:p>
                  </a:txBody>
                  <a:tcPr/>
                </a:tc>
                <a:tc>
                  <a:txBody>
                    <a:bodyPr/>
                    <a:lstStyle/>
                    <a:p>
                      <a:pPr algn="ctr"/>
                      <a:r>
                        <a:rPr lang="en-US" sz="1600"/>
                        <a:t>0.0%</a:t>
                      </a:r>
                    </a:p>
                  </a:txBody>
                  <a:tcPr/>
                </a:tc>
                <a:extLst>
                  <a:ext uri="{0D108BD9-81ED-4DB2-BD59-A6C34878D82A}">
                    <a16:rowId xmlns:a16="http://schemas.microsoft.com/office/drawing/2014/main" val="1799068842"/>
                  </a:ext>
                </a:extLst>
              </a:tr>
              <a:tr h="298806">
                <a:tc>
                  <a:txBody>
                    <a:bodyPr/>
                    <a:lstStyle/>
                    <a:p>
                      <a:pPr algn="ctr"/>
                      <a:r>
                        <a:rPr lang="en-US" sz="1600"/>
                        <a:t>Volatility </a:t>
                      </a:r>
                    </a:p>
                  </a:txBody>
                  <a:tcPr/>
                </a:tc>
                <a:tc>
                  <a:txBody>
                    <a:bodyPr/>
                    <a:lstStyle/>
                    <a:p>
                      <a:pPr algn="ctr"/>
                      <a:r>
                        <a:rPr lang="en-US" sz="1600"/>
                        <a:t>14.2%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14.3%</a:t>
                      </a:r>
                    </a:p>
                  </a:txBody>
                  <a:tcPr/>
                </a:tc>
                <a:tc>
                  <a:txBody>
                    <a:bodyPr/>
                    <a:lstStyle/>
                    <a:p>
                      <a:pPr algn="ctr"/>
                      <a:r>
                        <a:rPr lang="en-US" sz="1600"/>
                        <a:t>0.07%</a:t>
                      </a:r>
                    </a:p>
                  </a:txBody>
                  <a:tcPr/>
                </a:tc>
                <a:extLst>
                  <a:ext uri="{0D108BD9-81ED-4DB2-BD59-A6C34878D82A}">
                    <a16:rowId xmlns:a16="http://schemas.microsoft.com/office/drawing/2014/main" val="3028215329"/>
                  </a:ext>
                </a:extLst>
              </a:tr>
              <a:tr h="298806">
                <a:tc>
                  <a:txBody>
                    <a:bodyPr/>
                    <a:lstStyle/>
                    <a:p>
                      <a:pPr algn="ctr"/>
                      <a:r>
                        <a:rPr lang="en-US" sz="1600"/>
                        <a:t>Sharpe Ratio</a:t>
                      </a:r>
                    </a:p>
                  </a:txBody>
                  <a:tcPr/>
                </a:tc>
                <a:tc>
                  <a:txBody>
                    <a:bodyPr/>
                    <a:lstStyle/>
                    <a:p>
                      <a:pPr algn="ctr"/>
                      <a:r>
                        <a:rPr lang="en-US" sz="1600"/>
                        <a:t>0.92%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0.91%</a:t>
                      </a:r>
                    </a:p>
                  </a:txBody>
                  <a:tcPr/>
                </a:tc>
                <a:tc>
                  <a:txBody>
                    <a:bodyPr/>
                    <a:lstStyle/>
                    <a:p>
                      <a:pPr algn="ctr"/>
                      <a:r>
                        <a:rPr lang="en-US" sz="1600"/>
                        <a:t>0.01%</a:t>
                      </a:r>
                    </a:p>
                  </a:txBody>
                  <a:tcPr/>
                </a:tc>
                <a:extLst>
                  <a:ext uri="{0D108BD9-81ED-4DB2-BD59-A6C34878D82A}">
                    <a16:rowId xmlns:a16="http://schemas.microsoft.com/office/drawing/2014/main" val="1703210138"/>
                  </a:ext>
                </a:extLst>
              </a:tr>
              <a:tr h="298806">
                <a:tc>
                  <a:txBody>
                    <a:bodyPr/>
                    <a:lstStyle/>
                    <a:p>
                      <a:pPr algn="ctr"/>
                      <a:r>
                        <a:rPr lang="en-US" sz="1600"/>
                        <a:t>Sortino Ratio</a:t>
                      </a:r>
                    </a:p>
                  </a:txBody>
                  <a:tcPr/>
                </a:tc>
                <a:tc>
                  <a:txBody>
                    <a:bodyPr/>
                    <a:lstStyle/>
                    <a:p>
                      <a:pPr algn="ctr"/>
                      <a:r>
                        <a:rPr lang="en-US" sz="1600"/>
                        <a:t>1.34%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1.32%</a:t>
                      </a:r>
                    </a:p>
                  </a:txBody>
                  <a:tcPr/>
                </a:tc>
                <a:tc>
                  <a:txBody>
                    <a:bodyPr/>
                    <a:lstStyle/>
                    <a:p>
                      <a:pPr algn="ctr"/>
                      <a:r>
                        <a:rPr lang="en-US" sz="1600"/>
                        <a:t>0.02%</a:t>
                      </a:r>
                    </a:p>
                  </a:txBody>
                  <a:tcPr/>
                </a:tc>
                <a:extLst>
                  <a:ext uri="{0D108BD9-81ED-4DB2-BD59-A6C34878D82A}">
                    <a16:rowId xmlns:a16="http://schemas.microsoft.com/office/drawing/2014/main" val="2571020433"/>
                  </a:ext>
                </a:extLst>
              </a:tr>
            </a:tbl>
          </a:graphicData>
        </a:graphic>
      </p:graphicFrame>
    </p:spTree>
    <p:extLst>
      <p:ext uri="{BB962C8B-B14F-4D97-AF65-F5344CB8AC3E}">
        <p14:creationId xmlns:p14="http://schemas.microsoft.com/office/powerpoint/2010/main" val="215608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A0DBE-1394-E0CC-7A51-F7D90A57FE5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7"/>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5F6697-105B-7DAF-9C34-3418667641A2}"/>
              </a:ext>
            </a:extLst>
          </p:cNvPr>
          <p:cNvSpPr txBox="1"/>
          <p:nvPr/>
        </p:nvSpPr>
        <p:spPr>
          <a:xfrm>
            <a:off x="628650" y="1369218"/>
            <a:ext cx="7886700" cy="326350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b="1"/>
              <a:t>Growing Interest</a:t>
            </a:r>
            <a:endParaRPr lang="en-US"/>
          </a:p>
          <a:p>
            <a:pPr indent="-228600">
              <a:lnSpc>
                <a:spcPct val="90000"/>
              </a:lnSpc>
              <a:spcAft>
                <a:spcPts val="600"/>
              </a:spcAft>
              <a:buFont typeface="Arial" panose="020B0604020202020204" pitchFamily="34" charset="0"/>
              <a:buChar char="•"/>
            </a:pPr>
            <a:endParaRPr lang="en-US" b="1"/>
          </a:p>
          <a:p>
            <a:pPr indent="-228600">
              <a:lnSpc>
                <a:spcPct val="90000"/>
              </a:lnSpc>
              <a:spcAft>
                <a:spcPts val="600"/>
              </a:spcAft>
              <a:buFont typeface="Arial" panose="020B0604020202020204" pitchFamily="34" charset="0"/>
              <a:buChar char="•"/>
            </a:pPr>
            <a:r>
              <a:rPr lang="en-US"/>
              <a:t>    66% of US users would consider </a:t>
            </a:r>
            <a:r>
              <a:rPr lang="en-US" err="1"/>
              <a:t>robo</a:t>
            </a:r>
            <a:r>
              <a:rPr lang="en-US"/>
              <a:t>-advisers</a:t>
            </a:r>
            <a:endParaRPr lang="en-US">
              <a:ea typeface="Calibri"/>
              <a:cs typeface="Calibri"/>
            </a:endParaRPr>
          </a:p>
          <a:p>
            <a:pPr indent="-228600">
              <a:lnSpc>
                <a:spcPct val="90000"/>
              </a:lnSpc>
              <a:spcAft>
                <a:spcPts val="600"/>
              </a:spcAft>
              <a:buFont typeface="Arial" panose="020B0604020202020204" pitchFamily="34" charset="0"/>
              <a:buChar char="•"/>
            </a:pPr>
            <a:r>
              <a:rPr lang="en-US"/>
              <a:t>    UK: 3% use trading apps, 50% aged 18–34</a:t>
            </a:r>
          </a:p>
          <a:p>
            <a:pPr marL="285750" indent="-228600">
              <a:lnSpc>
                <a:spcPct val="90000"/>
              </a:lnSpc>
              <a:spcAft>
                <a:spcPts val="600"/>
              </a:spcAft>
              <a:buFont typeface="Arial" panose="020B0604020202020204" pitchFamily="34" charset="0"/>
              <a:buChar char="•"/>
            </a:pPr>
            <a:r>
              <a:rPr lang="en-US"/>
              <a:t>   53% unlikely to trust AI-driven financial advice</a:t>
            </a:r>
          </a:p>
          <a:p>
            <a:pPr marL="285750" indent="-228600">
              <a:lnSpc>
                <a:spcPct val="90000"/>
              </a:lnSpc>
              <a:spcAft>
                <a:spcPts val="600"/>
              </a:spcAft>
              <a:buFont typeface="Arial" panose="020B0604020202020204" pitchFamily="34" charset="0"/>
              <a:buChar char="•"/>
            </a:pPr>
            <a:r>
              <a:rPr lang="en-US"/>
              <a:t>   Only 19% trust </a:t>
            </a:r>
            <a:r>
              <a:rPr lang="en-US" err="1"/>
              <a:t>robo</a:t>
            </a:r>
            <a:r>
              <a:rPr lang="en-US"/>
              <a:t>-advisers with investment decisions</a:t>
            </a:r>
            <a:endParaRPr lang="en-US">
              <a:ea typeface="Calibri"/>
              <a:cs typeface="Calibri"/>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r>
              <a:rPr lang="en-US"/>
              <a:t>Demand exists, but </a:t>
            </a:r>
            <a:r>
              <a:rPr lang="en-US" b="1">
                <a:solidFill>
                  <a:schemeClr val="accent6">
                    <a:lumMod val="76000"/>
                  </a:schemeClr>
                </a:solidFill>
              </a:rPr>
              <a:t>trust</a:t>
            </a:r>
            <a:r>
              <a:rPr lang="en-US" b="1"/>
              <a:t> remains the main adoption barrier</a:t>
            </a:r>
            <a:endParaRPr lang="en-US"/>
          </a:p>
        </p:txBody>
      </p:sp>
      <p:pic>
        <p:nvPicPr>
          <p:cNvPr id="2" name="Picture 1">
            <a:extLst>
              <a:ext uri="{FF2B5EF4-FFF2-40B4-BE49-F238E27FC236}">
                <a16:creationId xmlns:a16="http://schemas.microsoft.com/office/drawing/2014/main" id="{EE09C9AC-42E6-5D06-0202-0EE1E77ACBCE}"/>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4" name="Shape 0">
            <a:extLst>
              <a:ext uri="{FF2B5EF4-FFF2-40B4-BE49-F238E27FC236}">
                <a16:creationId xmlns:a16="http://schemas.microsoft.com/office/drawing/2014/main" id="{4EA4D44D-3C11-EBC8-514A-0D620D406093}"/>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pic>
        <p:nvPicPr>
          <p:cNvPr id="8" name="Picture 7">
            <a:extLst>
              <a:ext uri="{FF2B5EF4-FFF2-40B4-BE49-F238E27FC236}">
                <a16:creationId xmlns:a16="http://schemas.microsoft.com/office/drawing/2014/main" id="{6F210B99-4170-A2CE-D8D3-2B4E7B7DE63D}"/>
              </a:ext>
            </a:extLst>
          </p:cNvPr>
          <p:cNvPicPr>
            <a:picLocks noChangeAspect="1"/>
          </p:cNvPicPr>
          <p:nvPr/>
        </p:nvPicPr>
        <p:blipFill>
          <a:blip r:embed="rId4"/>
          <a:stretch>
            <a:fillRect/>
          </a:stretch>
        </p:blipFill>
        <p:spPr>
          <a:xfrm>
            <a:off x="6765364" y="3168704"/>
            <a:ext cx="1894354" cy="1856940"/>
          </a:xfrm>
          <a:prstGeom prst="rect">
            <a:avLst/>
          </a:prstGeom>
        </p:spPr>
      </p:pic>
      <p:sp>
        <p:nvSpPr>
          <p:cNvPr id="3" name="Text 1">
            <a:extLst>
              <a:ext uri="{FF2B5EF4-FFF2-40B4-BE49-F238E27FC236}">
                <a16:creationId xmlns:a16="http://schemas.microsoft.com/office/drawing/2014/main" id="{E544ED12-0962-06EE-0E55-CE080F02BD2B}"/>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6" name="Text 2">
            <a:extLst>
              <a:ext uri="{FF2B5EF4-FFF2-40B4-BE49-F238E27FC236}">
                <a16:creationId xmlns:a16="http://schemas.microsoft.com/office/drawing/2014/main" id="{BE0D4E64-830B-C767-C6EE-170CF9368CDC}"/>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Market Research:  Adoption </a:t>
            </a:r>
            <a:endParaRPr lang="en-US" sz="3000"/>
          </a:p>
        </p:txBody>
      </p:sp>
      <p:sp>
        <p:nvSpPr>
          <p:cNvPr id="9" name="Shape 3">
            <a:extLst>
              <a:ext uri="{FF2B5EF4-FFF2-40B4-BE49-F238E27FC236}">
                <a16:creationId xmlns:a16="http://schemas.microsoft.com/office/drawing/2014/main" id="{CCA6FEDB-3186-E50A-8181-598DE806DBE2}"/>
              </a:ext>
            </a:extLst>
          </p:cNvPr>
          <p:cNvSpPr/>
          <p:nvPr/>
        </p:nvSpPr>
        <p:spPr>
          <a:xfrm>
            <a:off x="1640335" y="816662"/>
            <a:ext cx="548640" cy="45720"/>
          </a:xfrm>
          <a:prstGeom prst="rect">
            <a:avLst/>
          </a:prstGeom>
          <a:solidFill>
            <a:srgbClr val="A855F7"/>
          </a:solidFill>
          <a:ln w="12700">
            <a:solidFill>
              <a:srgbClr val="A855F7"/>
            </a:solidFill>
            <a:prstDash val="solid"/>
          </a:ln>
        </p:spPr>
        <p:txBody>
          <a:bodyPr/>
          <a:lstStyle/>
          <a:p>
            <a:endParaRPr lang="en-GB" noProof="0"/>
          </a:p>
        </p:txBody>
      </p:sp>
    </p:spTree>
    <p:extLst>
      <p:ext uri="{BB962C8B-B14F-4D97-AF65-F5344CB8AC3E}">
        <p14:creationId xmlns:p14="http://schemas.microsoft.com/office/powerpoint/2010/main" val="4169896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44640-2569-7594-19E1-850DAB2797F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65B1D25-52C8-333F-BEBB-37FFE32EC3B2}"/>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7" name="TextBox 6">
            <a:extLst>
              <a:ext uri="{FF2B5EF4-FFF2-40B4-BE49-F238E27FC236}">
                <a16:creationId xmlns:a16="http://schemas.microsoft.com/office/drawing/2014/main" id="{A66338F7-4255-D72A-D55E-A713CDE5509E}"/>
              </a:ext>
            </a:extLst>
          </p:cNvPr>
          <p:cNvSpPr txBox="1"/>
          <p:nvPr/>
        </p:nvSpPr>
        <p:spPr>
          <a:xfrm>
            <a:off x="297695" y="1090982"/>
            <a:ext cx="4279313" cy="2585323"/>
          </a:xfrm>
          <a:prstGeom prst="rect">
            <a:avLst/>
          </a:prstGeom>
          <a:noFill/>
        </p:spPr>
        <p:txBody>
          <a:bodyPr wrap="none" lIns="91440" tIns="45720" rIns="91440" bIns="45720" rtlCol="0" anchor="t">
            <a:spAutoFit/>
          </a:bodyPr>
          <a:lstStyle/>
          <a:p>
            <a:r>
              <a:rPr lang="en-GB" b="1">
                <a:ea typeface="+mn-lt"/>
                <a:cs typeface="+mn-lt"/>
              </a:rPr>
              <a:t>UK Market Growth</a:t>
            </a:r>
          </a:p>
          <a:p>
            <a:pPr>
              <a:buFont typeface="Arial"/>
              <a:buChar char="•"/>
            </a:pPr>
            <a:r>
              <a:rPr lang="en-GB">
                <a:ea typeface="+mn-lt"/>
                <a:cs typeface="+mn-lt"/>
              </a:rPr>
              <a:t>Investment platform use: </a:t>
            </a:r>
            <a:r>
              <a:rPr lang="en-GB" b="1">
                <a:solidFill>
                  <a:schemeClr val="accent2">
                    <a:lumMod val="76000"/>
                  </a:schemeClr>
                </a:solidFill>
                <a:ea typeface="+mn-lt"/>
                <a:cs typeface="+mn-lt"/>
              </a:rPr>
              <a:t>8.4%</a:t>
            </a:r>
            <a:r>
              <a:rPr lang="en-GB" b="1">
                <a:ea typeface="+mn-lt"/>
                <a:cs typeface="+mn-lt"/>
              </a:rPr>
              <a:t> → </a:t>
            </a:r>
            <a:r>
              <a:rPr lang="en-GB" b="1">
                <a:solidFill>
                  <a:schemeClr val="accent6">
                    <a:lumMod val="76000"/>
                  </a:schemeClr>
                </a:solidFill>
                <a:ea typeface="+mn-lt"/>
                <a:cs typeface="+mn-lt"/>
              </a:rPr>
              <a:t>15% </a:t>
            </a:r>
            <a:r>
              <a:rPr lang="en-GB">
                <a:ea typeface="+mn-lt"/>
                <a:cs typeface="+mn-lt"/>
              </a:rPr>
              <a:t> </a:t>
            </a:r>
            <a:endParaRPr lang="en-GB" b="1">
              <a:ea typeface="Calibri"/>
              <a:cs typeface="Calibri"/>
            </a:endParaRPr>
          </a:p>
          <a:p>
            <a:pPr>
              <a:buFont typeface="Arial"/>
              <a:buChar char="•"/>
            </a:pPr>
            <a:r>
              <a:rPr lang="en-GB">
                <a:ea typeface="+mn-lt"/>
                <a:cs typeface="+mn-lt"/>
              </a:rPr>
              <a:t>Non-advised investing: </a:t>
            </a:r>
            <a:r>
              <a:rPr lang="en-GB" b="1">
                <a:solidFill>
                  <a:schemeClr val="accent2">
                    <a:lumMod val="76000"/>
                  </a:schemeClr>
                </a:solidFill>
                <a:ea typeface="+mn-lt"/>
                <a:cs typeface="+mn-lt"/>
              </a:rPr>
              <a:t>5.9%</a:t>
            </a:r>
            <a:r>
              <a:rPr lang="en-GB" b="1">
                <a:ea typeface="+mn-lt"/>
                <a:cs typeface="+mn-lt"/>
              </a:rPr>
              <a:t> → </a:t>
            </a:r>
            <a:r>
              <a:rPr lang="en-GB" b="1">
                <a:solidFill>
                  <a:schemeClr val="accent6">
                    <a:lumMod val="76000"/>
                  </a:schemeClr>
                </a:solidFill>
                <a:ea typeface="+mn-lt"/>
                <a:cs typeface="+mn-lt"/>
              </a:rPr>
              <a:t>11%</a:t>
            </a:r>
            <a:r>
              <a:rPr lang="en-GB">
                <a:ea typeface="+mn-lt"/>
                <a:cs typeface="+mn-lt"/>
              </a:rPr>
              <a:t>  </a:t>
            </a:r>
            <a:endParaRPr lang="en-GB"/>
          </a:p>
          <a:p>
            <a:pPr>
              <a:buFont typeface="Arial"/>
              <a:buChar char="•"/>
            </a:pPr>
            <a:r>
              <a:rPr lang="en-GB">
                <a:ea typeface="+mn-lt"/>
                <a:cs typeface="+mn-lt"/>
              </a:rPr>
              <a:t>Only </a:t>
            </a:r>
            <a:r>
              <a:rPr lang="en-GB" b="1">
                <a:solidFill>
                  <a:schemeClr val="accent2">
                    <a:lumMod val="76000"/>
                  </a:schemeClr>
                </a:solidFill>
                <a:ea typeface="+mn-lt"/>
                <a:cs typeface="+mn-lt"/>
              </a:rPr>
              <a:t>8.6%</a:t>
            </a:r>
            <a:r>
              <a:rPr lang="en-GB" b="1">
                <a:ea typeface="+mn-lt"/>
                <a:cs typeface="+mn-lt"/>
              </a:rPr>
              <a:t> receive financial advice</a:t>
            </a:r>
            <a:endParaRPr lang="en-GB"/>
          </a:p>
          <a:p>
            <a:endParaRPr lang="en-GB" b="1">
              <a:ea typeface="Calibri"/>
              <a:cs typeface="Calibri"/>
            </a:endParaRPr>
          </a:p>
          <a:p>
            <a:endParaRPr lang="en-GB" b="1">
              <a:ea typeface="Calibri"/>
              <a:cs typeface="Calibri"/>
            </a:endParaRPr>
          </a:p>
          <a:p>
            <a:r>
              <a:rPr lang="en-GB" b="1">
                <a:ea typeface="Calibri"/>
                <a:cs typeface="Calibri"/>
              </a:rPr>
              <a:t>Strengths and Limitations of Robo-advisors</a:t>
            </a:r>
          </a:p>
          <a:p>
            <a:r>
              <a:rPr lang="en-GB" b="1">
                <a:solidFill>
                  <a:schemeClr val="accent6">
                    <a:lumMod val="76000"/>
                  </a:schemeClr>
                </a:solidFill>
                <a:ea typeface="Calibri"/>
                <a:cs typeface="Calibri"/>
              </a:rPr>
              <a:t>low cost</a:t>
            </a:r>
            <a:r>
              <a:rPr lang="en-GB" b="1">
                <a:ea typeface="Calibri"/>
                <a:cs typeface="Calibri"/>
              </a:rPr>
              <a:t> </a:t>
            </a:r>
            <a:r>
              <a:rPr lang="en-GB">
                <a:ea typeface="Calibri"/>
                <a:cs typeface="Calibri"/>
              </a:rPr>
              <a:t>and</a:t>
            </a:r>
            <a:r>
              <a:rPr lang="en-GB" b="1">
                <a:ea typeface="Calibri"/>
                <a:cs typeface="Calibri"/>
              </a:rPr>
              <a:t> </a:t>
            </a:r>
            <a:r>
              <a:rPr lang="en-GB" b="1">
                <a:solidFill>
                  <a:schemeClr val="accent6">
                    <a:lumMod val="76000"/>
                  </a:schemeClr>
                </a:solidFill>
                <a:ea typeface="Calibri"/>
                <a:cs typeface="Calibri"/>
              </a:rPr>
              <a:t>accessible</a:t>
            </a:r>
          </a:p>
          <a:p>
            <a:r>
              <a:rPr lang="en-GB">
                <a:ea typeface="Calibri"/>
                <a:cs typeface="Calibri"/>
              </a:rPr>
              <a:t>yet</a:t>
            </a:r>
            <a:r>
              <a:rPr lang="en-GB" b="1">
                <a:ea typeface="Calibri"/>
                <a:cs typeface="Calibri"/>
              </a:rPr>
              <a:t> </a:t>
            </a:r>
            <a:r>
              <a:rPr lang="en-GB" b="1">
                <a:solidFill>
                  <a:schemeClr val="accent2">
                    <a:lumMod val="76000"/>
                  </a:schemeClr>
                </a:solidFill>
                <a:ea typeface="Calibri"/>
                <a:cs typeface="Calibri"/>
              </a:rPr>
              <a:t>lack personalisation</a:t>
            </a:r>
            <a:r>
              <a:rPr lang="en-GB" b="1">
                <a:ea typeface="Calibri"/>
                <a:cs typeface="Calibri"/>
              </a:rPr>
              <a:t>.</a:t>
            </a:r>
            <a:endParaRPr lang="en-GB"/>
          </a:p>
        </p:txBody>
      </p:sp>
      <p:sp>
        <p:nvSpPr>
          <p:cNvPr id="4" name="Shape 0">
            <a:extLst>
              <a:ext uri="{FF2B5EF4-FFF2-40B4-BE49-F238E27FC236}">
                <a16:creationId xmlns:a16="http://schemas.microsoft.com/office/drawing/2014/main" id="{643A275D-7FC3-C740-064A-EBCAD251F157}"/>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pic>
        <p:nvPicPr>
          <p:cNvPr id="8" name="Graphic 7" descr="Upward trend with solid fill">
            <a:extLst>
              <a:ext uri="{FF2B5EF4-FFF2-40B4-BE49-F238E27FC236}">
                <a16:creationId xmlns:a16="http://schemas.microsoft.com/office/drawing/2014/main" id="{74B3BB0D-400C-00DC-2F97-2E1C0F6AE5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7313" y="748731"/>
            <a:ext cx="3646038" cy="3646038"/>
          </a:xfrm>
          <a:prstGeom prst="rect">
            <a:avLst/>
          </a:prstGeom>
        </p:spPr>
      </p:pic>
      <p:sp>
        <p:nvSpPr>
          <p:cNvPr id="9" name="Text 1">
            <a:extLst>
              <a:ext uri="{FF2B5EF4-FFF2-40B4-BE49-F238E27FC236}">
                <a16:creationId xmlns:a16="http://schemas.microsoft.com/office/drawing/2014/main" id="{8E33F391-C188-D7A8-1836-77FEE3DC067C}"/>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10" name="Text 2">
            <a:extLst>
              <a:ext uri="{FF2B5EF4-FFF2-40B4-BE49-F238E27FC236}">
                <a16:creationId xmlns:a16="http://schemas.microsoft.com/office/drawing/2014/main" id="{6789C2AF-D04A-286D-D586-EBEF86124BB4}"/>
              </a:ext>
            </a:extLst>
          </p:cNvPr>
          <p:cNvSpPr/>
          <p:nvPr/>
        </p:nvSpPr>
        <p:spPr>
          <a:xfrm>
            <a:off x="1640333" y="282601"/>
            <a:ext cx="10972801"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Market Research: Opportunity</a:t>
            </a:r>
            <a:endParaRPr lang="en-US" sz="3000"/>
          </a:p>
        </p:txBody>
      </p:sp>
      <p:sp>
        <p:nvSpPr>
          <p:cNvPr id="11" name="Shape 3">
            <a:extLst>
              <a:ext uri="{FF2B5EF4-FFF2-40B4-BE49-F238E27FC236}">
                <a16:creationId xmlns:a16="http://schemas.microsoft.com/office/drawing/2014/main" id="{4F93724C-ED83-2719-CA0B-1CA9F3469376}"/>
              </a:ext>
            </a:extLst>
          </p:cNvPr>
          <p:cNvSpPr/>
          <p:nvPr/>
        </p:nvSpPr>
        <p:spPr>
          <a:xfrm>
            <a:off x="1640335" y="816662"/>
            <a:ext cx="548640" cy="45720"/>
          </a:xfrm>
          <a:prstGeom prst="rect">
            <a:avLst/>
          </a:prstGeom>
          <a:solidFill>
            <a:srgbClr val="A855F7"/>
          </a:solidFill>
          <a:ln w="12700">
            <a:solidFill>
              <a:srgbClr val="A855F7"/>
            </a:solidFill>
            <a:prstDash val="solid"/>
          </a:ln>
        </p:spPr>
        <p:txBody>
          <a:bodyPr/>
          <a:lstStyle/>
          <a:p>
            <a:endParaRPr lang="en-GB" noProof="0"/>
          </a:p>
        </p:txBody>
      </p:sp>
    </p:spTree>
    <p:extLst>
      <p:ext uri="{BB962C8B-B14F-4D97-AF65-F5344CB8AC3E}">
        <p14:creationId xmlns:p14="http://schemas.microsoft.com/office/powerpoint/2010/main" val="1958833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0BA3A-F320-C1D9-8DCC-C03FA417ABA4}"/>
            </a:ext>
          </a:extLst>
        </p:cNvPr>
        <p:cNvGrpSpPr/>
        <p:nvPr/>
      </p:nvGrpSpPr>
      <p:grpSpPr>
        <a:xfrm>
          <a:off x="0" y="0"/>
          <a:ext cx="0" cy="0"/>
          <a:chOff x="0" y="0"/>
          <a:chExt cx="0" cy="0"/>
        </a:xfrm>
      </p:grpSpPr>
      <p:pic>
        <p:nvPicPr>
          <p:cNvPr id="3" name="Picture 2" descr="A red sign with white text&#10;&#10;AI-generated content may be incorrect.">
            <a:extLst>
              <a:ext uri="{FF2B5EF4-FFF2-40B4-BE49-F238E27FC236}">
                <a16:creationId xmlns:a16="http://schemas.microsoft.com/office/drawing/2014/main" id="{0C83C167-E1B1-B561-5966-5A5D2B25327F}"/>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1">
            <a:extLst>
              <a:ext uri="{FF2B5EF4-FFF2-40B4-BE49-F238E27FC236}">
                <a16:creationId xmlns:a16="http://schemas.microsoft.com/office/drawing/2014/main" id="{F7740D4E-E7D7-93D9-5E42-3E1FD686BA87}"/>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6" name="Text 2">
            <a:extLst>
              <a:ext uri="{FF2B5EF4-FFF2-40B4-BE49-F238E27FC236}">
                <a16:creationId xmlns:a16="http://schemas.microsoft.com/office/drawing/2014/main" id="{1E3B01B4-AFC9-E0CB-A641-9B24F569C11D}"/>
              </a:ext>
            </a:extLst>
          </p:cNvPr>
          <p:cNvSpPr/>
          <p:nvPr/>
        </p:nvSpPr>
        <p:spPr>
          <a:xfrm>
            <a:off x="1640335"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Market Research: Robo-Advisor Landscape</a:t>
            </a:r>
            <a:endParaRPr lang="en-US" sz="3000"/>
          </a:p>
        </p:txBody>
      </p:sp>
      <p:sp>
        <p:nvSpPr>
          <p:cNvPr id="7" name="Shape 3">
            <a:extLst>
              <a:ext uri="{FF2B5EF4-FFF2-40B4-BE49-F238E27FC236}">
                <a16:creationId xmlns:a16="http://schemas.microsoft.com/office/drawing/2014/main" id="{6F2B0B12-2F20-938C-48A6-8D6A6B3DAD8C}"/>
              </a:ext>
            </a:extLst>
          </p:cNvPr>
          <p:cNvSpPr/>
          <p:nvPr/>
        </p:nvSpPr>
        <p:spPr>
          <a:xfrm>
            <a:off x="1640335" y="816662"/>
            <a:ext cx="548640" cy="45720"/>
          </a:xfrm>
          <a:prstGeom prst="rect">
            <a:avLst/>
          </a:prstGeom>
          <a:solidFill>
            <a:srgbClr val="A855F7"/>
          </a:solidFill>
          <a:ln w="12700">
            <a:solidFill>
              <a:srgbClr val="A855F7"/>
            </a:solidFill>
            <a:prstDash val="solid"/>
          </a:ln>
        </p:spPr>
        <p:txBody>
          <a:bodyPr/>
          <a:lstStyle/>
          <a:p>
            <a:endParaRPr lang="en-GB" noProof="0"/>
          </a:p>
        </p:txBody>
      </p:sp>
      <p:sp>
        <p:nvSpPr>
          <p:cNvPr id="8" name="Shape 0">
            <a:extLst>
              <a:ext uri="{FF2B5EF4-FFF2-40B4-BE49-F238E27FC236}">
                <a16:creationId xmlns:a16="http://schemas.microsoft.com/office/drawing/2014/main" id="{6CCCDB9B-9603-EE8A-1CA6-7F82F57BD522}"/>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sp>
        <p:nvSpPr>
          <p:cNvPr id="81" name="Text 29">
            <a:extLst>
              <a:ext uri="{FF2B5EF4-FFF2-40B4-BE49-F238E27FC236}">
                <a16:creationId xmlns:a16="http://schemas.microsoft.com/office/drawing/2014/main" id="{12D60972-C837-C748-74AB-F4CD3E3F5FAB}"/>
              </a:ext>
            </a:extLst>
          </p:cNvPr>
          <p:cNvSpPr/>
          <p:nvPr/>
        </p:nvSpPr>
        <p:spPr>
          <a:xfrm>
            <a:off x="10515953" y="4978908"/>
            <a:ext cx="6400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18</a:t>
            </a:r>
            <a:endParaRPr lang="en-US" sz="900"/>
          </a:p>
        </p:txBody>
      </p:sp>
      <p:sp>
        <p:nvSpPr>
          <p:cNvPr id="2" name="Text 11">
            <a:extLst>
              <a:ext uri="{FF2B5EF4-FFF2-40B4-BE49-F238E27FC236}">
                <a16:creationId xmlns:a16="http://schemas.microsoft.com/office/drawing/2014/main" id="{DBC07AB9-EA5C-E1A7-E0C4-D7413C6CE6EF}"/>
              </a:ext>
            </a:extLst>
          </p:cNvPr>
          <p:cNvSpPr/>
          <p:nvPr/>
        </p:nvSpPr>
        <p:spPr>
          <a:xfrm>
            <a:off x="183233" y="975690"/>
            <a:ext cx="6858000" cy="365760"/>
          </a:xfrm>
          <a:prstGeom prst="rect">
            <a:avLst/>
          </a:prstGeom>
          <a:noFill/>
          <a:ln/>
        </p:spPr>
        <p:txBody>
          <a:bodyPr wrap="square" lIns="0" tIns="0" rIns="0" bIns="0" rtlCol="0" anchor="ctr"/>
          <a:lstStyle/>
          <a:p>
            <a:pPr marL="0" indent="0">
              <a:buNone/>
            </a:pPr>
            <a:r>
              <a:rPr lang="en-US" sz="1100" b="1" kern="0" spc="400">
                <a:solidFill>
                  <a:srgbClr val="A855F7"/>
                </a:solidFill>
                <a:latin typeface="Calibri" pitchFamily="34" charset="0"/>
                <a:ea typeface="Calibri" pitchFamily="34" charset="-122"/>
                <a:cs typeface="Calibri" pitchFamily="34" charset="-120"/>
              </a:rPr>
              <a:t>HOW WE COMPARE</a:t>
            </a:r>
            <a:endParaRPr lang="en-US" sz="1100"/>
          </a:p>
        </p:txBody>
      </p:sp>
      <p:sp>
        <p:nvSpPr>
          <p:cNvPr id="98" name="Shape 52">
            <a:extLst>
              <a:ext uri="{FF2B5EF4-FFF2-40B4-BE49-F238E27FC236}">
                <a16:creationId xmlns:a16="http://schemas.microsoft.com/office/drawing/2014/main" id="{37B1A606-2A49-56F2-71E9-CC097FE8E051}"/>
              </a:ext>
            </a:extLst>
          </p:cNvPr>
          <p:cNvSpPr/>
          <p:nvPr/>
        </p:nvSpPr>
        <p:spPr>
          <a:xfrm>
            <a:off x="183233" y="3942184"/>
            <a:ext cx="6096000" cy="1005840"/>
          </a:xfrm>
          <a:prstGeom prst="rect">
            <a:avLst/>
          </a:prstGeom>
          <a:solidFill>
            <a:srgbClr val="1E2761"/>
          </a:solidFill>
          <a:ln w="25400">
            <a:solidFill>
              <a:srgbClr val="A855F7"/>
            </a:solidFill>
            <a:prstDash val="solid"/>
          </a:ln>
        </p:spPr>
        <p:txBody>
          <a:bodyPr/>
          <a:lstStyle/>
          <a:p>
            <a:endParaRPr lang="en-US"/>
          </a:p>
        </p:txBody>
      </p:sp>
      <p:sp>
        <p:nvSpPr>
          <p:cNvPr id="99" name="Text 53">
            <a:extLst>
              <a:ext uri="{FF2B5EF4-FFF2-40B4-BE49-F238E27FC236}">
                <a16:creationId xmlns:a16="http://schemas.microsoft.com/office/drawing/2014/main" id="{5925A5A3-829F-9C2A-0666-1F61C85A17C2}"/>
              </a:ext>
            </a:extLst>
          </p:cNvPr>
          <p:cNvSpPr/>
          <p:nvPr/>
        </p:nvSpPr>
        <p:spPr>
          <a:xfrm>
            <a:off x="366113" y="4033624"/>
            <a:ext cx="5279400" cy="822960"/>
          </a:xfrm>
          <a:prstGeom prst="rect">
            <a:avLst/>
          </a:prstGeom>
          <a:noFill/>
          <a:ln/>
        </p:spPr>
        <p:txBody>
          <a:bodyPr wrap="square" lIns="0" tIns="0" rIns="0" bIns="0" rtlCol="0" anchor="ctr"/>
          <a:lstStyle/>
          <a:p>
            <a:pPr marL="0" indent="0">
              <a:buNone/>
            </a:pPr>
            <a:r>
              <a:rPr lang="en-US" sz="1200" b="1" kern="0" spc="300">
                <a:solidFill>
                  <a:srgbClr val="A855F7"/>
                </a:solidFill>
                <a:latin typeface="Calibri" pitchFamily="34" charset="0"/>
                <a:ea typeface="Calibri" pitchFamily="34" charset="-122"/>
                <a:cs typeface="Calibri" pitchFamily="34" charset="-120"/>
              </a:rPr>
              <a:t>Insight</a:t>
            </a:r>
            <a:r>
              <a:rPr lang="en-US" sz="1200" b="1" kern="0" spc="300">
                <a:solidFill>
                  <a:schemeClr val="bg1"/>
                </a:solidFill>
                <a:latin typeface="Calibri" pitchFamily="34" charset="0"/>
                <a:ea typeface="Calibri" pitchFamily="34" charset="-122"/>
                <a:cs typeface="Calibri" pitchFamily="34" charset="-120"/>
              </a:rPr>
              <a:t>   </a:t>
            </a:r>
            <a:r>
              <a:rPr lang="en-US" sz="1300" i="1">
                <a:solidFill>
                  <a:schemeClr val="bg1"/>
                </a:solidFill>
                <a:latin typeface="Calibri" pitchFamily="34" charset="0"/>
                <a:ea typeface="Calibri" pitchFamily="34" charset="-122"/>
                <a:cs typeface="Calibri" pitchFamily="34" charset="-120"/>
              </a:rPr>
              <a:t>Existing platforms target users who can already commit £500+. We saw a gap at the entry level — an educational-first tool with no minimum.</a:t>
            </a:r>
            <a:endParaRPr lang="en-US" sz="1200">
              <a:solidFill>
                <a:schemeClr val="bg1"/>
              </a:solidFill>
            </a:endParaRPr>
          </a:p>
        </p:txBody>
      </p:sp>
      <p:sp>
        <p:nvSpPr>
          <p:cNvPr id="100" name="Shape 4">
            <a:extLst>
              <a:ext uri="{FF2B5EF4-FFF2-40B4-BE49-F238E27FC236}">
                <a16:creationId xmlns:a16="http://schemas.microsoft.com/office/drawing/2014/main" id="{B027DCB4-59E4-FB7B-CAF8-D3D613D315D6}"/>
              </a:ext>
            </a:extLst>
          </p:cNvPr>
          <p:cNvSpPr/>
          <p:nvPr/>
        </p:nvSpPr>
        <p:spPr>
          <a:xfrm>
            <a:off x="6505284" y="1109444"/>
            <a:ext cx="2093284" cy="3844878"/>
          </a:xfrm>
          <a:prstGeom prst="rect">
            <a:avLst/>
          </a:prstGeom>
          <a:solidFill>
            <a:srgbClr val="A855F7"/>
          </a:solidFill>
          <a:ln w="12700">
            <a:solidFill>
              <a:srgbClr val="A855F7"/>
            </a:solidFill>
            <a:prstDash val="solid"/>
          </a:ln>
        </p:spPr>
        <p:txBody>
          <a:bodyPr/>
          <a:lstStyle/>
          <a:p>
            <a:endParaRPr lang="en-US"/>
          </a:p>
        </p:txBody>
      </p:sp>
      <p:graphicFrame>
        <p:nvGraphicFramePr>
          <p:cNvPr id="101" name="Table 100">
            <a:extLst>
              <a:ext uri="{FF2B5EF4-FFF2-40B4-BE49-F238E27FC236}">
                <a16:creationId xmlns:a16="http://schemas.microsoft.com/office/drawing/2014/main" id="{405A0E2C-37E0-3F46-D11E-BD47FF3D4EC8}"/>
              </a:ext>
            </a:extLst>
          </p:cNvPr>
          <p:cNvGraphicFramePr>
            <a:graphicFrameLocks noGrp="1"/>
          </p:cNvGraphicFramePr>
          <p:nvPr>
            <p:extLst>
              <p:ext uri="{D42A27DB-BD31-4B8C-83A1-F6EECF244321}">
                <p14:modId xmlns:p14="http://schemas.microsoft.com/office/powerpoint/2010/main" val="1779677253"/>
              </p:ext>
            </p:extLst>
          </p:nvPr>
        </p:nvGraphicFramePr>
        <p:xfrm>
          <a:off x="183233" y="1341450"/>
          <a:ext cx="6096000" cy="2123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86652254"/>
                    </a:ext>
                  </a:extLst>
                </a:gridCol>
                <a:gridCol w="1524000">
                  <a:extLst>
                    <a:ext uri="{9D8B030D-6E8A-4147-A177-3AD203B41FA5}">
                      <a16:colId xmlns:a16="http://schemas.microsoft.com/office/drawing/2014/main" val="1777572066"/>
                    </a:ext>
                  </a:extLst>
                </a:gridCol>
                <a:gridCol w="1524000">
                  <a:extLst>
                    <a:ext uri="{9D8B030D-6E8A-4147-A177-3AD203B41FA5}">
                      <a16:colId xmlns:a16="http://schemas.microsoft.com/office/drawing/2014/main" val="1590876388"/>
                    </a:ext>
                  </a:extLst>
                </a:gridCol>
                <a:gridCol w="1524000">
                  <a:extLst>
                    <a:ext uri="{9D8B030D-6E8A-4147-A177-3AD203B41FA5}">
                      <a16:colId xmlns:a16="http://schemas.microsoft.com/office/drawing/2014/main" val="14701604"/>
                    </a:ext>
                  </a:extLst>
                </a:gridCol>
              </a:tblGrid>
              <a:tr h="370840">
                <a:tc>
                  <a:txBody>
                    <a:bodyPr/>
                    <a:lstStyle/>
                    <a:p>
                      <a:pPr algn="ctr"/>
                      <a:r>
                        <a:rPr lang="en-US"/>
                        <a:t>Provider</a:t>
                      </a:r>
                    </a:p>
                  </a:txBody>
                  <a:tcPr>
                    <a:solidFill>
                      <a:srgbClr val="A855F7"/>
                    </a:solidFill>
                  </a:tcPr>
                </a:tc>
                <a:tc>
                  <a:txBody>
                    <a:bodyPr/>
                    <a:lstStyle/>
                    <a:p>
                      <a:pPr algn="ctr"/>
                      <a:r>
                        <a:rPr lang="en-US"/>
                        <a:t>Min. Investment</a:t>
                      </a:r>
                    </a:p>
                  </a:txBody>
                  <a:tcPr>
                    <a:solidFill>
                      <a:srgbClr val="A855F7"/>
                    </a:solidFill>
                  </a:tcPr>
                </a:tc>
                <a:tc>
                  <a:txBody>
                    <a:bodyPr/>
                    <a:lstStyle/>
                    <a:p>
                      <a:pPr algn="ctr"/>
                      <a:r>
                        <a:rPr lang="en-US"/>
                        <a:t>Annual Fee</a:t>
                      </a:r>
                    </a:p>
                  </a:txBody>
                  <a:tcPr>
                    <a:solidFill>
                      <a:srgbClr val="A855F7"/>
                    </a:solidFill>
                  </a:tcPr>
                </a:tc>
                <a:tc>
                  <a:txBody>
                    <a:bodyPr/>
                    <a:lstStyle/>
                    <a:p>
                      <a:pPr algn="ctr"/>
                      <a:r>
                        <a:rPr lang="en-US"/>
                        <a:t>Custom Sectors </a:t>
                      </a:r>
                    </a:p>
                  </a:txBody>
                  <a:tcPr>
                    <a:solidFill>
                      <a:srgbClr val="A855F7"/>
                    </a:solidFill>
                  </a:tcPr>
                </a:tc>
                <a:extLst>
                  <a:ext uri="{0D108BD9-81ED-4DB2-BD59-A6C34878D82A}">
                    <a16:rowId xmlns:a16="http://schemas.microsoft.com/office/drawing/2014/main" val="2822266923"/>
                  </a:ext>
                </a:extLst>
              </a:tr>
              <a:tr h="370840">
                <a:tc>
                  <a:txBody>
                    <a:bodyPr/>
                    <a:lstStyle/>
                    <a:p>
                      <a:pPr algn="ctr"/>
                      <a:r>
                        <a:rPr lang="en-US"/>
                        <a:t>Nutmeg</a:t>
                      </a:r>
                    </a:p>
                  </a:txBody>
                  <a:tcPr/>
                </a:tc>
                <a:tc>
                  <a:txBody>
                    <a:bodyPr/>
                    <a:lstStyle/>
                    <a:p>
                      <a:pPr algn="ctr"/>
                      <a:r>
                        <a:rPr lang="en-US"/>
                        <a:t>£500</a:t>
                      </a:r>
                    </a:p>
                  </a:txBody>
                  <a:tcPr/>
                </a:tc>
                <a:tc>
                  <a:txBody>
                    <a:bodyPr/>
                    <a:lstStyle/>
                    <a:p>
                      <a:pPr algn="ctr"/>
                      <a:r>
                        <a:rPr lang="en-US"/>
                        <a:t>0.45%</a:t>
                      </a:r>
                    </a:p>
                  </a:txBody>
                  <a:tcPr/>
                </a:tc>
                <a:tc>
                  <a:txBody>
                    <a:bodyPr/>
                    <a:lstStyle/>
                    <a:p>
                      <a:pPr algn="ctr"/>
                      <a:r>
                        <a:rPr lang="en-US"/>
                        <a:t>Limited</a:t>
                      </a:r>
                    </a:p>
                  </a:txBody>
                  <a:tcPr/>
                </a:tc>
                <a:extLst>
                  <a:ext uri="{0D108BD9-81ED-4DB2-BD59-A6C34878D82A}">
                    <a16:rowId xmlns:a16="http://schemas.microsoft.com/office/drawing/2014/main" val="1217419439"/>
                  </a:ext>
                </a:extLst>
              </a:tr>
              <a:tr h="370840">
                <a:tc>
                  <a:txBody>
                    <a:bodyPr/>
                    <a:lstStyle/>
                    <a:p>
                      <a:pPr algn="ctr"/>
                      <a:r>
                        <a:rPr lang="en-US"/>
                        <a:t>Walthify</a:t>
                      </a:r>
                    </a:p>
                  </a:txBody>
                  <a:tcPr/>
                </a:tc>
                <a:tc>
                  <a:txBody>
                    <a:bodyPr/>
                    <a:lstStyle/>
                    <a:p>
                      <a:pPr algn="ctr"/>
                      <a:r>
                        <a:rPr lang="en-US"/>
                        <a:t>£1</a:t>
                      </a:r>
                    </a:p>
                  </a:txBody>
                  <a:tcPr/>
                </a:tc>
                <a:tc>
                  <a:txBody>
                    <a:bodyPr/>
                    <a:lstStyle/>
                    <a:p>
                      <a:pPr algn="ctr"/>
                      <a:r>
                        <a:rPr lang="en-US"/>
                        <a:t>0.60%</a:t>
                      </a:r>
                    </a:p>
                  </a:txBody>
                  <a:tcPr/>
                </a:tc>
                <a:tc>
                  <a:txBody>
                    <a:bodyPr/>
                    <a:lstStyle/>
                    <a:p>
                      <a:pPr algn="ctr"/>
                      <a:r>
                        <a:rPr lang="en-US"/>
                        <a:t>No</a:t>
                      </a:r>
                    </a:p>
                  </a:txBody>
                  <a:tcPr/>
                </a:tc>
                <a:extLst>
                  <a:ext uri="{0D108BD9-81ED-4DB2-BD59-A6C34878D82A}">
                    <a16:rowId xmlns:a16="http://schemas.microsoft.com/office/drawing/2014/main" val="2933671197"/>
                  </a:ext>
                </a:extLst>
              </a:tr>
              <a:tr h="370840">
                <a:tc>
                  <a:txBody>
                    <a:bodyPr/>
                    <a:lstStyle/>
                    <a:p>
                      <a:pPr algn="ctr"/>
                      <a:r>
                        <a:rPr lang="en-US"/>
                        <a:t>MoneyFarm</a:t>
                      </a:r>
                    </a:p>
                  </a:txBody>
                  <a:tcPr/>
                </a:tc>
                <a:tc>
                  <a:txBody>
                    <a:bodyPr/>
                    <a:lstStyle/>
                    <a:p>
                      <a:pPr algn="ctr"/>
                      <a:r>
                        <a:rPr lang="en-US"/>
                        <a:t>£500</a:t>
                      </a:r>
                    </a:p>
                  </a:txBody>
                  <a:tcPr/>
                </a:tc>
                <a:tc>
                  <a:txBody>
                    <a:bodyPr/>
                    <a:lstStyle/>
                    <a:p>
                      <a:pPr algn="ctr"/>
                      <a:r>
                        <a:rPr lang="en-US"/>
                        <a:t>0.75%</a:t>
                      </a:r>
                    </a:p>
                  </a:txBody>
                  <a:tcPr/>
                </a:tc>
                <a:tc>
                  <a:txBody>
                    <a:bodyPr/>
                    <a:lstStyle/>
                    <a:p>
                      <a:pPr algn="ctr"/>
                      <a:r>
                        <a:rPr lang="en-US"/>
                        <a:t>Limited</a:t>
                      </a:r>
                    </a:p>
                  </a:txBody>
                  <a:tcPr/>
                </a:tc>
                <a:extLst>
                  <a:ext uri="{0D108BD9-81ED-4DB2-BD59-A6C34878D82A}">
                    <a16:rowId xmlns:a16="http://schemas.microsoft.com/office/drawing/2014/main" val="461281823"/>
                  </a:ext>
                </a:extLst>
              </a:tr>
              <a:tr h="370840">
                <a:tc>
                  <a:txBody>
                    <a:bodyPr/>
                    <a:lstStyle/>
                    <a:p>
                      <a:pPr algn="ctr"/>
                      <a:r>
                        <a:rPr lang="en-US"/>
                        <a:t>Our Total</a:t>
                      </a:r>
                    </a:p>
                  </a:txBody>
                  <a:tcPr/>
                </a:tc>
                <a:tc>
                  <a:txBody>
                    <a:bodyPr/>
                    <a:lstStyle/>
                    <a:p>
                      <a:pPr algn="ctr"/>
                      <a:r>
                        <a:rPr lang="en-US"/>
                        <a:t>£1</a:t>
                      </a:r>
                    </a:p>
                  </a:txBody>
                  <a:tcPr/>
                </a:tc>
                <a:tc>
                  <a:txBody>
                    <a:bodyPr/>
                    <a:lstStyle/>
                    <a:p>
                      <a:pPr algn="ctr"/>
                      <a:r>
                        <a:rPr lang="en-US"/>
                        <a:t>Free</a:t>
                      </a:r>
                    </a:p>
                  </a:txBody>
                  <a:tcPr/>
                </a:tc>
                <a:tc>
                  <a:txBody>
                    <a:bodyPr/>
                    <a:lstStyle/>
                    <a:p>
                      <a:pPr algn="ctr"/>
                      <a:r>
                        <a:rPr lang="en-US"/>
                        <a:t>Yes</a:t>
                      </a:r>
                    </a:p>
                  </a:txBody>
                  <a:tcPr/>
                </a:tc>
                <a:extLst>
                  <a:ext uri="{0D108BD9-81ED-4DB2-BD59-A6C34878D82A}">
                    <a16:rowId xmlns:a16="http://schemas.microsoft.com/office/drawing/2014/main" val="1288051833"/>
                  </a:ext>
                </a:extLst>
              </a:tr>
            </a:tbl>
          </a:graphicData>
        </a:graphic>
      </p:graphicFrame>
      <p:sp>
        <p:nvSpPr>
          <p:cNvPr id="102" name="Text 5">
            <a:extLst>
              <a:ext uri="{FF2B5EF4-FFF2-40B4-BE49-F238E27FC236}">
                <a16:creationId xmlns:a16="http://schemas.microsoft.com/office/drawing/2014/main" id="{9D1347A6-46DC-BD95-B39E-DC2CF6AB08EA}"/>
              </a:ext>
            </a:extLst>
          </p:cNvPr>
          <p:cNvSpPr/>
          <p:nvPr/>
        </p:nvSpPr>
        <p:spPr>
          <a:xfrm>
            <a:off x="6439077" y="1157828"/>
            <a:ext cx="2225039" cy="1371600"/>
          </a:xfrm>
          <a:prstGeom prst="rect">
            <a:avLst/>
          </a:prstGeom>
          <a:noFill/>
          <a:ln/>
        </p:spPr>
        <p:txBody>
          <a:bodyPr wrap="square" lIns="0" tIns="0" rIns="0" bIns="0" rtlCol="0" anchor="ctr"/>
          <a:lstStyle/>
          <a:p>
            <a:pPr marL="0" indent="0" algn="ctr">
              <a:buNone/>
            </a:pPr>
            <a:r>
              <a:rPr lang="en-US" sz="6000" b="1">
                <a:solidFill>
                  <a:srgbClr val="FFFFFF"/>
                </a:solidFill>
                <a:latin typeface="Calibri" pitchFamily="34" charset="0"/>
                <a:ea typeface="Calibri" pitchFamily="34" charset="-122"/>
                <a:cs typeface="Calibri" pitchFamily="34" charset="-120"/>
              </a:rPr>
              <a:t>$2.3T</a:t>
            </a:r>
            <a:endParaRPr lang="en-US" sz="6000"/>
          </a:p>
        </p:txBody>
      </p:sp>
      <p:sp>
        <p:nvSpPr>
          <p:cNvPr id="103" name="Text 6">
            <a:extLst>
              <a:ext uri="{FF2B5EF4-FFF2-40B4-BE49-F238E27FC236}">
                <a16:creationId xmlns:a16="http://schemas.microsoft.com/office/drawing/2014/main" id="{58F370E3-F1DE-A6AF-B7BD-2228EF8C1CBF}"/>
              </a:ext>
            </a:extLst>
          </p:cNvPr>
          <p:cNvSpPr/>
          <p:nvPr/>
        </p:nvSpPr>
        <p:spPr>
          <a:xfrm>
            <a:off x="6439077" y="2529428"/>
            <a:ext cx="2225039" cy="36576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global AUM</a:t>
            </a:r>
            <a:endParaRPr lang="en-US" sz="1600"/>
          </a:p>
        </p:txBody>
      </p:sp>
      <p:sp>
        <p:nvSpPr>
          <p:cNvPr id="104" name="Text 7">
            <a:extLst>
              <a:ext uri="{FF2B5EF4-FFF2-40B4-BE49-F238E27FC236}">
                <a16:creationId xmlns:a16="http://schemas.microsoft.com/office/drawing/2014/main" id="{8F2AE49E-6552-F566-7368-4EA666600321}"/>
              </a:ext>
            </a:extLst>
          </p:cNvPr>
          <p:cNvSpPr/>
          <p:nvPr/>
        </p:nvSpPr>
        <p:spPr>
          <a:xfrm>
            <a:off x="6624940" y="2890639"/>
            <a:ext cx="1853312" cy="548640"/>
          </a:xfrm>
          <a:prstGeom prst="rect">
            <a:avLst/>
          </a:prstGeom>
          <a:noFill/>
          <a:ln/>
        </p:spPr>
        <p:txBody>
          <a:bodyPr wrap="square" lIns="0" tIns="0" rIns="0" bIns="0" rtlCol="0" anchor="ctr"/>
          <a:lstStyle/>
          <a:p>
            <a:pPr marL="0" indent="0" algn="ctr">
              <a:buNone/>
            </a:pPr>
            <a:r>
              <a:rPr lang="en-US" sz="1200" i="1">
                <a:solidFill>
                  <a:srgbClr val="E2E8F0"/>
                </a:solidFill>
                <a:latin typeface="Calibri" pitchFamily="34" charset="0"/>
                <a:ea typeface="Calibri" pitchFamily="34" charset="-122"/>
                <a:cs typeface="Calibri" pitchFamily="34" charset="-120"/>
              </a:rPr>
              <a:t>managed by robo-advisors in 2025</a:t>
            </a:r>
            <a:endParaRPr lang="en-US" sz="1200"/>
          </a:p>
        </p:txBody>
      </p:sp>
      <p:sp>
        <p:nvSpPr>
          <p:cNvPr id="105" name="Shape 8">
            <a:extLst>
              <a:ext uri="{FF2B5EF4-FFF2-40B4-BE49-F238E27FC236}">
                <a16:creationId xmlns:a16="http://schemas.microsoft.com/office/drawing/2014/main" id="{98685DA2-8CEC-BE1A-A3EF-01BEB38A99D2}"/>
              </a:ext>
            </a:extLst>
          </p:cNvPr>
          <p:cNvSpPr/>
          <p:nvPr/>
        </p:nvSpPr>
        <p:spPr>
          <a:xfrm>
            <a:off x="6505284" y="3617565"/>
            <a:ext cx="2093284" cy="45719"/>
          </a:xfrm>
          <a:prstGeom prst="rect">
            <a:avLst/>
          </a:prstGeom>
          <a:solidFill>
            <a:srgbClr val="F59E0B"/>
          </a:solidFill>
          <a:ln w="12700">
            <a:solidFill>
              <a:srgbClr val="F59E0B"/>
            </a:solidFill>
            <a:prstDash val="solid"/>
          </a:ln>
        </p:spPr>
        <p:txBody>
          <a:bodyPr/>
          <a:lstStyle/>
          <a:p>
            <a:endParaRPr lang="en-US"/>
          </a:p>
        </p:txBody>
      </p:sp>
      <p:sp>
        <p:nvSpPr>
          <p:cNvPr id="106" name="Text 9">
            <a:extLst>
              <a:ext uri="{FF2B5EF4-FFF2-40B4-BE49-F238E27FC236}">
                <a16:creationId xmlns:a16="http://schemas.microsoft.com/office/drawing/2014/main" id="{045B4816-D4F7-19A2-AFB8-5C3231233C72}"/>
              </a:ext>
            </a:extLst>
          </p:cNvPr>
          <p:cNvSpPr/>
          <p:nvPr/>
        </p:nvSpPr>
        <p:spPr>
          <a:xfrm>
            <a:off x="6439077" y="3809588"/>
            <a:ext cx="2225039" cy="365760"/>
          </a:xfrm>
          <a:prstGeom prst="rect">
            <a:avLst/>
          </a:prstGeom>
          <a:noFill/>
          <a:ln/>
        </p:spPr>
        <p:txBody>
          <a:bodyPr wrap="square" lIns="0" tIns="0" rIns="0" bIns="0" rtlCol="0" anchor="ctr"/>
          <a:lstStyle/>
          <a:p>
            <a:pPr marL="0" indent="0" algn="ctr">
              <a:buNone/>
            </a:pPr>
            <a:r>
              <a:rPr lang="en-US" sz="1100" b="1">
                <a:solidFill>
                  <a:srgbClr val="F59E0B"/>
                </a:solidFill>
                <a:latin typeface="Calibri" pitchFamily="34" charset="0"/>
                <a:ea typeface="Calibri" pitchFamily="34" charset="-122"/>
                <a:cs typeface="Calibri" pitchFamily="34" charset="-120"/>
              </a:rPr>
              <a:t>Projected to reach $5.9T by 2030</a:t>
            </a:r>
            <a:endParaRPr lang="en-US" sz="1100"/>
          </a:p>
        </p:txBody>
      </p:sp>
      <p:sp>
        <p:nvSpPr>
          <p:cNvPr id="107" name="Text 10">
            <a:extLst>
              <a:ext uri="{FF2B5EF4-FFF2-40B4-BE49-F238E27FC236}">
                <a16:creationId xmlns:a16="http://schemas.microsoft.com/office/drawing/2014/main" id="{B7224304-3A75-7114-4D62-C9A57FB17B5F}"/>
              </a:ext>
            </a:extLst>
          </p:cNvPr>
          <p:cNvSpPr/>
          <p:nvPr/>
        </p:nvSpPr>
        <p:spPr>
          <a:xfrm>
            <a:off x="6439077" y="4175348"/>
            <a:ext cx="2225039" cy="365760"/>
          </a:xfrm>
          <a:prstGeom prst="rect">
            <a:avLst/>
          </a:prstGeom>
          <a:noFill/>
          <a:ln/>
        </p:spPr>
        <p:txBody>
          <a:bodyPr wrap="square" lIns="0" tIns="0" rIns="0" bIns="0" rtlCol="0" anchor="ctr"/>
          <a:lstStyle/>
          <a:p>
            <a:pPr marL="0" indent="0" algn="ctr">
              <a:buNone/>
            </a:pPr>
            <a:r>
              <a:rPr lang="en-US" sz="1000" i="1">
                <a:solidFill>
                  <a:srgbClr val="E2E8F0"/>
                </a:solidFill>
                <a:latin typeface="Calibri" pitchFamily="34" charset="0"/>
                <a:ea typeface="Calibri" pitchFamily="34" charset="-122"/>
                <a:cs typeface="Calibri" pitchFamily="34" charset="-120"/>
              </a:rPr>
              <a:t>(Statista, 2025)</a:t>
            </a:r>
            <a:endParaRPr lang="en-US" sz="1000"/>
          </a:p>
        </p:txBody>
      </p:sp>
    </p:spTree>
    <p:extLst>
      <p:ext uri="{BB962C8B-B14F-4D97-AF65-F5344CB8AC3E}">
        <p14:creationId xmlns:p14="http://schemas.microsoft.com/office/powerpoint/2010/main" val="3476786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F9594-BF90-1A52-6A0A-261F8EE5510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E802DA-C308-8511-C83B-4B48135ACEB4}"/>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4" name="Shape 0">
            <a:extLst>
              <a:ext uri="{FF2B5EF4-FFF2-40B4-BE49-F238E27FC236}">
                <a16:creationId xmlns:a16="http://schemas.microsoft.com/office/drawing/2014/main" id="{B452E9F1-FB30-6D7C-1604-0026483EB45F}"/>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sp>
        <p:nvSpPr>
          <p:cNvPr id="6" name="TextBox 5">
            <a:extLst>
              <a:ext uri="{FF2B5EF4-FFF2-40B4-BE49-F238E27FC236}">
                <a16:creationId xmlns:a16="http://schemas.microsoft.com/office/drawing/2014/main" id="{DEFFED09-143E-E350-B5D1-C27AEA2D5C8B}"/>
              </a:ext>
            </a:extLst>
          </p:cNvPr>
          <p:cNvSpPr txBox="1"/>
          <p:nvPr/>
        </p:nvSpPr>
        <p:spPr>
          <a:xfrm>
            <a:off x="182783" y="978772"/>
            <a:ext cx="8370008" cy="830997"/>
          </a:xfrm>
          <a:prstGeom prst="rect">
            <a:avLst/>
          </a:prstGeom>
          <a:solidFill>
            <a:srgbClr val="1E2761"/>
          </a:solidFill>
          <a:ln>
            <a:solidFill>
              <a:srgbClr val="A855F7"/>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chemeClr val="bg1"/>
                </a:solidFill>
                <a:ea typeface="Calibri"/>
                <a:cs typeface="Calibri"/>
              </a:rPr>
              <a:t>To help understand exactly who the end user we were designing for is, we incorporated the creation of personas in the research stage so we could simulate their journey through the app and ascertain what the unique needs for different people were.</a:t>
            </a:r>
            <a:endParaRPr lang="en-GB" sz="1600">
              <a:solidFill>
                <a:schemeClr val="bg1"/>
              </a:solidFill>
            </a:endParaRPr>
          </a:p>
        </p:txBody>
      </p:sp>
      <p:sp>
        <p:nvSpPr>
          <p:cNvPr id="7" name="Shape 4">
            <a:extLst>
              <a:ext uri="{FF2B5EF4-FFF2-40B4-BE49-F238E27FC236}">
                <a16:creationId xmlns:a16="http://schemas.microsoft.com/office/drawing/2014/main" id="{F1DBDD30-AF83-2A35-9C02-511B903742DE}"/>
              </a:ext>
            </a:extLst>
          </p:cNvPr>
          <p:cNvSpPr/>
          <p:nvPr/>
        </p:nvSpPr>
        <p:spPr>
          <a:xfrm>
            <a:off x="-5432338" y="1588531"/>
            <a:ext cx="4928470" cy="228600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1" name="Text 8">
            <a:extLst>
              <a:ext uri="{FF2B5EF4-FFF2-40B4-BE49-F238E27FC236}">
                <a16:creationId xmlns:a16="http://schemas.microsoft.com/office/drawing/2014/main" id="{465908C7-B506-4152-843F-000608D66E84}"/>
              </a:ext>
            </a:extLst>
          </p:cNvPr>
          <p:cNvSpPr/>
          <p:nvPr/>
        </p:nvSpPr>
        <p:spPr>
          <a:xfrm>
            <a:off x="-5203738" y="2166026"/>
            <a:ext cx="3063240" cy="457200"/>
          </a:xfrm>
          <a:prstGeom prst="rect">
            <a:avLst/>
          </a:prstGeom>
          <a:noFill/>
          <a:ln/>
        </p:spPr>
        <p:txBody>
          <a:bodyPr wrap="square" lIns="0" tIns="0" rIns="0" bIns="0" rtlCol="0" anchor="ctr"/>
          <a:lstStyle/>
          <a:p>
            <a:r>
              <a:rPr lang="en-US" sz="1700" b="1">
                <a:solidFill>
                  <a:srgbClr val="1E2761"/>
                </a:solidFill>
                <a:latin typeface="Calibri" pitchFamily="34" charset="0"/>
                <a:ea typeface="Calibri" pitchFamily="34" charset="-122"/>
                <a:cs typeface="Calibri" pitchFamily="34" charset="-120"/>
              </a:rPr>
              <a:t>The Saving Professional</a:t>
            </a:r>
            <a:endParaRPr lang="en-US" sz="1700"/>
          </a:p>
        </p:txBody>
      </p:sp>
      <p:sp>
        <p:nvSpPr>
          <p:cNvPr id="12" name="Text 9">
            <a:extLst>
              <a:ext uri="{FF2B5EF4-FFF2-40B4-BE49-F238E27FC236}">
                <a16:creationId xmlns:a16="http://schemas.microsoft.com/office/drawing/2014/main" id="{6133B80F-668A-AE0E-330C-3AA5C1B93282}"/>
              </a:ext>
            </a:extLst>
          </p:cNvPr>
          <p:cNvSpPr/>
          <p:nvPr/>
        </p:nvSpPr>
        <p:spPr>
          <a:xfrm>
            <a:off x="-5203738" y="2173096"/>
            <a:ext cx="2734758" cy="1371600"/>
          </a:xfrm>
          <a:prstGeom prst="rect">
            <a:avLst/>
          </a:prstGeom>
          <a:noFill/>
          <a:ln/>
        </p:spPr>
        <p:txBody>
          <a:bodyPr wrap="square" lIns="0" tIns="0" rIns="0" bIns="0" rtlCol="0" anchor="ctr"/>
          <a:lstStyle/>
          <a:p>
            <a:r>
              <a:rPr lang="en-US" sz="1200">
                <a:solidFill>
                  <a:srgbClr val="64748B"/>
                </a:solidFill>
                <a:latin typeface="Calibri" pitchFamily="34" charset="0"/>
                <a:ea typeface="Calibri" pitchFamily="34" charset="-122"/>
                <a:cs typeface="Calibri" pitchFamily="34" charset="-120"/>
              </a:rPr>
              <a:t>Mid-career, has cash savings sitting in low-interest accounts, knows they should be investing.</a:t>
            </a:r>
            <a:endParaRPr lang="en-US" sz="1200"/>
          </a:p>
        </p:txBody>
      </p:sp>
      <p:sp>
        <p:nvSpPr>
          <p:cNvPr id="13" name="Shape 10">
            <a:extLst>
              <a:ext uri="{FF2B5EF4-FFF2-40B4-BE49-F238E27FC236}">
                <a16:creationId xmlns:a16="http://schemas.microsoft.com/office/drawing/2014/main" id="{E9DE77AA-E80A-2537-5341-DF3D7C2E89EF}"/>
              </a:ext>
            </a:extLst>
          </p:cNvPr>
          <p:cNvSpPr/>
          <p:nvPr/>
        </p:nvSpPr>
        <p:spPr>
          <a:xfrm>
            <a:off x="-5203738" y="3159472"/>
            <a:ext cx="548640" cy="36576"/>
          </a:xfrm>
          <a:prstGeom prst="rect">
            <a:avLst/>
          </a:prstGeom>
          <a:solidFill>
            <a:srgbClr val="0EA5E9"/>
          </a:solidFill>
          <a:ln w="12700">
            <a:solidFill>
              <a:srgbClr val="0EA5E9"/>
            </a:solidFill>
            <a:prstDash val="solid"/>
          </a:ln>
        </p:spPr>
        <p:txBody>
          <a:bodyPr/>
          <a:lstStyle/>
          <a:p>
            <a:endParaRPr lang="en-US"/>
          </a:p>
        </p:txBody>
      </p:sp>
      <p:sp>
        <p:nvSpPr>
          <p:cNvPr id="14" name="Text 11">
            <a:extLst>
              <a:ext uri="{FF2B5EF4-FFF2-40B4-BE49-F238E27FC236}">
                <a16:creationId xmlns:a16="http://schemas.microsoft.com/office/drawing/2014/main" id="{95732188-DA9A-AB84-AEA5-FC7180CD8790}"/>
              </a:ext>
            </a:extLst>
          </p:cNvPr>
          <p:cNvSpPr/>
          <p:nvPr/>
        </p:nvSpPr>
        <p:spPr>
          <a:xfrm>
            <a:off x="-5203738" y="3250912"/>
            <a:ext cx="3063240" cy="274320"/>
          </a:xfrm>
          <a:prstGeom prst="rect">
            <a:avLst/>
          </a:prstGeom>
          <a:noFill/>
          <a:ln/>
        </p:spPr>
        <p:txBody>
          <a:bodyPr wrap="square" lIns="0" tIns="0" rIns="0" bIns="0" rtlCol="0" anchor="ctr"/>
          <a:lstStyle/>
          <a:p>
            <a:pPr marL="0" indent="0">
              <a:buNone/>
            </a:pPr>
            <a:r>
              <a:rPr lang="en-US" sz="900" b="1" kern="0" spc="300">
                <a:solidFill>
                  <a:srgbClr val="0EA5E9"/>
                </a:solidFill>
                <a:latin typeface="Calibri" pitchFamily="34" charset="0"/>
                <a:ea typeface="Calibri" pitchFamily="34" charset="-122"/>
                <a:cs typeface="Calibri" pitchFamily="34" charset="-120"/>
              </a:rPr>
              <a:t>PRIMARY GOAL</a:t>
            </a:r>
            <a:endParaRPr lang="en-US" sz="900">
              <a:solidFill>
                <a:srgbClr val="0EA5E9"/>
              </a:solidFill>
            </a:endParaRPr>
          </a:p>
        </p:txBody>
      </p:sp>
      <p:sp>
        <p:nvSpPr>
          <p:cNvPr id="15" name="Text 12">
            <a:extLst>
              <a:ext uri="{FF2B5EF4-FFF2-40B4-BE49-F238E27FC236}">
                <a16:creationId xmlns:a16="http://schemas.microsoft.com/office/drawing/2014/main" id="{C93DCDA5-1E46-3EC8-CD3F-962D2EB2C9B2}"/>
              </a:ext>
            </a:extLst>
          </p:cNvPr>
          <p:cNvSpPr/>
          <p:nvPr/>
        </p:nvSpPr>
        <p:spPr>
          <a:xfrm>
            <a:off x="-5203738" y="3325240"/>
            <a:ext cx="3063240" cy="548640"/>
          </a:xfrm>
          <a:prstGeom prst="rect">
            <a:avLst/>
          </a:prstGeom>
          <a:noFill/>
          <a:ln/>
        </p:spPr>
        <p:txBody>
          <a:bodyPr wrap="square" lIns="0" tIns="0" rIns="0" bIns="0" rtlCol="0" anchor="ctr"/>
          <a:lstStyle/>
          <a:p>
            <a:r>
              <a:rPr lang="en-US" sz="1200" i="1">
                <a:solidFill>
                  <a:srgbClr val="1A202C"/>
                </a:solidFill>
                <a:latin typeface="Calibri" pitchFamily="34" charset="0"/>
                <a:ea typeface="Calibri" pitchFamily="34" charset="-122"/>
                <a:cs typeface="Calibri" pitchFamily="34" charset="-120"/>
              </a:rPr>
              <a:t>Move savings into a balanced portfolio</a:t>
            </a:r>
            <a:endParaRPr lang="en-US" sz="1200"/>
          </a:p>
        </p:txBody>
      </p:sp>
      <p:sp>
        <p:nvSpPr>
          <p:cNvPr id="19" name="Shape 4">
            <a:extLst>
              <a:ext uri="{FF2B5EF4-FFF2-40B4-BE49-F238E27FC236}">
                <a16:creationId xmlns:a16="http://schemas.microsoft.com/office/drawing/2014/main" id="{3A9492EA-91E8-0F62-0F40-BA3C0D84CD4B}"/>
              </a:ext>
            </a:extLst>
          </p:cNvPr>
          <p:cNvSpPr/>
          <p:nvPr/>
        </p:nvSpPr>
        <p:spPr>
          <a:xfrm>
            <a:off x="-5432344" y="-856134"/>
            <a:ext cx="4928470" cy="228600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5">
            <a:extLst>
              <a:ext uri="{FF2B5EF4-FFF2-40B4-BE49-F238E27FC236}">
                <a16:creationId xmlns:a16="http://schemas.microsoft.com/office/drawing/2014/main" id="{F2BA7528-F338-2037-31D8-1F2A7B74B218}"/>
              </a:ext>
            </a:extLst>
          </p:cNvPr>
          <p:cNvSpPr/>
          <p:nvPr/>
        </p:nvSpPr>
        <p:spPr>
          <a:xfrm>
            <a:off x="-5432345" y="-856134"/>
            <a:ext cx="4928469" cy="548640"/>
          </a:xfrm>
          <a:prstGeom prst="rect">
            <a:avLst/>
          </a:prstGeom>
          <a:solidFill>
            <a:srgbClr val="22C55E"/>
          </a:solidFill>
          <a:ln w="12700">
            <a:solidFill>
              <a:srgbClr val="22C55E"/>
            </a:solidFill>
            <a:prstDash val="solid"/>
          </a:ln>
        </p:spPr>
        <p:txBody>
          <a:bodyPr/>
          <a:lstStyle/>
          <a:p>
            <a:endParaRPr lang="en-US"/>
          </a:p>
        </p:txBody>
      </p:sp>
      <p:sp>
        <p:nvSpPr>
          <p:cNvPr id="21" name="Text 6">
            <a:extLst>
              <a:ext uri="{FF2B5EF4-FFF2-40B4-BE49-F238E27FC236}">
                <a16:creationId xmlns:a16="http://schemas.microsoft.com/office/drawing/2014/main" id="{97B2EC89-365E-6034-5866-A512D273C766}"/>
              </a:ext>
            </a:extLst>
          </p:cNvPr>
          <p:cNvSpPr/>
          <p:nvPr/>
        </p:nvSpPr>
        <p:spPr>
          <a:xfrm>
            <a:off x="-5249464" y="-810414"/>
            <a:ext cx="548640"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22" name="Text 7">
            <a:extLst>
              <a:ext uri="{FF2B5EF4-FFF2-40B4-BE49-F238E27FC236}">
                <a16:creationId xmlns:a16="http://schemas.microsoft.com/office/drawing/2014/main" id="{FB80935E-7260-3026-C35B-F41C3A1748F0}"/>
              </a:ext>
            </a:extLst>
          </p:cNvPr>
          <p:cNvSpPr/>
          <p:nvPr/>
        </p:nvSpPr>
        <p:spPr>
          <a:xfrm>
            <a:off x="-4609384" y="-718974"/>
            <a:ext cx="2606040" cy="27432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22-30</a:t>
            </a:r>
            <a:endParaRPr lang="en-US" sz="1100"/>
          </a:p>
        </p:txBody>
      </p:sp>
      <p:sp>
        <p:nvSpPr>
          <p:cNvPr id="23" name="Text 8">
            <a:extLst>
              <a:ext uri="{FF2B5EF4-FFF2-40B4-BE49-F238E27FC236}">
                <a16:creationId xmlns:a16="http://schemas.microsoft.com/office/drawing/2014/main" id="{818D1B45-93AA-1924-8F9F-E8953BD4EF49}"/>
              </a:ext>
            </a:extLst>
          </p:cNvPr>
          <p:cNvSpPr/>
          <p:nvPr/>
        </p:nvSpPr>
        <p:spPr>
          <a:xfrm>
            <a:off x="-5203744" y="-278639"/>
            <a:ext cx="3063240" cy="457200"/>
          </a:xfrm>
          <a:prstGeom prst="rect">
            <a:avLst/>
          </a:prstGeom>
          <a:noFill/>
          <a:ln/>
        </p:spPr>
        <p:txBody>
          <a:bodyPr wrap="square" lIns="0" tIns="0" rIns="0" bIns="0" rtlCol="0" anchor="ctr"/>
          <a:lstStyle/>
          <a:p>
            <a:pPr marL="0" indent="0">
              <a:buNone/>
            </a:pPr>
            <a:r>
              <a:rPr lang="en-US" sz="1700" b="1">
                <a:solidFill>
                  <a:srgbClr val="1E2761"/>
                </a:solidFill>
                <a:latin typeface="Calibri" pitchFamily="34" charset="0"/>
                <a:ea typeface="Calibri" pitchFamily="34" charset="-122"/>
                <a:cs typeface="Calibri" pitchFamily="34" charset="-120"/>
              </a:rPr>
              <a:t>The Curious Beginner</a:t>
            </a:r>
            <a:endParaRPr lang="en-US" sz="1700"/>
          </a:p>
        </p:txBody>
      </p:sp>
      <p:sp>
        <p:nvSpPr>
          <p:cNvPr id="24" name="Text 9">
            <a:extLst>
              <a:ext uri="{FF2B5EF4-FFF2-40B4-BE49-F238E27FC236}">
                <a16:creationId xmlns:a16="http://schemas.microsoft.com/office/drawing/2014/main" id="{256F90DC-73E2-75CC-35EF-4099B0A0C2E9}"/>
              </a:ext>
            </a:extLst>
          </p:cNvPr>
          <p:cNvSpPr/>
          <p:nvPr/>
        </p:nvSpPr>
        <p:spPr>
          <a:xfrm>
            <a:off x="-5203744" y="-271569"/>
            <a:ext cx="2734758" cy="1371600"/>
          </a:xfrm>
          <a:prstGeom prst="rect">
            <a:avLst/>
          </a:prstGeom>
          <a:noFill/>
          <a:ln/>
        </p:spPr>
        <p:txBody>
          <a:bodyPr wrap="square" lIns="0" tIns="0" rIns="0" bIns="0" rtlCol="0" anchor="ctr"/>
          <a:lstStyle/>
          <a:p>
            <a:pPr marL="0" indent="0">
              <a:buNone/>
            </a:pPr>
            <a:r>
              <a:rPr lang="en-US" sz="1200">
                <a:solidFill>
                  <a:srgbClr val="64748B"/>
                </a:solidFill>
                <a:latin typeface="Calibri" pitchFamily="34" charset="0"/>
                <a:ea typeface="Calibri" pitchFamily="34" charset="-122"/>
                <a:cs typeface="Calibri" pitchFamily="34" charset="-120"/>
              </a:rPr>
              <a:t>Recent graduate, first salary, hears about investing from friends but has never bought a share.</a:t>
            </a:r>
            <a:endParaRPr lang="en-US" sz="1200"/>
          </a:p>
        </p:txBody>
      </p:sp>
      <p:sp>
        <p:nvSpPr>
          <p:cNvPr id="25" name="Shape 10">
            <a:extLst>
              <a:ext uri="{FF2B5EF4-FFF2-40B4-BE49-F238E27FC236}">
                <a16:creationId xmlns:a16="http://schemas.microsoft.com/office/drawing/2014/main" id="{CE71AB5F-F26F-815F-56D9-85F25E50A5D3}"/>
              </a:ext>
            </a:extLst>
          </p:cNvPr>
          <p:cNvSpPr/>
          <p:nvPr/>
        </p:nvSpPr>
        <p:spPr>
          <a:xfrm>
            <a:off x="-5203744" y="714807"/>
            <a:ext cx="548640" cy="36576"/>
          </a:xfrm>
          <a:prstGeom prst="rect">
            <a:avLst/>
          </a:prstGeom>
          <a:solidFill>
            <a:srgbClr val="22C55E"/>
          </a:solidFill>
          <a:ln w="12700">
            <a:solidFill>
              <a:srgbClr val="22C55E"/>
            </a:solidFill>
            <a:prstDash val="solid"/>
          </a:ln>
        </p:spPr>
        <p:txBody>
          <a:bodyPr/>
          <a:lstStyle/>
          <a:p>
            <a:endParaRPr lang="en-US"/>
          </a:p>
        </p:txBody>
      </p:sp>
      <p:sp>
        <p:nvSpPr>
          <p:cNvPr id="26" name="Text 11">
            <a:extLst>
              <a:ext uri="{FF2B5EF4-FFF2-40B4-BE49-F238E27FC236}">
                <a16:creationId xmlns:a16="http://schemas.microsoft.com/office/drawing/2014/main" id="{3F24A8F2-2E30-4362-A507-54F7CD50F6C7}"/>
              </a:ext>
            </a:extLst>
          </p:cNvPr>
          <p:cNvSpPr/>
          <p:nvPr/>
        </p:nvSpPr>
        <p:spPr>
          <a:xfrm>
            <a:off x="-5203744" y="806247"/>
            <a:ext cx="3063240" cy="274320"/>
          </a:xfrm>
          <a:prstGeom prst="rect">
            <a:avLst/>
          </a:prstGeom>
          <a:noFill/>
          <a:ln/>
        </p:spPr>
        <p:txBody>
          <a:bodyPr wrap="square" lIns="0" tIns="0" rIns="0" bIns="0" rtlCol="0" anchor="ctr"/>
          <a:lstStyle/>
          <a:p>
            <a:pPr marL="0" indent="0">
              <a:buNone/>
            </a:pPr>
            <a:r>
              <a:rPr lang="en-US" sz="900" b="1" kern="0" spc="300">
                <a:solidFill>
                  <a:srgbClr val="22C55E"/>
                </a:solidFill>
                <a:latin typeface="Calibri" pitchFamily="34" charset="0"/>
                <a:ea typeface="Calibri" pitchFamily="34" charset="-122"/>
                <a:cs typeface="Calibri" pitchFamily="34" charset="-120"/>
              </a:rPr>
              <a:t>PRIMARY GOAL</a:t>
            </a:r>
            <a:endParaRPr lang="en-US" sz="900"/>
          </a:p>
        </p:txBody>
      </p:sp>
      <p:sp>
        <p:nvSpPr>
          <p:cNvPr id="27" name="Text 12">
            <a:extLst>
              <a:ext uri="{FF2B5EF4-FFF2-40B4-BE49-F238E27FC236}">
                <a16:creationId xmlns:a16="http://schemas.microsoft.com/office/drawing/2014/main" id="{3F1FA66D-1551-785C-1B36-8CA59821C33A}"/>
              </a:ext>
            </a:extLst>
          </p:cNvPr>
          <p:cNvSpPr/>
          <p:nvPr/>
        </p:nvSpPr>
        <p:spPr>
          <a:xfrm>
            <a:off x="-5203744" y="880575"/>
            <a:ext cx="3063240" cy="548640"/>
          </a:xfrm>
          <a:prstGeom prst="rect">
            <a:avLst/>
          </a:prstGeom>
          <a:noFill/>
          <a:ln/>
        </p:spPr>
        <p:txBody>
          <a:bodyPr wrap="square" lIns="0" tIns="0" rIns="0" bIns="0" rtlCol="0" anchor="ctr"/>
          <a:lstStyle/>
          <a:p>
            <a:pPr marL="0" indent="0">
              <a:buNone/>
            </a:pPr>
            <a:r>
              <a:rPr lang="en-US" sz="1200" i="1">
                <a:solidFill>
                  <a:srgbClr val="1A202C"/>
                </a:solidFill>
                <a:latin typeface="Calibri" pitchFamily="34" charset="0"/>
                <a:ea typeface="Calibri" pitchFamily="34" charset="-122"/>
                <a:cs typeface="Calibri" pitchFamily="34" charset="-120"/>
              </a:rPr>
              <a:t>Learn safely with small amounts</a:t>
            </a:r>
            <a:endParaRPr lang="en-US" sz="1200"/>
          </a:p>
        </p:txBody>
      </p:sp>
      <p:pic>
        <p:nvPicPr>
          <p:cNvPr id="28" name="Picture 27" descr="Visualising Your User Research – Are Personas the Answer? | Personas ...">
            <a:extLst>
              <a:ext uri="{FF2B5EF4-FFF2-40B4-BE49-F238E27FC236}">
                <a16:creationId xmlns:a16="http://schemas.microsoft.com/office/drawing/2014/main" id="{501C2882-80BE-2D68-299D-195326604943}"/>
              </a:ext>
            </a:extLst>
          </p:cNvPr>
          <p:cNvPicPr>
            <a:picLocks noChangeAspect="1"/>
          </p:cNvPicPr>
          <p:nvPr/>
        </p:nvPicPr>
        <p:blipFill>
          <a:blip r:embed="rId4"/>
          <a:srcRect l="2060" t="2732" r="69755" b="53947"/>
          <a:stretch>
            <a:fillRect/>
          </a:stretch>
        </p:blipFill>
        <p:spPr>
          <a:xfrm>
            <a:off x="-2468985" y="-284390"/>
            <a:ext cx="1965110" cy="1726213"/>
          </a:xfrm>
          <a:prstGeom prst="rect">
            <a:avLst/>
          </a:prstGeom>
        </p:spPr>
      </p:pic>
      <p:sp>
        <p:nvSpPr>
          <p:cNvPr id="29" name="Shape 4">
            <a:extLst>
              <a:ext uri="{FF2B5EF4-FFF2-40B4-BE49-F238E27FC236}">
                <a16:creationId xmlns:a16="http://schemas.microsoft.com/office/drawing/2014/main" id="{345D0E5E-3FAC-8489-6F79-6100E19555EA}"/>
              </a:ext>
            </a:extLst>
          </p:cNvPr>
          <p:cNvSpPr/>
          <p:nvPr/>
        </p:nvSpPr>
        <p:spPr>
          <a:xfrm>
            <a:off x="-5432335" y="4020000"/>
            <a:ext cx="4928470" cy="228600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Text 7">
            <a:extLst>
              <a:ext uri="{FF2B5EF4-FFF2-40B4-BE49-F238E27FC236}">
                <a16:creationId xmlns:a16="http://schemas.microsoft.com/office/drawing/2014/main" id="{91AB3ADE-261E-FF7D-5ED1-5E46BADAC703}"/>
              </a:ext>
            </a:extLst>
          </p:cNvPr>
          <p:cNvSpPr/>
          <p:nvPr/>
        </p:nvSpPr>
        <p:spPr>
          <a:xfrm>
            <a:off x="-4609375" y="4157160"/>
            <a:ext cx="2606040" cy="27432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22-30</a:t>
            </a:r>
            <a:endParaRPr lang="en-US" sz="1100"/>
          </a:p>
        </p:txBody>
      </p:sp>
      <p:sp>
        <p:nvSpPr>
          <p:cNvPr id="33" name="Text 8">
            <a:extLst>
              <a:ext uri="{FF2B5EF4-FFF2-40B4-BE49-F238E27FC236}">
                <a16:creationId xmlns:a16="http://schemas.microsoft.com/office/drawing/2014/main" id="{A08E278D-490D-372C-763C-7B3B0B125F73}"/>
              </a:ext>
            </a:extLst>
          </p:cNvPr>
          <p:cNvSpPr/>
          <p:nvPr/>
        </p:nvSpPr>
        <p:spPr>
          <a:xfrm>
            <a:off x="-5203735" y="4597495"/>
            <a:ext cx="3063240" cy="457200"/>
          </a:xfrm>
          <a:prstGeom prst="rect">
            <a:avLst/>
          </a:prstGeom>
          <a:noFill/>
          <a:ln/>
        </p:spPr>
        <p:txBody>
          <a:bodyPr wrap="square" lIns="0" tIns="0" rIns="0" bIns="0" rtlCol="0" anchor="ctr"/>
          <a:lstStyle/>
          <a:p>
            <a:r>
              <a:rPr lang="en-US" sz="1700" b="1">
                <a:solidFill>
                  <a:srgbClr val="1E2761"/>
                </a:solidFill>
                <a:latin typeface="Calibri" pitchFamily="34" charset="0"/>
                <a:ea typeface="Calibri" pitchFamily="34" charset="-122"/>
                <a:cs typeface="Calibri" pitchFamily="34" charset="-120"/>
              </a:rPr>
              <a:t>The Future Planner</a:t>
            </a:r>
            <a:endParaRPr lang="en-US" sz="1700"/>
          </a:p>
        </p:txBody>
      </p:sp>
      <p:sp>
        <p:nvSpPr>
          <p:cNvPr id="34" name="Text 9">
            <a:extLst>
              <a:ext uri="{FF2B5EF4-FFF2-40B4-BE49-F238E27FC236}">
                <a16:creationId xmlns:a16="http://schemas.microsoft.com/office/drawing/2014/main" id="{2A5985AB-E9A6-1CAC-7E55-26505F0A39A7}"/>
              </a:ext>
            </a:extLst>
          </p:cNvPr>
          <p:cNvSpPr/>
          <p:nvPr/>
        </p:nvSpPr>
        <p:spPr>
          <a:xfrm>
            <a:off x="-5203735" y="4604565"/>
            <a:ext cx="2734758" cy="1371600"/>
          </a:xfrm>
          <a:prstGeom prst="rect">
            <a:avLst/>
          </a:prstGeom>
          <a:noFill/>
          <a:ln/>
        </p:spPr>
        <p:txBody>
          <a:bodyPr wrap="square" lIns="0" tIns="0" rIns="0" bIns="0" rtlCol="0" anchor="ctr"/>
          <a:lstStyle/>
          <a:p>
            <a:r>
              <a:rPr lang="en-US" sz="1200">
                <a:solidFill>
                  <a:srgbClr val="64748B"/>
                </a:solidFill>
                <a:latin typeface="Calibri" pitchFamily="34" charset="0"/>
                <a:ea typeface="Calibri" pitchFamily="34" charset="-122"/>
                <a:cs typeface="Calibri" pitchFamily="34" charset="-120"/>
              </a:rPr>
              <a:t>Established career, pension in place, looking to supplement retirement with extra investments.</a:t>
            </a:r>
            <a:endParaRPr lang="en-US" sz="1200"/>
          </a:p>
        </p:txBody>
      </p:sp>
      <p:sp>
        <p:nvSpPr>
          <p:cNvPr id="35" name="Shape 10">
            <a:extLst>
              <a:ext uri="{FF2B5EF4-FFF2-40B4-BE49-F238E27FC236}">
                <a16:creationId xmlns:a16="http://schemas.microsoft.com/office/drawing/2014/main" id="{E045A1C5-C53F-380B-BBE5-68E3CF1D4550}"/>
              </a:ext>
            </a:extLst>
          </p:cNvPr>
          <p:cNvSpPr/>
          <p:nvPr/>
        </p:nvSpPr>
        <p:spPr>
          <a:xfrm>
            <a:off x="-5203735" y="5590941"/>
            <a:ext cx="548640" cy="36576"/>
          </a:xfrm>
          <a:prstGeom prst="rect">
            <a:avLst/>
          </a:prstGeom>
          <a:solidFill>
            <a:srgbClr val="A855F7"/>
          </a:solidFill>
          <a:ln w="12700">
            <a:solidFill>
              <a:srgbClr val="E34BD8"/>
            </a:solidFill>
            <a:prstDash val="solid"/>
          </a:ln>
        </p:spPr>
        <p:txBody>
          <a:bodyPr/>
          <a:lstStyle/>
          <a:p>
            <a:endParaRPr lang="en-US"/>
          </a:p>
        </p:txBody>
      </p:sp>
      <p:sp>
        <p:nvSpPr>
          <p:cNvPr id="36" name="Text 11">
            <a:extLst>
              <a:ext uri="{FF2B5EF4-FFF2-40B4-BE49-F238E27FC236}">
                <a16:creationId xmlns:a16="http://schemas.microsoft.com/office/drawing/2014/main" id="{8E039156-64B5-E88C-6893-D0AB803EA6DF}"/>
              </a:ext>
            </a:extLst>
          </p:cNvPr>
          <p:cNvSpPr/>
          <p:nvPr/>
        </p:nvSpPr>
        <p:spPr>
          <a:xfrm>
            <a:off x="-5203735" y="5682381"/>
            <a:ext cx="3063240" cy="274320"/>
          </a:xfrm>
          <a:prstGeom prst="rect">
            <a:avLst/>
          </a:prstGeom>
          <a:noFill/>
          <a:ln/>
        </p:spPr>
        <p:txBody>
          <a:bodyPr wrap="square" lIns="0" tIns="0" rIns="0" bIns="0" rtlCol="0" anchor="ctr"/>
          <a:lstStyle/>
          <a:p>
            <a:pPr marL="0" indent="0">
              <a:buNone/>
            </a:pPr>
            <a:r>
              <a:rPr lang="en-US" sz="900" b="1" kern="0" spc="300">
                <a:solidFill>
                  <a:srgbClr val="A855F7"/>
                </a:solidFill>
                <a:latin typeface="Calibri" pitchFamily="34" charset="0"/>
                <a:ea typeface="Calibri" pitchFamily="34" charset="-122"/>
                <a:cs typeface="Calibri" pitchFamily="34" charset="-120"/>
              </a:rPr>
              <a:t>PRIMARY GOAL</a:t>
            </a:r>
            <a:endParaRPr lang="en-US" sz="900">
              <a:solidFill>
                <a:srgbClr val="A855F7"/>
              </a:solidFill>
            </a:endParaRPr>
          </a:p>
        </p:txBody>
      </p:sp>
      <p:sp>
        <p:nvSpPr>
          <p:cNvPr id="37" name="Text 12">
            <a:extLst>
              <a:ext uri="{FF2B5EF4-FFF2-40B4-BE49-F238E27FC236}">
                <a16:creationId xmlns:a16="http://schemas.microsoft.com/office/drawing/2014/main" id="{6F832916-99C9-C0E8-539D-4C87CB6DEE7B}"/>
              </a:ext>
            </a:extLst>
          </p:cNvPr>
          <p:cNvSpPr/>
          <p:nvPr/>
        </p:nvSpPr>
        <p:spPr>
          <a:xfrm>
            <a:off x="-5203735" y="5756709"/>
            <a:ext cx="2734757" cy="548640"/>
          </a:xfrm>
          <a:prstGeom prst="rect">
            <a:avLst/>
          </a:prstGeom>
          <a:noFill/>
          <a:ln/>
        </p:spPr>
        <p:txBody>
          <a:bodyPr wrap="square" lIns="0" tIns="0" rIns="0" bIns="0" rtlCol="0" anchor="ctr"/>
          <a:lstStyle/>
          <a:p>
            <a:r>
              <a:rPr lang="en-US" sz="1200" i="1" err="1">
                <a:solidFill>
                  <a:srgbClr val="1A202C"/>
                </a:solidFill>
                <a:latin typeface="Calibri" pitchFamily="34" charset="0"/>
                <a:ea typeface="Calibri" pitchFamily="34" charset="-122"/>
                <a:cs typeface="Calibri" pitchFamily="34" charset="-120"/>
              </a:rPr>
              <a:t>Optimise</a:t>
            </a:r>
            <a:r>
              <a:rPr lang="en-US" sz="1200" i="1">
                <a:solidFill>
                  <a:srgbClr val="1A202C"/>
                </a:solidFill>
                <a:latin typeface="Calibri" pitchFamily="34" charset="0"/>
                <a:ea typeface="Calibri" pitchFamily="34" charset="-122"/>
                <a:cs typeface="Calibri" pitchFamily="34" charset="-120"/>
              </a:rPr>
              <a:t> risk-adjusted returns over 10–20 years</a:t>
            </a:r>
            <a:endParaRPr lang="en-US" sz="1200"/>
          </a:p>
        </p:txBody>
      </p:sp>
      <p:pic>
        <p:nvPicPr>
          <p:cNvPr id="3" name="Picture 2" descr="Visualising Your User Research – Are Personas the Answer? | Personas ...">
            <a:extLst>
              <a:ext uri="{FF2B5EF4-FFF2-40B4-BE49-F238E27FC236}">
                <a16:creationId xmlns:a16="http://schemas.microsoft.com/office/drawing/2014/main" id="{BC92EA1F-04C2-4673-F5D3-BA54634E5E68}"/>
              </a:ext>
            </a:extLst>
          </p:cNvPr>
          <p:cNvPicPr>
            <a:picLocks noChangeAspect="1"/>
          </p:cNvPicPr>
          <p:nvPr/>
        </p:nvPicPr>
        <p:blipFill>
          <a:blip r:embed="rId4"/>
          <a:srcRect l="69887" t="3536" r="2643" b="53948"/>
          <a:stretch>
            <a:fillRect/>
          </a:stretch>
        </p:blipFill>
        <p:spPr>
          <a:xfrm>
            <a:off x="-2468977" y="4567817"/>
            <a:ext cx="1965111" cy="1738184"/>
          </a:xfrm>
          <a:prstGeom prst="rect">
            <a:avLst/>
          </a:prstGeom>
        </p:spPr>
      </p:pic>
      <p:sp>
        <p:nvSpPr>
          <p:cNvPr id="43" name="Shape 23">
            <a:extLst>
              <a:ext uri="{FF2B5EF4-FFF2-40B4-BE49-F238E27FC236}">
                <a16:creationId xmlns:a16="http://schemas.microsoft.com/office/drawing/2014/main" id="{30D1726C-AFAB-48EB-E588-8B988DEF6809}"/>
              </a:ext>
            </a:extLst>
          </p:cNvPr>
          <p:cNvSpPr/>
          <p:nvPr/>
        </p:nvSpPr>
        <p:spPr>
          <a:xfrm>
            <a:off x="-5432336" y="4011691"/>
            <a:ext cx="4928468" cy="548640"/>
          </a:xfrm>
          <a:prstGeom prst="rect">
            <a:avLst/>
          </a:prstGeom>
          <a:solidFill>
            <a:srgbClr val="A855F7"/>
          </a:solidFill>
          <a:ln w="12700">
            <a:solidFill>
              <a:srgbClr val="A855F7"/>
            </a:solidFill>
            <a:prstDash val="solid"/>
          </a:ln>
        </p:spPr>
        <p:txBody>
          <a:bodyPr/>
          <a:lstStyle/>
          <a:p>
            <a:endParaRPr lang="en-US"/>
          </a:p>
        </p:txBody>
      </p:sp>
      <p:sp>
        <p:nvSpPr>
          <p:cNvPr id="44" name="Text 24">
            <a:extLst>
              <a:ext uri="{FF2B5EF4-FFF2-40B4-BE49-F238E27FC236}">
                <a16:creationId xmlns:a16="http://schemas.microsoft.com/office/drawing/2014/main" id="{ACB7F85D-C555-47F4-F987-4FC2B9077F6B}"/>
              </a:ext>
            </a:extLst>
          </p:cNvPr>
          <p:cNvSpPr/>
          <p:nvPr/>
        </p:nvSpPr>
        <p:spPr>
          <a:xfrm>
            <a:off x="-5249457" y="4057411"/>
            <a:ext cx="768073"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45" name="Text 25">
            <a:extLst>
              <a:ext uri="{FF2B5EF4-FFF2-40B4-BE49-F238E27FC236}">
                <a16:creationId xmlns:a16="http://schemas.microsoft.com/office/drawing/2014/main" id="{5C508D14-A104-F754-E9DD-16E9329A5CCA}"/>
              </a:ext>
            </a:extLst>
          </p:cNvPr>
          <p:cNvSpPr/>
          <p:nvPr/>
        </p:nvSpPr>
        <p:spPr>
          <a:xfrm>
            <a:off x="-4609376" y="4148851"/>
            <a:ext cx="3648346" cy="27432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45-60</a:t>
            </a:r>
            <a:endParaRPr lang="en-US" sz="1100"/>
          </a:p>
        </p:txBody>
      </p:sp>
      <p:sp>
        <p:nvSpPr>
          <p:cNvPr id="46" name="Shape 14">
            <a:extLst>
              <a:ext uri="{FF2B5EF4-FFF2-40B4-BE49-F238E27FC236}">
                <a16:creationId xmlns:a16="http://schemas.microsoft.com/office/drawing/2014/main" id="{9EB975FF-C334-6C99-82F2-01DC70F2DD06}"/>
              </a:ext>
            </a:extLst>
          </p:cNvPr>
          <p:cNvSpPr/>
          <p:nvPr/>
        </p:nvSpPr>
        <p:spPr>
          <a:xfrm>
            <a:off x="-5432338" y="1587292"/>
            <a:ext cx="4928464" cy="548640"/>
          </a:xfrm>
          <a:prstGeom prst="rect">
            <a:avLst/>
          </a:prstGeom>
          <a:solidFill>
            <a:srgbClr val="0EA5E9"/>
          </a:solidFill>
          <a:ln w="12700">
            <a:solidFill>
              <a:srgbClr val="0EA5E9"/>
            </a:solidFill>
            <a:prstDash val="solid"/>
          </a:ln>
        </p:spPr>
        <p:txBody>
          <a:bodyPr/>
          <a:lstStyle/>
          <a:p>
            <a:endParaRPr lang="en-US"/>
          </a:p>
        </p:txBody>
      </p:sp>
      <p:sp>
        <p:nvSpPr>
          <p:cNvPr id="47" name="Text 15">
            <a:extLst>
              <a:ext uri="{FF2B5EF4-FFF2-40B4-BE49-F238E27FC236}">
                <a16:creationId xmlns:a16="http://schemas.microsoft.com/office/drawing/2014/main" id="{14A5F391-F708-56B0-A2C0-EF1034A5A578}"/>
              </a:ext>
            </a:extLst>
          </p:cNvPr>
          <p:cNvSpPr/>
          <p:nvPr/>
        </p:nvSpPr>
        <p:spPr>
          <a:xfrm>
            <a:off x="-5249458" y="1633012"/>
            <a:ext cx="548640"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48" name="Text 16">
            <a:extLst>
              <a:ext uri="{FF2B5EF4-FFF2-40B4-BE49-F238E27FC236}">
                <a16:creationId xmlns:a16="http://schemas.microsoft.com/office/drawing/2014/main" id="{D1253847-BED3-A8CE-1E68-E9F85978BBD9}"/>
              </a:ext>
            </a:extLst>
          </p:cNvPr>
          <p:cNvSpPr/>
          <p:nvPr/>
        </p:nvSpPr>
        <p:spPr>
          <a:xfrm>
            <a:off x="-4609378" y="1724452"/>
            <a:ext cx="2606040" cy="27432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30-45</a:t>
            </a:r>
            <a:endParaRPr lang="en-US" sz="1100"/>
          </a:p>
        </p:txBody>
      </p:sp>
      <p:pic>
        <p:nvPicPr>
          <p:cNvPr id="17" name="Picture 16" descr="Visualising Your User Research – Are Personas the Answer? | Personas ...">
            <a:extLst>
              <a:ext uri="{FF2B5EF4-FFF2-40B4-BE49-F238E27FC236}">
                <a16:creationId xmlns:a16="http://schemas.microsoft.com/office/drawing/2014/main" id="{C846EE2B-4BAC-4D29-823F-57DA3239F59A}"/>
              </a:ext>
            </a:extLst>
          </p:cNvPr>
          <p:cNvPicPr>
            <a:picLocks noChangeAspect="1"/>
          </p:cNvPicPr>
          <p:nvPr/>
        </p:nvPicPr>
        <p:blipFill>
          <a:blip r:embed="rId4"/>
          <a:srcRect l="36164" t="2255" r="36031" b="53948"/>
          <a:stretch>
            <a:fillRect/>
          </a:stretch>
        </p:blipFill>
        <p:spPr>
          <a:xfrm>
            <a:off x="-2421228" y="2143418"/>
            <a:ext cx="1917354" cy="1725979"/>
          </a:xfrm>
          <a:prstGeom prst="rect">
            <a:avLst/>
          </a:prstGeom>
        </p:spPr>
      </p:pic>
      <p:sp>
        <p:nvSpPr>
          <p:cNvPr id="49" name="Shape 4">
            <a:extLst>
              <a:ext uri="{FF2B5EF4-FFF2-40B4-BE49-F238E27FC236}">
                <a16:creationId xmlns:a16="http://schemas.microsoft.com/office/drawing/2014/main" id="{D5E1EFB7-FB23-BB57-3A2C-180A7C62A17F}"/>
              </a:ext>
            </a:extLst>
          </p:cNvPr>
          <p:cNvSpPr/>
          <p:nvPr/>
        </p:nvSpPr>
        <p:spPr>
          <a:xfrm>
            <a:off x="182780" y="1926159"/>
            <a:ext cx="1965111" cy="3103041"/>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0" name="Shape 5">
            <a:extLst>
              <a:ext uri="{FF2B5EF4-FFF2-40B4-BE49-F238E27FC236}">
                <a16:creationId xmlns:a16="http://schemas.microsoft.com/office/drawing/2014/main" id="{93F1F173-6DFE-B8D3-F807-7C89A5E14CA7}"/>
              </a:ext>
            </a:extLst>
          </p:cNvPr>
          <p:cNvSpPr/>
          <p:nvPr/>
        </p:nvSpPr>
        <p:spPr>
          <a:xfrm>
            <a:off x="182780" y="1926159"/>
            <a:ext cx="1965111" cy="548640"/>
          </a:xfrm>
          <a:prstGeom prst="rect">
            <a:avLst/>
          </a:prstGeom>
          <a:solidFill>
            <a:srgbClr val="22C55E"/>
          </a:solidFill>
          <a:ln w="12700">
            <a:solidFill>
              <a:srgbClr val="22C55E"/>
            </a:solidFill>
            <a:prstDash val="solid"/>
          </a:ln>
        </p:spPr>
        <p:txBody>
          <a:bodyPr/>
          <a:lstStyle/>
          <a:p>
            <a:endParaRPr lang="en-US"/>
          </a:p>
        </p:txBody>
      </p:sp>
      <p:sp>
        <p:nvSpPr>
          <p:cNvPr id="51" name="Text 6">
            <a:extLst>
              <a:ext uri="{FF2B5EF4-FFF2-40B4-BE49-F238E27FC236}">
                <a16:creationId xmlns:a16="http://schemas.microsoft.com/office/drawing/2014/main" id="{597D196C-5887-77B5-FE24-5BA4052A2703}"/>
              </a:ext>
            </a:extLst>
          </p:cNvPr>
          <p:cNvSpPr/>
          <p:nvPr/>
        </p:nvSpPr>
        <p:spPr>
          <a:xfrm>
            <a:off x="365660" y="1971879"/>
            <a:ext cx="548640"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52" name="Text 7">
            <a:extLst>
              <a:ext uri="{FF2B5EF4-FFF2-40B4-BE49-F238E27FC236}">
                <a16:creationId xmlns:a16="http://schemas.microsoft.com/office/drawing/2014/main" id="{B53ED0D3-1042-555E-1294-E7CC2C1F84C6}"/>
              </a:ext>
            </a:extLst>
          </p:cNvPr>
          <p:cNvSpPr/>
          <p:nvPr/>
        </p:nvSpPr>
        <p:spPr>
          <a:xfrm>
            <a:off x="811690" y="2037630"/>
            <a:ext cx="1124712" cy="286889"/>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22-30</a:t>
            </a:r>
            <a:endParaRPr lang="en-US" sz="1100"/>
          </a:p>
        </p:txBody>
      </p:sp>
      <p:sp>
        <p:nvSpPr>
          <p:cNvPr id="53" name="Text 8">
            <a:extLst>
              <a:ext uri="{FF2B5EF4-FFF2-40B4-BE49-F238E27FC236}">
                <a16:creationId xmlns:a16="http://schemas.microsoft.com/office/drawing/2014/main" id="{DFFC9C2D-4056-C899-DE0D-975F8D2ABD9E}"/>
              </a:ext>
            </a:extLst>
          </p:cNvPr>
          <p:cNvSpPr/>
          <p:nvPr/>
        </p:nvSpPr>
        <p:spPr>
          <a:xfrm>
            <a:off x="411380" y="2537096"/>
            <a:ext cx="1525022" cy="411480"/>
          </a:xfrm>
          <a:prstGeom prst="rect">
            <a:avLst/>
          </a:prstGeom>
          <a:noFill/>
          <a:ln/>
        </p:spPr>
        <p:txBody>
          <a:bodyPr wrap="square" lIns="0" tIns="0" rIns="0" bIns="0" rtlCol="0" anchor="ctr"/>
          <a:lstStyle/>
          <a:p>
            <a:pPr marL="0" indent="0">
              <a:buNone/>
            </a:pPr>
            <a:r>
              <a:rPr lang="en-US" sz="1700" b="1">
                <a:solidFill>
                  <a:srgbClr val="1E2761"/>
                </a:solidFill>
                <a:latin typeface="Calibri" pitchFamily="34" charset="0"/>
                <a:ea typeface="Calibri" pitchFamily="34" charset="-122"/>
                <a:cs typeface="Calibri" pitchFamily="34" charset="-120"/>
              </a:rPr>
              <a:t>The Curious Beginner</a:t>
            </a:r>
            <a:endParaRPr lang="en-US" sz="1700"/>
          </a:p>
        </p:txBody>
      </p:sp>
      <p:sp>
        <p:nvSpPr>
          <p:cNvPr id="54" name="Text 9">
            <a:extLst>
              <a:ext uri="{FF2B5EF4-FFF2-40B4-BE49-F238E27FC236}">
                <a16:creationId xmlns:a16="http://schemas.microsoft.com/office/drawing/2014/main" id="{18CBA232-D5EE-A926-B455-DCB153926E7A}"/>
              </a:ext>
            </a:extLst>
          </p:cNvPr>
          <p:cNvSpPr/>
          <p:nvPr/>
        </p:nvSpPr>
        <p:spPr>
          <a:xfrm>
            <a:off x="411380" y="2842741"/>
            <a:ext cx="1513335" cy="1371600"/>
          </a:xfrm>
          <a:prstGeom prst="rect">
            <a:avLst/>
          </a:prstGeom>
          <a:noFill/>
          <a:ln/>
        </p:spPr>
        <p:txBody>
          <a:bodyPr wrap="square" lIns="0" tIns="0" rIns="0" bIns="0" rtlCol="0" anchor="ctr"/>
          <a:lstStyle/>
          <a:p>
            <a:pPr marL="0" indent="0">
              <a:buNone/>
            </a:pPr>
            <a:r>
              <a:rPr lang="en-US" sz="1200">
                <a:solidFill>
                  <a:srgbClr val="64748B"/>
                </a:solidFill>
                <a:latin typeface="Calibri" pitchFamily="34" charset="0"/>
                <a:ea typeface="Calibri" pitchFamily="34" charset="-122"/>
                <a:cs typeface="Calibri" pitchFamily="34" charset="-120"/>
              </a:rPr>
              <a:t>Recent graduate, first salary, hears about investing from friends but has never bought a share.</a:t>
            </a:r>
            <a:endParaRPr lang="en-US" sz="1200"/>
          </a:p>
        </p:txBody>
      </p:sp>
      <p:sp>
        <p:nvSpPr>
          <p:cNvPr id="55" name="Shape 10">
            <a:extLst>
              <a:ext uri="{FF2B5EF4-FFF2-40B4-BE49-F238E27FC236}">
                <a16:creationId xmlns:a16="http://schemas.microsoft.com/office/drawing/2014/main" id="{4F8C0404-9E93-9190-683A-7A1A469A127C}"/>
              </a:ext>
            </a:extLst>
          </p:cNvPr>
          <p:cNvSpPr/>
          <p:nvPr/>
        </p:nvSpPr>
        <p:spPr>
          <a:xfrm>
            <a:off x="411380" y="4055257"/>
            <a:ext cx="548640" cy="36576"/>
          </a:xfrm>
          <a:prstGeom prst="rect">
            <a:avLst/>
          </a:prstGeom>
          <a:solidFill>
            <a:srgbClr val="22C55E"/>
          </a:solidFill>
          <a:ln w="12700">
            <a:solidFill>
              <a:srgbClr val="22C55E"/>
            </a:solidFill>
            <a:prstDash val="solid"/>
          </a:ln>
        </p:spPr>
        <p:txBody>
          <a:bodyPr/>
          <a:lstStyle/>
          <a:p>
            <a:endParaRPr lang="en-US"/>
          </a:p>
        </p:txBody>
      </p:sp>
      <p:sp>
        <p:nvSpPr>
          <p:cNvPr id="56" name="Text 11">
            <a:extLst>
              <a:ext uri="{FF2B5EF4-FFF2-40B4-BE49-F238E27FC236}">
                <a16:creationId xmlns:a16="http://schemas.microsoft.com/office/drawing/2014/main" id="{5BF3A2F2-4F81-223B-79FB-677AED9A11AD}"/>
              </a:ext>
            </a:extLst>
          </p:cNvPr>
          <p:cNvSpPr/>
          <p:nvPr/>
        </p:nvSpPr>
        <p:spPr>
          <a:xfrm>
            <a:off x="411380" y="4133174"/>
            <a:ext cx="1525022" cy="287843"/>
          </a:xfrm>
          <a:prstGeom prst="rect">
            <a:avLst/>
          </a:prstGeom>
          <a:noFill/>
          <a:ln/>
        </p:spPr>
        <p:txBody>
          <a:bodyPr wrap="square" lIns="0" tIns="0" rIns="0" bIns="0" rtlCol="0" anchor="ctr"/>
          <a:lstStyle/>
          <a:p>
            <a:pPr marL="0" indent="0">
              <a:buNone/>
            </a:pPr>
            <a:r>
              <a:rPr lang="en-US" sz="900" b="1" kern="0" spc="300">
                <a:solidFill>
                  <a:srgbClr val="22C55E"/>
                </a:solidFill>
                <a:latin typeface="Calibri" pitchFamily="34" charset="0"/>
                <a:ea typeface="Calibri" pitchFamily="34" charset="-122"/>
                <a:cs typeface="Calibri" pitchFamily="34" charset="-120"/>
              </a:rPr>
              <a:t>PRIMARY GOAL</a:t>
            </a:r>
            <a:endParaRPr lang="en-US" sz="900"/>
          </a:p>
        </p:txBody>
      </p:sp>
      <p:sp>
        <p:nvSpPr>
          <p:cNvPr id="57" name="Text 12">
            <a:extLst>
              <a:ext uri="{FF2B5EF4-FFF2-40B4-BE49-F238E27FC236}">
                <a16:creationId xmlns:a16="http://schemas.microsoft.com/office/drawing/2014/main" id="{E2432884-19C0-D4E3-AFE3-1D88F6239295}"/>
              </a:ext>
            </a:extLst>
          </p:cNvPr>
          <p:cNvSpPr/>
          <p:nvPr/>
        </p:nvSpPr>
        <p:spPr>
          <a:xfrm>
            <a:off x="411380" y="4374666"/>
            <a:ext cx="1513335" cy="548640"/>
          </a:xfrm>
          <a:prstGeom prst="rect">
            <a:avLst/>
          </a:prstGeom>
          <a:noFill/>
          <a:ln/>
        </p:spPr>
        <p:txBody>
          <a:bodyPr wrap="square" lIns="0" tIns="0" rIns="0" bIns="0" rtlCol="0" anchor="ctr"/>
          <a:lstStyle/>
          <a:p>
            <a:pPr marL="0" indent="0">
              <a:buNone/>
            </a:pPr>
            <a:r>
              <a:rPr lang="en-US" sz="1200" i="1">
                <a:solidFill>
                  <a:srgbClr val="1A202C"/>
                </a:solidFill>
                <a:latin typeface="Calibri" pitchFamily="34" charset="0"/>
                <a:ea typeface="Calibri" pitchFamily="34" charset="-122"/>
                <a:cs typeface="Calibri" pitchFamily="34" charset="-120"/>
              </a:rPr>
              <a:t>Learn safely with small amounts</a:t>
            </a:r>
            <a:endParaRPr lang="en-US" sz="1200"/>
          </a:p>
        </p:txBody>
      </p:sp>
      <p:sp>
        <p:nvSpPr>
          <p:cNvPr id="58" name="Shape 13">
            <a:extLst>
              <a:ext uri="{FF2B5EF4-FFF2-40B4-BE49-F238E27FC236}">
                <a16:creationId xmlns:a16="http://schemas.microsoft.com/office/drawing/2014/main" id="{16DF4D5B-80CF-6CC7-A250-448D79E7BA88}"/>
              </a:ext>
            </a:extLst>
          </p:cNvPr>
          <p:cNvSpPr/>
          <p:nvPr/>
        </p:nvSpPr>
        <p:spPr>
          <a:xfrm>
            <a:off x="3012454" y="1950047"/>
            <a:ext cx="1965111" cy="3079153"/>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9" name="Shape 14">
            <a:extLst>
              <a:ext uri="{FF2B5EF4-FFF2-40B4-BE49-F238E27FC236}">
                <a16:creationId xmlns:a16="http://schemas.microsoft.com/office/drawing/2014/main" id="{E682AF4F-E2F8-6DBD-AE8F-CF78709E51A8}"/>
              </a:ext>
            </a:extLst>
          </p:cNvPr>
          <p:cNvSpPr/>
          <p:nvPr/>
        </p:nvSpPr>
        <p:spPr>
          <a:xfrm>
            <a:off x="3012454" y="1950047"/>
            <a:ext cx="1965111" cy="548640"/>
          </a:xfrm>
          <a:prstGeom prst="rect">
            <a:avLst/>
          </a:prstGeom>
          <a:solidFill>
            <a:srgbClr val="0EA5E9"/>
          </a:solidFill>
          <a:ln w="12700">
            <a:solidFill>
              <a:srgbClr val="0EA5E9"/>
            </a:solidFill>
            <a:prstDash val="solid"/>
          </a:ln>
        </p:spPr>
        <p:txBody>
          <a:bodyPr/>
          <a:lstStyle/>
          <a:p>
            <a:endParaRPr lang="en-US"/>
          </a:p>
        </p:txBody>
      </p:sp>
      <p:sp>
        <p:nvSpPr>
          <p:cNvPr id="60" name="Text 15">
            <a:extLst>
              <a:ext uri="{FF2B5EF4-FFF2-40B4-BE49-F238E27FC236}">
                <a16:creationId xmlns:a16="http://schemas.microsoft.com/office/drawing/2014/main" id="{1F4FA387-3EA8-6AA8-E595-41774D79C618}"/>
              </a:ext>
            </a:extLst>
          </p:cNvPr>
          <p:cNvSpPr/>
          <p:nvPr/>
        </p:nvSpPr>
        <p:spPr>
          <a:xfrm>
            <a:off x="3195334" y="1995767"/>
            <a:ext cx="548640"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61" name="Text 16">
            <a:extLst>
              <a:ext uri="{FF2B5EF4-FFF2-40B4-BE49-F238E27FC236}">
                <a16:creationId xmlns:a16="http://schemas.microsoft.com/office/drawing/2014/main" id="{9E808051-C87E-385A-BF61-66498455D2F1}"/>
              </a:ext>
            </a:extLst>
          </p:cNvPr>
          <p:cNvSpPr/>
          <p:nvPr/>
        </p:nvSpPr>
        <p:spPr>
          <a:xfrm>
            <a:off x="3835414" y="2087207"/>
            <a:ext cx="1142151" cy="36576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30-45</a:t>
            </a:r>
            <a:endParaRPr lang="en-US" sz="1100"/>
          </a:p>
        </p:txBody>
      </p:sp>
      <p:sp>
        <p:nvSpPr>
          <p:cNvPr id="62" name="Text 17">
            <a:extLst>
              <a:ext uri="{FF2B5EF4-FFF2-40B4-BE49-F238E27FC236}">
                <a16:creationId xmlns:a16="http://schemas.microsoft.com/office/drawing/2014/main" id="{AD374919-6CC5-10D8-AA9F-3503516EFF89}"/>
              </a:ext>
            </a:extLst>
          </p:cNvPr>
          <p:cNvSpPr/>
          <p:nvPr/>
        </p:nvSpPr>
        <p:spPr>
          <a:xfrm>
            <a:off x="3241054" y="2560984"/>
            <a:ext cx="1525527" cy="457200"/>
          </a:xfrm>
          <a:prstGeom prst="rect">
            <a:avLst/>
          </a:prstGeom>
          <a:noFill/>
          <a:ln/>
        </p:spPr>
        <p:txBody>
          <a:bodyPr wrap="square" lIns="0" tIns="0" rIns="0" bIns="0" rtlCol="0" anchor="ctr"/>
          <a:lstStyle/>
          <a:p>
            <a:pPr marL="0" indent="0">
              <a:buNone/>
            </a:pPr>
            <a:r>
              <a:rPr lang="en-US" sz="1700" b="1">
                <a:solidFill>
                  <a:srgbClr val="1E2761"/>
                </a:solidFill>
                <a:latin typeface="Calibri" pitchFamily="34" charset="0"/>
                <a:ea typeface="Calibri" pitchFamily="34" charset="-122"/>
                <a:cs typeface="Calibri" pitchFamily="34" charset="-120"/>
              </a:rPr>
              <a:t>The Saving Professional</a:t>
            </a:r>
            <a:endParaRPr lang="en-US" sz="1700"/>
          </a:p>
        </p:txBody>
      </p:sp>
      <p:sp>
        <p:nvSpPr>
          <p:cNvPr id="63" name="Text 18">
            <a:extLst>
              <a:ext uri="{FF2B5EF4-FFF2-40B4-BE49-F238E27FC236}">
                <a16:creationId xmlns:a16="http://schemas.microsoft.com/office/drawing/2014/main" id="{BD25DD4F-FE5E-959D-5B82-B99FFF4225BA}"/>
              </a:ext>
            </a:extLst>
          </p:cNvPr>
          <p:cNvSpPr/>
          <p:nvPr/>
        </p:nvSpPr>
        <p:spPr>
          <a:xfrm>
            <a:off x="3241054" y="2866629"/>
            <a:ext cx="1525527" cy="1371600"/>
          </a:xfrm>
          <a:prstGeom prst="rect">
            <a:avLst/>
          </a:prstGeom>
          <a:noFill/>
          <a:ln/>
        </p:spPr>
        <p:txBody>
          <a:bodyPr wrap="square" lIns="0" tIns="0" rIns="0" bIns="0" rtlCol="0" anchor="ctr"/>
          <a:lstStyle/>
          <a:p>
            <a:pPr marL="0" indent="0">
              <a:buNone/>
            </a:pPr>
            <a:r>
              <a:rPr lang="en-US" sz="1200">
                <a:solidFill>
                  <a:srgbClr val="64748B"/>
                </a:solidFill>
                <a:latin typeface="Calibri" pitchFamily="34" charset="0"/>
                <a:ea typeface="Calibri" pitchFamily="34" charset="-122"/>
                <a:cs typeface="Calibri" pitchFamily="34" charset="-120"/>
              </a:rPr>
              <a:t>Mid-career, has cash savings sitting in low-interest accounts, knows they should be investing.</a:t>
            </a:r>
            <a:endParaRPr lang="en-US" sz="1200"/>
          </a:p>
        </p:txBody>
      </p:sp>
      <p:sp>
        <p:nvSpPr>
          <p:cNvPr id="64" name="Shape 19">
            <a:extLst>
              <a:ext uri="{FF2B5EF4-FFF2-40B4-BE49-F238E27FC236}">
                <a16:creationId xmlns:a16="http://schemas.microsoft.com/office/drawing/2014/main" id="{44471ECE-6591-6B60-57C9-20190FDAA1F3}"/>
              </a:ext>
            </a:extLst>
          </p:cNvPr>
          <p:cNvSpPr/>
          <p:nvPr/>
        </p:nvSpPr>
        <p:spPr>
          <a:xfrm>
            <a:off x="3241054" y="4079145"/>
            <a:ext cx="548640" cy="36576"/>
          </a:xfrm>
          <a:prstGeom prst="rect">
            <a:avLst/>
          </a:prstGeom>
          <a:solidFill>
            <a:srgbClr val="0EA5E9"/>
          </a:solidFill>
          <a:ln w="12700">
            <a:solidFill>
              <a:srgbClr val="0EA5E9"/>
            </a:solidFill>
            <a:prstDash val="solid"/>
          </a:ln>
        </p:spPr>
        <p:txBody>
          <a:bodyPr/>
          <a:lstStyle/>
          <a:p>
            <a:endParaRPr lang="en-US"/>
          </a:p>
        </p:txBody>
      </p:sp>
      <p:sp>
        <p:nvSpPr>
          <p:cNvPr id="65" name="Text 20">
            <a:extLst>
              <a:ext uri="{FF2B5EF4-FFF2-40B4-BE49-F238E27FC236}">
                <a16:creationId xmlns:a16="http://schemas.microsoft.com/office/drawing/2014/main" id="{9A1E15CE-CDD0-4D2D-847B-D17654D0F9D7}"/>
              </a:ext>
            </a:extLst>
          </p:cNvPr>
          <p:cNvSpPr/>
          <p:nvPr/>
        </p:nvSpPr>
        <p:spPr>
          <a:xfrm>
            <a:off x="3241054" y="4170585"/>
            <a:ext cx="1525527" cy="274320"/>
          </a:xfrm>
          <a:prstGeom prst="rect">
            <a:avLst/>
          </a:prstGeom>
          <a:noFill/>
          <a:ln/>
        </p:spPr>
        <p:txBody>
          <a:bodyPr wrap="square" lIns="0" tIns="0" rIns="0" bIns="0" rtlCol="0" anchor="ctr"/>
          <a:lstStyle/>
          <a:p>
            <a:pPr marL="0" indent="0">
              <a:buNone/>
            </a:pPr>
            <a:r>
              <a:rPr lang="en-US" sz="900" b="1" kern="0" spc="300">
                <a:solidFill>
                  <a:srgbClr val="0EA5E9"/>
                </a:solidFill>
                <a:latin typeface="Calibri" pitchFamily="34" charset="0"/>
                <a:ea typeface="Calibri" pitchFamily="34" charset="-122"/>
                <a:cs typeface="Calibri" pitchFamily="34" charset="-120"/>
              </a:rPr>
              <a:t>PRIMARY GOAL</a:t>
            </a:r>
            <a:endParaRPr lang="en-US" sz="900"/>
          </a:p>
        </p:txBody>
      </p:sp>
      <p:sp>
        <p:nvSpPr>
          <p:cNvPr id="66" name="Text 21">
            <a:extLst>
              <a:ext uri="{FF2B5EF4-FFF2-40B4-BE49-F238E27FC236}">
                <a16:creationId xmlns:a16="http://schemas.microsoft.com/office/drawing/2014/main" id="{8EE37725-CD38-A1F2-BB1A-A681FDA24666}"/>
              </a:ext>
            </a:extLst>
          </p:cNvPr>
          <p:cNvSpPr/>
          <p:nvPr/>
        </p:nvSpPr>
        <p:spPr>
          <a:xfrm>
            <a:off x="3241054" y="4398554"/>
            <a:ext cx="1525527" cy="548640"/>
          </a:xfrm>
          <a:prstGeom prst="rect">
            <a:avLst/>
          </a:prstGeom>
          <a:noFill/>
          <a:ln/>
        </p:spPr>
        <p:txBody>
          <a:bodyPr wrap="square" lIns="0" tIns="0" rIns="0" bIns="0" rtlCol="0" anchor="ctr"/>
          <a:lstStyle/>
          <a:p>
            <a:pPr marL="0" indent="0">
              <a:buNone/>
            </a:pPr>
            <a:r>
              <a:rPr lang="en-US" sz="1200" i="1">
                <a:solidFill>
                  <a:srgbClr val="1A202C"/>
                </a:solidFill>
                <a:latin typeface="Calibri" pitchFamily="34" charset="0"/>
                <a:ea typeface="Calibri" pitchFamily="34" charset="-122"/>
                <a:cs typeface="Calibri" pitchFamily="34" charset="-120"/>
              </a:rPr>
              <a:t>Move savings into a balanced portfolio</a:t>
            </a:r>
            <a:endParaRPr lang="en-US" sz="1200"/>
          </a:p>
        </p:txBody>
      </p:sp>
      <p:sp>
        <p:nvSpPr>
          <p:cNvPr id="67" name="Shape 22">
            <a:extLst>
              <a:ext uri="{FF2B5EF4-FFF2-40B4-BE49-F238E27FC236}">
                <a16:creationId xmlns:a16="http://schemas.microsoft.com/office/drawing/2014/main" id="{77AF6BC3-0328-D08F-AFEF-E479095B28F6}"/>
              </a:ext>
            </a:extLst>
          </p:cNvPr>
          <p:cNvSpPr/>
          <p:nvPr/>
        </p:nvSpPr>
        <p:spPr>
          <a:xfrm>
            <a:off x="5876289" y="1970094"/>
            <a:ext cx="1965111" cy="3059106"/>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68" name="Shape 23">
            <a:extLst>
              <a:ext uri="{FF2B5EF4-FFF2-40B4-BE49-F238E27FC236}">
                <a16:creationId xmlns:a16="http://schemas.microsoft.com/office/drawing/2014/main" id="{29F51D43-1ECB-D857-52C3-E782172CA66F}"/>
              </a:ext>
            </a:extLst>
          </p:cNvPr>
          <p:cNvSpPr/>
          <p:nvPr/>
        </p:nvSpPr>
        <p:spPr>
          <a:xfrm>
            <a:off x="5876289" y="1970094"/>
            <a:ext cx="1965111" cy="548640"/>
          </a:xfrm>
          <a:prstGeom prst="rect">
            <a:avLst/>
          </a:prstGeom>
          <a:solidFill>
            <a:srgbClr val="A855F7"/>
          </a:solidFill>
          <a:ln w="12700">
            <a:solidFill>
              <a:srgbClr val="A855F7"/>
            </a:solidFill>
            <a:prstDash val="solid"/>
          </a:ln>
        </p:spPr>
        <p:txBody>
          <a:bodyPr/>
          <a:lstStyle/>
          <a:p>
            <a:endParaRPr lang="en-US"/>
          </a:p>
        </p:txBody>
      </p:sp>
      <p:sp>
        <p:nvSpPr>
          <p:cNvPr id="69" name="Text 24">
            <a:extLst>
              <a:ext uri="{FF2B5EF4-FFF2-40B4-BE49-F238E27FC236}">
                <a16:creationId xmlns:a16="http://schemas.microsoft.com/office/drawing/2014/main" id="{26ACDD97-5B80-A4B0-9707-AB96EF930D50}"/>
              </a:ext>
            </a:extLst>
          </p:cNvPr>
          <p:cNvSpPr/>
          <p:nvPr/>
        </p:nvSpPr>
        <p:spPr>
          <a:xfrm>
            <a:off x="6059169" y="2015814"/>
            <a:ext cx="548640" cy="457200"/>
          </a:xfrm>
          <a:prstGeom prst="rect">
            <a:avLst/>
          </a:prstGeom>
          <a:noFill/>
          <a:ln/>
        </p:spPr>
        <p:txBody>
          <a:bodyPr wrap="square" lIns="0" tIns="0" rIns="0" bIns="0" rtlCol="0" anchor="ctr"/>
          <a:lstStyle/>
          <a:p>
            <a:pPr marL="0" indent="0">
              <a:buNone/>
            </a:pPr>
            <a:r>
              <a:rPr lang="en-US" sz="2800">
                <a:solidFill>
                  <a:srgbClr val="000000"/>
                </a:solidFill>
                <a:latin typeface="Calibri" pitchFamily="34" charset="0"/>
                <a:ea typeface="Calibri" pitchFamily="34" charset="-122"/>
                <a:cs typeface="Calibri" pitchFamily="34" charset="-120"/>
              </a:rPr>
              <a:t>🏡</a:t>
            </a:r>
            <a:endParaRPr lang="en-US" sz="2800"/>
          </a:p>
        </p:txBody>
      </p:sp>
      <p:sp>
        <p:nvSpPr>
          <p:cNvPr id="70" name="Text 25">
            <a:extLst>
              <a:ext uri="{FF2B5EF4-FFF2-40B4-BE49-F238E27FC236}">
                <a16:creationId xmlns:a16="http://schemas.microsoft.com/office/drawing/2014/main" id="{35185FB8-C999-C653-EE91-55707DC3352E}"/>
              </a:ext>
            </a:extLst>
          </p:cNvPr>
          <p:cNvSpPr/>
          <p:nvPr/>
        </p:nvSpPr>
        <p:spPr>
          <a:xfrm>
            <a:off x="6699249" y="2107254"/>
            <a:ext cx="1052411" cy="365760"/>
          </a:xfrm>
          <a:prstGeom prst="rect">
            <a:avLst/>
          </a:prstGeom>
          <a:noFill/>
          <a:ln/>
        </p:spPr>
        <p:txBody>
          <a:bodyPr wrap="square" lIns="0" tIns="0" rIns="0" bIns="0" rtlCol="0" anchor="ctr"/>
          <a:lstStyle/>
          <a:p>
            <a:pPr marL="0" indent="0">
              <a:buNone/>
            </a:pPr>
            <a:r>
              <a:rPr lang="en-US" sz="1100" b="1" kern="0" spc="300">
                <a:solidFill>
                  <a:srgbClr val="FFFFFF"/>
                </a:solidFill>
                <a:latin typeface="Calibri" pitchFamily="34" charset="0"/>
                <a:ea typeface="Calibri" pitchFamily="34" charset="-122"/>
                <a:cs typeface="Calibri" pitchFamily="34" charset="-120"/>
              </a:rPr>
              <a:t>Age 45-60</a:t>
            </a:r>
            <a:endParaRPr lang="en-US" sz="1100"/>
          </a:p>
        </p:txBody>
      </p:sp>
      <p:sp>
        <p:nvSpPr>
          <p:cNvPr id="71" name="Text 26">
            <a:extLst>
              <a:ext uri="{FF2B5EF4-FFF2-40B4-BE49-F238E27FC236}">
                <a16:creationId xmlns:a16="http://schemas.microsoft.com/office/drawing/2014/main" id="{71157B3F-EF65-52D6-E323-D4D0BC01246F}"/>
              </a:ext>
            </a:extLst>
          </p:cNvPr>
          <p:cNvSpPr/>
          <p:nvPr/>
        </p:nvSpPr>
        <p:spPr>
          <a:xfrm>
            <a:off x="6104889" y="2581031"/>
            <a:ext cx="1512319" cy="457200"/>
          </a:xfrm>
          <a:prstGeom prst="rect">
            <a:avLst/>
          </a:prstGeom>
          <a:noFill/>
          <a:ln/>
        </p:spPr>
        <p:txBody>
          <a:bodyPr wrap="square" lIns="0" tIns="0" rIns="0" bIns="0" rtlCol="0" anchor="ctr"/>
          <a:lstStyle/>
          <a:p>
            <a:pPr marL="0" indent="0">
              <a:buNone/>
            </a:pPr>
            <a:r>
              <a:rPr lang="en-US" sz="1700" b="1">
                <a:solidFill>
                  <a:srgbClr val="1E2761"/>
                </a:solidFill>
                <a:latin typeface="Calibri" pitchFamily="34" charset="0"/>
                <a:ea typeface="Calibri" pitchFamily="34" charset="-122"/>
                <a:cs typeface="Calibri" pitchFamily="34" charset="-120"/>
              </a:rPr>
              <a:t>The Future Planner</a:t>
            </a:r>
            <a:endParaRPr lang="en-US" sz="1700"/>
          </a:p>
        </p:txBody>
      </p:sp>
      <p:sp>
        <p:nvSpPr>
          <p:cNvPr id="72" name="Text 27">
            <a:extLst>
              <a:ext uri="{FF2B5EF4-FFF2-40B4-BE49-F238E27FC236}">
                <a16:creationId xmlns:a16="http://schemas.microsoft.com/office/drawing/2014/main" id="{46BE127A-D9B5-7B34-B134-0F2D0726F986}"/>
              </a:ext>
            </a:extLst>
          </p:cNvPr>
          <p:cNvSpPr/>
          <p:nvPr/>
        </p:nvSpPr>
        <p:spPr>
          <a:xfrm>
            <a:off x="6104889" y="2886676"/>
            <a:ext cx="1512319" cy="1371600"/>
          </a:xfrm>
          <a:prstGeom prst="rect">
            <a:avLst/>
          </a:prstGeom>
          <a:noFill/>
          <a:ln/>
        </p:spPr>
        <p:txBody>
          <a:bodyPr wrap="square" lIns="0" tIns="0" rIns="0" bIns="0" rtlCol="0" anchor="ctr"/>
          <a:lstStyle/>
          <a:p>
            <a:pPr marL="0" indent="0">
              <a:buNone/>
            </a:pPr>
            <a:r>
              <a:rPr lang="en-US" sz="1200">
                <a:solidFill>
                  <a:srgbClr val="64748B"/>
                </a:solidFill>
                <a:latin typeface="Calibri" pitchFamily="34" charset="0"/>
                <a:ea typeface="Calibri" pitchFamily="34" charset="-122"/>
                <a:cs typeface="Calibri" pitchFamily="34" charset="-120"/>
              </a:rPr>
              <a:t>Established career, pension in place, looking to supplement retirement with extra investments.</a:t>
            </a:r>
            <a:endParaRPr lang="en-US" sz="1200"/>
          </a:p>
        </p:txBody>
      </p:sp>
      <p:sp>
        <p:nvSpPr>
          <p:cNvPr id="73" name="Shape 28">
            <a:extLst>
              <a:ext uri="{FF2B5EF4-FFF2-40B4-BE49-F238E27FC236}">
                <a16:creationId xmlns:a16="http://schemas.microsoft.com/office/drawing/2014/main" id="{2DD00F03-D5C0-5E32-BF82-EFBBA3624650}"/>
              </a:ext>
            </a:extLst>
          </p:cNvPr>
          <p:cNvSpPr/>
          <p:nvPr/>
        </p:nvSpPr>
        <p:spPr>
          <a:xfrm>
            <a:off x="6104889" y="4099192"/>
            <a:ext cx="548640" cy="36576"/>
          </a:xfrm>
          <a:prstGeom prst="rect">
            <a:avLst/>
          </a:prstGeom>
          <a:solidFill>
            <a:srgbClr val="A855F7"/>
          </a:solidFill>
          <a:ln w="12700">
            <a:solidFill>
              <a:srgbClr val="A855F7"/>
            </a:solidFill>
            <a:prstDash val="solid"/>
          </a:ln>
        </p:spPr>
        <p:txBody>
          <a:bodyPr/>
          <a:lstStyle/>
          <a:p>
            <a:endParaRPr lang="en-US"/>
          </a:p>
        </p:txBody>
      </p:sp>
      <p:sp>
        <p:nvSpPr>
          <p:cNvPr id="74" name="Text 29">
            <a:extLst>
              <a:ext uri="{FF2B5EF4-FFF2-40B4-BE49-F238E27FC236}">
                <a16:creationId xmlns:a16="http://schemas.microsoft.com/office/drawing/2014/main" id="{7AFEB1C3-F847-A38F-6080-0C049E79776D}"/>
              </a:ext>
            </a:extLst>
          </p:cNvPr>
          <p:cNvSpPr/>
          <p:nvPr/>
        </p:nvSpPr>
        <p:spPr>
          <a:xfrm>
            <a:off x="6104889" y="4190632"/>
            <a:ext cx="1512319" cy="270831"/>
          </a:xfrm>
          <a:prstGeom prst="rect">
            <a:avLst/>
          </a:prstGeom>
          <a:noFill/>
          <a:ln/>
        </p:spPr>
        <p:txBody>
          <a:bodyPr wrap="square" lIns="0" tIns="0" rIns="0" bIns="0" rtlCol="0" anchor="ctr"/>
          <a:lstStyle/>
          <a:p>
            <a:pPr marL="0" indent="0">
              <a:buNone/>
            </a:pPr>
            <a:r>
              <a:rPr lang="en-US" sz="900" b="1" kern="0" spc="300">
                <a:solidFill>
                  <a:srgbClr val="A855F7"/>
                </a:solidFill>
                <a:latin typeface="Calibri" pitchFamily="34" charset="0"/>
                <a:ea typeface="Calibri" pitchFamily="34" charset="-122"/>
                <a:cs typeface="Calibri" pitchFamily="34" charset="-120"/>
              </a:rPr>
              <a:t>PRIMARY GOAL</a:t>
            </a:r>
            <a:endParaRPr lang="en-US" sz="900"/>
          </a:p>
        </p:txBody>
      </p:sp>
      <p:sp>
        <p:nvSpPr>
          <p:cNvPr id="75" name="Text 30">
            <a:extLst>
              <a:ext uri="{FF2B5EF4-FFF2-40B4-BE49-F238E27FC236}">
                <a16:creationId xmlns:a16="http://schemas.microsoft.com/office/drawing/2014/main" id="{1397FD98-A717-F987-FE7A-3EEBD01E79EF}"/>
              </a:ext>
            </a:extLst>
          </p:cNvPr>
          <p:cNvSpPr/>
          <p:nvPr/>
        </p:nvSpPr>
        <p:spPr>
          <a:xfrm>
            <a:off x="6104889" y="4418601"/>
            <a:ext cx="1512319" cy="548640"/>
          </a:xfrm>
          <a:prstGeom prst="rect">
            <a:avLst/>
          </a:prstGeom>
          <a:noFill/>
          <a:ln/>
        </p:spPr>
        <p:txBody>
          <a:bodyPr wrap="square" lIns="0" tIns="0" rIns="0" bIns="0" rtlCol="0" anchor="ctr"/>
          <a:lstStyle/>
          <a:p>
            <a:pPr marL="0" indent="0">
              <a:buNone/>
            </a:pPr>
            <a:r>
              <a:rPr lang="en-US" sz="1200" i="1">
                <a:solidFill>
                  <a:srgbClr val="1A202C"/>
                </a:solidFill>
                <a:latin typeface="Calibri" pitchFamily="34" charset="0"/>
                <a:ea typeface="Calibri" pitchFamily="34" charset="-122"/>
                <a:cs typeface="Calibri" pitchFamily="34" charset="-120"/>
              </a:rPr>
              <a:t>Optimise risk-adjusted returns over 10–20 years</a:t>
            </a:r>
            <a:endParaRPr lang="en-US" sz="1200"/>
          </a:p>
        </p:txBody>
      </p:sp>
      <p:pic>
        <p:nvPicPr>
          <p:cNvPr id="76" name="Picture 75" descr="Visualising Your User Research – Are Personas the Answer? | Personas ...">
            <a:extLst>
              <a:ext uri="{FF2B5EF4-FFF2-40B4-BE49-F238E27FC236}">
                <a16:creationId xmlns:a16="http://schemas.microsoft.com/office/drawing/2014/main" id="{C43A97F4-242B-FCBE-C0C6-43931457101E}"/>
              </a:ext>
            </a:extLst>
          </p:cNvPr>
          <p:cNvPicPr>
            <a:picLocks noChangeAspect="1"/>
          </p:cNvPicPr>
          <p:nvPr/>
        </p:nvPicPr>
        <p:blipFill>
          <a:blip r:embed="rId4"/>
          <a:srcRect l="2060" t="2732" r="69755" b="53947"/>
          <a:stretch>
            <a:fillRect/>
          </a:stretch>
        </p:blipFill>
        <p:spPr>
          <a:xfrm>
            <a:off x="2147891" y="1926159"/>
            <a:ext cx="653753" cy="574277"/>
          </a:xfrm>
          <a:prstGeom prst="rect">
            <a:avLst/>
          </a:prstGeom>
        </p:spPr>
      </p:pic>
      <p:pic>
        <p:nvPicPr>
          <p:cNvPr id="77" name="Picture 76" descr="Visualising Your User Research – Are Personas the Answer? | Personas ...">
            <a:extLst>
              <a:ext uri="{FF2B5EF4-FFF2-40B4-BE49-F238E27FC236}">
                <a16:creationId xmlns:a16="http://schemas.microsoft.com/office/drawing/2014/main" id="{C6502EC0-7864-BF1A-D9EB-EE529937FF4D}"/>
              </a:ext>
            </a:extLst>
          </p:cNvPr>
          <p:cNvPicPr>
            <a:picLocks noChangeAspect="1"/>
          </p:cNvPicPr>
          <p:nvPr/>
        </p:nvPicPr>
        <p:blipFill>
          <a:blip r:embed="rId4"/>
          <a:srcRect l="36164" t="3807" r="36031" b="55550"/>
          <a:stretch>
            <a:fillRect/>
          </a:stretch>
        </p:blipFill>
        <p:spPr>
          <a:xfrm>
            <a:off x="4983405" y="1946589"/>
            <a:ext cx="680805" cy="568713"/>
          </a:xfrm>
          <a:prstGeom prst="rect">
            <a:avLst/>
          </a:prstGeom>
        </p:spPr>
      </p:pic>
      <p:pic>
        <p:nvPicPr>
          <p:cNvPr id="78" name="Picture 77" descr="Visualising Your User Research – Are Personas the Answer? | Personas ...">
            <a:extLst>
              <a:ext uri="{FF2B5EF4-FFF2-40B4-BE49-F238E27FC236}">
                <a16:creationId xmlns:a16="http://schemas.microsoft.com/office/drawing/2014/main" id="{13BCA3DB-5CDB-41F9-55D6-EE50DB5BEC81}"/>
              </a:ext>
            </a:extLst>
          </p:cNvPr>
          <p:cNvPicPr>
            <a:picLocks noChangeAspect="1"/>
          </p:cNvPicPr>
          <p:nvPr/>
        </p:nvPicPr>
        <p:blipFill>
          <a:blip r:embed="rId4"/>
          <a:srcRect l="69887" t="3320" r="2643" b="55486"/>
          <a:stretch>
            <a:fillRect/>
          </a:stretch>
        </p:blipFill>
        <p:spPr>
          <a:xfrm>
            <a:off x="7841400" y="1966636"/>
            <a:ext cx="626984" cy="537341"/>
          </a:xfrm>
          <a:prstGeom prst="rect">
            <a:avLst/>
          </a:prstGeom>
        </p:spPr>
      </p:pic>
      <p:sp>
        <p:nvSpPr>
          <p:cNvPr id="81" name="Text 1">
            <a:extLst>
              <a:ext uri="{FF2B5EF4-FFF2-40B4-BE49-F238E27FC236}">
                <a16:creationId xmlns:a16="http://schemas.microsoft.com/office/drawing/2014/main" id="{A043B65E-B838-51AF-4ECD-242CD00E7EF6}"/>
              </a:ext>
            </a:extLst>
          </p:cNvPr>
          <p:cNvSpPr/>
          <p:nvPr/>
        </p:nvSpPr>
        <p:spPr>
          <a:xfrm>
            <a:off x="1640335" y="114300"/>
            <a:ext cx="7315200"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82" name="Text 2">
            <a:extLst>
              <a:ext uri="{FF2B5EF4-FFF2-40B4-BE49-F238E27FC236}">
                <a16:creationId xmlns:a16="http://schemas.microsoft.com/office/drawing/2014/main" id="{9EF183EC-65CA-3275-56EA-F975EA5A5C38}"/>
              </a:ext>
            </a:extLst>
          </p:cNvPr>
          <p:cNvSpPr/>
          <p:nvPr/>
        </p:nvSpPr>
        <p:spPr>
          <a:xfrm>
            <a:off x="1640334" y="282601"/>
            <a:ext cx="10972800" cy="640080"/>
          </a:xfrm>
          <a:prstGeom prst="rect">
            <a:avLst/>
          </a:prstGeom>
          <a:noFill/>
          <a:ln/>
        </p:spPr>
        <p:txBody>
          <a:bodyPr wrap="square" lIns="0" tIns="0" rIns="0" bIns="0" rtlCol="0" anchor="ctr"/>
          <a:lstStyle/>
          <a:p>
            <a:r>
              <a:rPr lang="en-US" sz="3000" b="1">
                <a:solidFill>
                  <a:srgbClr val="1E2761"/>
                </a:solidFill>
                <a:latin typeface="Calibri" pitchFamily="34" charset="0"/>
                <a:ea typeface="Calibri" pitchFamily="34" charset="-122"/>
                <a:cs typeface="Calibri" pitchFamily="34" charset="-120"/>
              </a:rPr>
              <a:t>Market Research: User Persona’s </a:t>
            </a:r>
            <a:endParaRPr lang="en-US" sz="3000"/>
          </a:p>
        </p:txBody>
      </p:sp>
      <p:sp>
        <p:nvSpPr>
          <p:cNvPr id="83" name="Shape 3">
            <a:extLst>
              <a:ext uri="{FF2B5EF4-FFF2-40B4-BE49-F238E27FC236}">
                <a16:creationId xmlns:a16="http://schemas.microsoft.com/office/drawing/2014/main" id="{7B075721-5AEF-1F3B-2A97-644FC2B85753}"/>
              </a:ext>
            </a:extLst>
          </p:cNvPr>
          <p:cNvSpPr/>
          <p:nvPr/>
        </p:nvSpPr>
        <p:spPr>
          <a:xfrm>
            <a:off x="1640335" y="816662"/>
            <a:ext cx="548640" cy="45720"/>
          </a:xfrm>
          <a:prstGeom prst="rect">
            <a:avLst/>
          </a:prstGeom>
          <a:solidFill>
            <a:srgbClr val="A855F7"/>
          </a:solidFill>
          <a:ln w="12700">
            <a:solidFill>
              <a:srgbClr val="A855F7"/>
            </a:solidFill>
            <a:prstDash val="solid"/>
          </a:ln>
        </p:spPr>
        <p:txBody>
          <a:bodyPr/>
          <a:lstStyle/>
          <a:p>
            <a:endParaRPr lang="en-GB" noProof="0"/>
          </a:p>
        </p:txBody>
      </p:sp>
      <p:sp>
        <p:nvSpPr>
          <p:cNvPr id="84" name="TextBox 83">
            <a:extLst>
              <a:ext uri="{FF2B5EF4-FFF2-40B4-BE49-F238E27FC236}">
                <a16:creationId xmlns:a16="http://schemas.microsoft.com/office/drawing/2014/main" id="{90F75496-14FD-64F2-8CF3-B9A6D89044ED}"/>
              </a:ext>
            </a:extLst>
          </p:cNvPr>
          <p:cNvSpPr txBox="1"/>
          <p:nvPr/>
        </p:nvSpPr>
        <p:spPr>
          <a:xfrm>
            <a:off x="671513" y="-1357313"/>
            <a:ext cx="7796871" cy="646331"/>
          </a:xfrm>
          <a:prstGeom prst="rect">
            <a:avLst/>
          </a:prstGeom>
          <a:noFill/>
        </p:spPr>
        <p:txBody>
          <a:bodyPr wrap="square" rtlCol="0">
            <a:spAutoFit/>
          </a:bodyPr>
          <a:lstStyle/>
          <a:p>
            <a:r>
              <a:rPr lang="en-US"/>
              <a:t>I tried to help by adding some visual and formatting to the page, I didn’t change anything you had wrote or did. </a:t>
            </a:r>
          </a:p>
        </p:txBody>
      </p:sp>
    </p:spTree>
    <p:extLst>
      <p:ext uri="{BB962C8B-B14F-4D97-AF65-F5344CB8AC3E}">
        <p14:creationId xmlns:p14="http://schemas.microsoft.com/office/powerpoint/2010/main" val="1003020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7C9FE-46B2-45AF-DECA-BF9029F6175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9969BAB-E13F-969C-2B29-DB7C1C699845}"/>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sp>
        <p:nvSpPr>
          <p:cNvPr id="3" name="TextBox 2">
            <a:extLst>
              <a:ext uri="{FF2B5EF4-FFF2-40B4-BE49-F238E27FC236}">
                <a16:creationId xmlns:a16="http://schemas.microsoft.com/office/drawing/2014/main" id="{EE7C78D6-CBCD-78A3-9DA5-81039FEDBB07}"/>
              </a:ext>
            </a:extLst>
          </p:cNvPr>
          <p:cNvSpPr txBox="1"/>
          <p:nvPr/>
        </p:nvSpPr>
        <p:spPr>
          <a:xfrm>
            <a:off x="183525" y="984963"/>
            <a:ext cx="370347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ea typeface="Calibri"/>
                <a:cs typeface="Calibri"/>
              </a:rPr>
              <a:t>Core Principles – </a:t>
            </a:r>
            <a:r>
              <a:rPr lang="en-GB">
                <a:ea typeface="Calibri"/>
                <a:cs typeface="Calibri"/>
              </a:rPr>
              <a:t>centred around:</a:t>
            </a:r>
          </a:p>
          <a:p>
            <a:pPr marL="285750" indent="-285750">
              <a:buAutoNum type="arabicPeriod"/>
            </a:pPr>
            <a:r>
              <a:rPr lang="en-GB">
                <a:ea typeface="Calibri"/>
                <a:cs typeface="Calibri"/>
              </a:rPr>
              <a:t>Accessibility </a:t>
            </a:r>
          </a:p>
          <a:p>
            <a:pPr marL="285750" indent="-285750">
              <a:buAutoNum type="arabicPeriod"/>
            </a:pPr>
            <a:r>
              <a:rPr lang="en-GB">
                <a:ea typeface="Calibri"/>
                <a:cs typeface="Calibri"/>
              </a:rPr>
              <a:t>Trust </a:t>
            </a:r>
          </a:p>
          <a:p>
            <a:r>
              <a:rPr lang="en-GB">
                <a:ea typeface="Calibri"/>
                <a:cs typeface="Calibri"/>
              </a:rPr>
              <a:t>Feed into each other – together will make an inexperienced user feel comfortable</a:t>
            </a:r>
          </a:p>
          <a:p>
            <a:r>
              <a:rPr lang="en-GB">
                <a:ea typeface="Calibri"/>
                <a:cs typeface="Calibri"/>
              </a:rPr>
              <a:t>Considers User. Research informed.</a:t>
            </a:r>
          </a:p>
          <a:p>
            <a:r>
              <a:rPr lang="en-GB" b="1">
                <a:ea typeface="Calibri"/>
                <a:cs typeface="Calibri"/>
              </a:rPr>
              <a:t>Wireframes</a:t>
            </a:r>
            <a:endParaRPr lang="en-GB">
              <a:ea typeface="Calibri"/>
              <a:cs typeface="Calibri"/>
            </a:endParaRPr>
          </a:p>
          <a:p>
            <a:r>
              <a:rPr lang="en-GB">
                <a:ea typeface="Calibri"/>
                <a:cs typeface="Calibri"/>
              </a:rPr>
              <a:t>Made in Canva.</a:t>
            </a:r>
          </a:p>
          <a:p>
            <a:r>
              <a:rPr lang="en-GB">
                <a:ea typeface="Calibri"/>
                <a:cs typeface="Calibri"/>
              </a:rPr>
              <a:t>Directs web dev.</a:t>
            </a:r>
          </a:p>
          <a:p>
            <a:r>
              <a:rPr lang="en-GB">
                <a:ea typeface="Calibri"/>
                <a:cs typeface="Calibri"/>
              </a:rPr>
              <a:t>Avoids wasting time.</a:t>
            </a:r>
          </a:p>
          <a:p>
            <a:r>
              <a:rPr lang="en-GB">
                <a:ea typeface="Calibri"/>
                <a:cs typeface="Calibri"/>
              </a:rPr>
              <a:t>  </a:t>
            </a:r>
          </a:p>
        </p:txBody>
      </p:sp>
      <p:sp>
        <p:nvSpPr>
          <p:cNvPr id="4" name="Rectangle 3">
            <a:extLst>
              <a:ext uri="{FF2B5EF4-FFF2-40B4-BE49-F238E27FC236}">
                <a16:creationId xmlns:a16="http://schemas.microsoft.com/office/drawing/2014/main" id="{78CB5DB3-F0FB-F7D1-EC49-C385051D4BFD}"/>
              </a:ext>
            </a:extLst>
          </p:cNvPr>
          <p:cNvSpPr/>
          <p:nvPr/>
        </p:nvSpPr>
        <p:spPr>
          <a:xfrm>
            <a:off x="4100513" y="1251777"/>
            <a:ext cx="4066551" cy="953995"/>
          </a:xfrm>
          <a:prstGeom prst="rect">
            <a:avLst/>
          </a:prstGeom>
          <a:solidFill>
            <a:srgbClr val="1E2761"/>
          </a:solidFill>
          <a:ln>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a:solidFill>
                  <a:srgbClr val="A855F7"/>
                </a:solidFill>
                <a:ea typeface="Calibri"/>
                <a:cs typeface="Calibri"/>
              </a:rPr>
              <a:t>1. Chat Assessment</a:t>
            </a:r>
            <a:r>
              <a:rPr lang="en-GB" noProof="0">
                <a:solidFill>
                  <a:srgbClr val="A855F7"/>
                </a:solidFill>
                <a:ea typeface="Calibri"/>
                <a:cs typeface="Calibri"/>
              </a:rPr>
              <a:t> – </a:t>
            </a:r>
            <a:r>
              <a:rPr lang="en-GB" noProof="0">
                <a:solidFill>
                  <a:schemeClr val="bg1"/>
                </a:solidFill>
                <a:ea typeface="Calibri"/>
                <a:cs typeface="Calibri"/>
              </a:rPr>
              <a:t>conversational risk profiling. Research has shown that social cues and dialogue builds trust in users.</a:t>
            </a:r>
          </a:p>
        </p:txBody>
      </p:sp>
      <p:sp>
        <p:nvSpPr>
          <p:cNvPr id="6" name="Rectangle 5">
            <a:extLst>
              <a:ext uri="{FF2B5EF4-FFF2-40B4-BE49-F238E27FC236}">
                <a16:creationId xmlns:a16="http://schemas.microsoft.com/office/drawing/2014/main" id="{504A2B0A-D467-E482-1090-5075ACA86B70}"/>
              </a:ext>
            </a:extLst>
          </p:cNvPr>
          <p:cNvSpPr/>
          <p:nvPr/>
        </p:nvSpPr>
        <p:spPr>
          <a:xfrm>
            <a:off x="4100513" y="2512300"/>
            <a:ext cx="4066551" cy="953995"/>
          </a:xfrm>
          <a:prstGeom prst="rect">
            <a:avLst/>
          </a:prstGeom>
          <a:solidFill>
            <a:srgbClr val="1E2761"/>
          </a:solidFill>
          <a:ln>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noProof="0">
                <a:solidFill>
                  <a:srgbClr val="A855F7"/>
                </a:solidFill>
                <a:ea typeface="Calibri"/>
                <a:cs typeface="Calibri"/>
              </a:rPr>
              <a:t>2. Input Screen -  </a:t>
            </a:r>
          </a:p>
          <a:p>
            <a:pPr algn="ctr"/>
            <a:r>
              <a:rPr lang="en-GB" noProof="0">
                <a:solidFill>
                  <a:schemeClr val="bg1"/>
                </a:solidFill>
                <a:ea typeface="Calibri"/>
                <a:cs typeface="Calibri"/>
              </a:rPr>
              <a:t>Adjust Input. Allows control of process. Convenience.</a:t>
            </a:r>
            <a:r>
              <a:rPr lang="en-GB">
                <a:solidFill>
                  <a:schemeClr val="bg1"/>
                </a:solidFill>
                <a:ea typeface="Calibri"/>
                <a:cs typeface="Calibri"/>
              </a:rPr>
              <a:t> Trust centric.</a:t>
            </a:r>
            <a:endParaRPr lang="en-GB" noProof="0">
              <a:solidFill>
                <a:schemeClr val="bg1"/>
              </a:solidFill>
              <a:ea typeface="Calibri"/>
              <a:cs typeface="Calibri"/>
            </a:endParaRPr>
          </a:p>
        </p:txBody>
      </p:sp>
      <p:sp>
        <p:nvSpPr>
          <p:cNvPr id="7" name="Rectangle 6">
            <a:extLst>
              <a:ext uri="{FF2B5EF4-FFF2-40B4-BE49-F238E27FC236}">
                <a16:creationId xmlns:a16="http://schemas.microsoft.com/office/drawing/2014/main" id="{C575AF77-D54D-B227-3F9D-B6AECB6B9E7A}"/>
              </a:ext>
            </a:extLst>
          </p:cNvPr>
          <p:cNvSpPr/>
          <p:nvPr/>
        </p:nvSpPr>
        <p:spPr>
          <a:xfrm>
            <a:off x="4100512" y="3772823"/>
            <a:ext cx="4066551" cy="1088076"/>
          </a:xfrm>
          <a:prstGeom prst="rect">
            <a:avLst/>
          </a:prstGeom>
          <a:solidFill>
            <a:srgbClr val="1E2761"/>
          </a:solidFill>
          <a:ln>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noProof="0">
                <a:solidFill>
                  <a:srgbClr val="A855F7"/>
                </a:solidFill>
                <a:ea typeface="Calibri"/>
                <a:cs typeface="Calibri"/>
              </a:rPr>
              <a:t>3. Suggested Portfolio - </a:t>
            </a:r>
          </a:p>
          <a:p>
            <a:pPr algn="ctr"/>
            <a:r>
              <a:rPr lang="en-GB" sz="1600" noProof="0">
                <a:solidFill>
                  <a:schemeClr val="bg1"/>
                </a:solidFill>
                <a:ea typeface="Calibri"/>
                <a:cs typeface="Calibri"/>
              </a:rPr>
              <a:t>Suggested investments. Projected returns. Export button OR </a:t>
            </a:r>
            <a:r>
              <a:rPr lang="en-GB" sz="1600">
                <a:solidFill>
                  <a:schemeClr val="bg1"/>
                </a:solidFill>
                <a:ea typeface="Calibri"/>
                <a:cs typeface="Calibri"/>
              </a:rPr>
              <a:t>return to</a:t>
            </a:r>
            <a:r>
              <a:rPr lang="en-GB" sz="1600" noProof="0">
                <a:solidFill>
                  <a:schemeClr val="bg1"/>
                </a:solidFill>
                <a:ea typeface="Calibri"/>
                <a:cs typeface="Calibri"/>
              </a:rPr>
              <a:t> input.</a:t>
            </a:r>
            <a:r>
              <a:rPr lang="en-GB" sz="1600">
                <a:solidFill>
                  <a:schemeClr val="bg1"/>
                </a:solidFill>
                <a:ea typeface="Calibri"/>
                <a:cs typeface="Calibri"/>
              </a:rPr>
              <a:t> Sorted into tabs to avoid overload</a:t>
            </a:r>
            <a:endParaRPr lang="en-GB" sz="1600" noProof="0">
              <a:solidFill>
                <a:schemeClr val="bg1"/>
              </a:solidFill>
              <a:ea typeface="Calibri"/>
              <a:cs typeface="Calibri"/>
            </a:endParaRPr>
          </a:p>
        </p:txBody>
      </p:sp>
      <p:sp>
        <p:nvSpPr>
          <p:cNvPr id="8" name="TextBox 7">
            <a:extLst>
              <a:ext uri="{FF2B5EF4-FFF2-40B4-BE49-F238E27FC236}">
                <a16:creationId xmlns:a16="http://schemas.microsoft.com/office/drawing/2014/main" id="{BEABB318-481E-3B93-24CC-BFDF84D1DD78}"/>
              </a:ext>
            </a:extLst>
          </p:cNvPr>
          <p:cNvSpPr txBox="1"/>
          <p:nvPr/>
        </p:nvSpPr>
        <p:spPr>
          <a:xfrm>
            <a:off x="5312675" y="882445"/>
            <a:ext cx="16422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ea typeface="Calibri"/>
                <a:cs typeface="Calibri"/>
              </a:rPr>
              <a:t>User Journey</a:t>
            </a:r>
            <a:endParaRPr lang="en-GB" b="1" noProof="0"/>
          </a:p>
        </p:txBody>
      </p:sp>
      <p:sp>
        <p:nvSpPr>
          <p:cNvPr id="9" name="Arrow: Down 8">
            <a:extLst>
              <a:ext uri="{FF2B5EF4-FFF2-40B4-BE49-F238E27FC236}">
                <a16:creationId xmlns:a16="http://schemas.microsoft.com/office/drawing/2014/main" id="{3CD4B5A0-67C9-4DE0-549A-C24BD44D2231}"/>
              </a:ext>
            </a:extLst>
          </p:cNvPr>
          <p:cNvSpPr/>
          <p:nvPr/>
        </p:nvSpPr>
        <p:spPr>
          <a:xfrm>
            <a:off x="8271546" y="1251777"/>
            <a:ext cx="320040" cy="3562791"/>
          </a:xfrm>
          <a:prstGeom prst="downArrow">
            <a:avLst>
              <a:gd name="adj1" fmla="val 43621"/>
              <a:gd name="adj2" fmla="val 50000"/>
            </a:avLst>
          </a:prstGeom>
          <a:solidFill>
            <a:srgbClr val="A85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Shape 0">
            <a:extLst>
              <a:ext uri="{FF2B5EF4-FFF2-40B4-BE49-F238E27FC236}">
                <a16:creationId xmlns:a16="http://schemas.microsoft.com/office/drawing/2014/main" id="{D605CCCE-3548-4A8F-518D-533DD2827B62}"/>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sp>
        <p:nvSpPr>
          <p:cNvPr id="10" name="Text 1">
            <a:extLst>
              <a:ext uri="{FF2B5EF4-FFF2-40B4-BE49-F238E27FC236}">
                <a16:creationId xmlns:a16="http://schemas.microsoft.com/office/drawing/2014/main" id="{2359B882-F49D-F404-E16A-DB7A58175A57}"/>
              </a:ext>
            </a:extLst>
          </p:cNvPr>
          <p:cNvSpPr/>
          <p:nvPr/>
        </p:nvSpPr>
        <p:spPr>
          <a:xfrm>
            <a:off x="1657075" y="114300"/>
            <a:ext cx="7298459"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13" name="Text 2">
            <a:extLst>
              <a:ext uri="{FF2B5EF4-FFF2-40B4-BE49-F238E27FC236}">
                <a16:creationId xmlns:a16="http://schemas.microsoft.com/office/drawing/2014/main" id="{EC165913-B7EB-4777-1768-FC064BABC2E7}"/>
              </a:ext>
            </a:extLst>
          </p:cNvPr>
          <p:cNvSpPr/>
          <p:nvPr/>
        </p:nvSpPr>
        <p:spPr>
          <a:xfrm>
            <a:off x="1641591" y="282601"/>
            <a:ext cx="10971543" cy="640080"/>
          </a:xfrm>
          <a:prstGeom prst="rect">
            <a:avLst/>
          </a:prstGeom>
          <a:noFill/>
          <a:ln/>
        </p:spPr>
        <p:txBody>
          <a:bodyPr wrap="square" lIns="0" tIns="0" rIns="0" bIns="0" rtlCol="0" anchor="ctr"/>
          <a:lstStyle/>
          <a:p>
            <a:r>
              <a:rPr lang="en-GB" sz="3000" b="1">
                <a:solidFill>
                  <a:srgbClr val="1E2761"/>
                </a:solidFill>
                <a:ea typeface="Calibri"/>
                <a:cs typeface="Calibri"/>
              </a:rPr>
              <a:t>Front End Design</a:t>
            </a:r>
          </a:p>
        </p:txBody>
      </p:sp>
      <p:sp>
        <p:nvSpPr>
          <p:cNvPr id="14" name="Shape 3">
            <a:extLst>
              <a:ext uri="{FF2B5EF4-FFF2-40B4-BE49-F238E27FC236}">
                <a16:creationId xmlns:a16="http://schemas.microsoft.com/office/drawing/2014/main" id="{D418CB40-11A3-BF95-2033-D4599B5680EB}"/>
              </a:ext>
            </a:extLst>
          </p:cNvPr>
          <p:cNvSpPr/>
          <p:nvPr/>
        </p:nvSpPr>
        <p:spPr>
          <a:xfrm>
            <a:off x="1641591" y="816662"/>
            <a:ext cx="547384" cy="45720"/>
          </a:xfrm>
          <a:prstGeom prst="rect">
            <a:avLst/>
          </a:prstGeom>
          <a:solidFill>
            <a:srgbClr val="A855F7"/>
          </a:solidFill>
          <a:ln w="12700">
            <a:solidFill>
              <a:srgbClr val="A855F7"/>
            </a:solidFill>
            <a:prstDash val="solid"/>
          </a:ln>
        </p:spPr>
        <p:txBody>
          <a:bodyPr/>
          <a:lstStyle/>
          <a:p>
            <a:endParaRPr lang="en-GB" noProof="0"/>
          </a:p>
        </p:txBody>
      </p:sp>
      <p:sp>
        <p:nvSpPr>
          <p:cNvPr id="15" name="TextBox 14">
            <a:extLst>
              <a:ext uri="{FF2B5EF4-FFF2-40B4-BE49-F238E27FC236}">
                <a16:creationId xmlns:a16="http://schemas.microsoft.com/office/drawing/2014/main" id="{A4CCAD12-39AE-1E17-97A9-664993A28C02}"/>
              </a:ext>
            </a:extLst>
          </p:cNvPr>
          <p:cNvSpPr txBox="1"/>
          <p:nvPr/>
        </p:nvSpPr>
        <p:spPr>
          <a:xfrm>
            <a:off x="370192" y="-1008460"/>
            <a:ext cx="7796871" cy="369332"/>
          </a:xfrm>
          <a:prstGeom prst="rect">
            <a:avLst/>
          </a:prstGeom>
          <a:noFill/>
        </p:spPr>
        <p:txBody>
          <a:bodyPr wrap="square" rtlCol="0">
            <a:spAutoFit/>
          </a:bodyPr>
          <a:lstStyle/>
          <a:p>
            <a:r>
              <a:rPr lang="en-US"/>
              <a:t>Same here</a:t>
            </a:r>
          </a:p>
        </p:txBody>
      </p:sp>
    </p:spTree>
    <p:extLst>
      <p:ext uri="{BB962C8B-B14F-4D97-AF65-F5344CB8AC3E}">
        <p14:creationId xmlns:p14="http://schemas.microsoft.com/office/powerpoint/2010/main" val="2499927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FC75-078C-D77B-EA90-5C102AF706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B1F06A9-3FDB-B1FB-14CE-98C41C0138B1}"/>
              </a:ext>
            </a:extLst>
          </p:cNvPr>
          <p:cNvSpPr/>
          <p:nvPr/>
        </p:nvSpPr>
        <p:spPr>
          <a:xfrm>
            <a:off x="5354826" y="922681"/>
            <a:ext cx="3272710" cy="422082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6EAA03E8-6FB6-87C8-60B5-BA4359392F20}"/>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sp>
        <p:nvSpPr>
          <p:cNvPr id="3" name="TextBox 2">
            <a:extLst>
              <a:ext uri="{FF2B5EF4-FFF2-40B4-BE49-F238E27FC236}">
                <a16:creationId xmlns:a16="http://schemas.microsoft.com/office/drawing/2014/main" id="{C045371F-E7DA-D904-07E0-4EE57CB181D0}"/>
              </a:ext>
            </a:extLst>
          </p:cNvPr>
          <p:cNvSpPr txBox="1"/>
          <p:nvPr/>
        </p:nvSpPr>
        <p:spPr>
          <a:xfrm>
            <a:off x="190015" y="1004179"/>
            <a:ext cx="481709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a:ea typeface="Calibri"/>
              <a:cs typeface="Calibri"/>
            </a:endParaRPr>
          </a:p>
          <a:p>
            <a:pPr marL="285750" indent="-285750">
              <a:buFont typeface="Arial"/>
              <a:buChar char="•"/>
            </a:pPr>
            <a:r>
              <a:rPr lang="en-GB">
                <a:ea typeface="+mn-lt"/>
                <a:cs typeface="+mn-lt"/>
              </a:rPr>
              <a:t>Nielsen’s Usability Heuristics</a:t>
            </a:r>
            <a:r>
              <a:rPr lang="en-GB">
                <a:ea typeface="Calibri"/>
                <a:cs typeface="Calibri"/>
              </a:rPr>
              <a:t> </a:t>
            </a:r>
          </a:p>
          <a:p>
            <a:pPr marL="285750" indent="-285750">
              <a:buFont typeface="Arial"/>
              <a:buChar char="•"/>
            </a:pPr>
            <a:r>
              <a:rPr lang="en-GB">
                <a:ea typeface="Calibri"/>
                <a:cs typeface="Calibri"/>
              </a:rPr>
              <a:t>Intuitive and low friction</a:t>
            </a:r>
          </a:p>
          <a:p>
            <a:pPr marL="285750" indent="-285750">
              <a:buFont typeface="Arial"/>
              <a:buChar char="•"/>
            </a:pPr>
            <a:r>
              <a:rPr lang="en-GB">
                <a:ea typeface="Calibri"/>
                <a:cs typeface="Calibri"/>
              </a:rPr>
              <a:t>Clear where in the process the user is and ability to go back – progress tracker</a:t>
            </a:r>
          </a:p>
          <a:p>
            <a:pPr marL="285750" indent="-285750">
              <a:buFont typeface="Arial"/>
              <a:buChar char="•"/>
            </a:pPr>
            <a:r>
              <a:rPr lang="en-GB">
                <a:ea typeface="Calibri"/>
                <a:cs typeface="Calibri"/>
              </a:rPr>
              <a:t>Hierarchy of elements</a:t>
            </a:r>
          </a:p>
          <a:p>
            <a:pPr marL="285750" indent="-285750">
              <a:buFont typeface="Arial"/>
              <a:buChar char="•"/>
            </a:pPr>
            <a:r>
              <a:rPr lang="en-GB">
                <a:ea typeface="+mn-lt"/>
                <a:cs typeface="+mn-lt"/>
              </a:rPr>
              <a:t>Minimalist design</a:t>
            </a:r>
            <a:endParaRPr lang="en-GB">
              <a:ea typeface="Calibri"/>
              <a:cs typeface="Calibri"/>
            </a:endParaRPr>
          </a:p>
          <a:p>
            <a:pPr marL="285750" indent="-285750">
              <a:buFont typeface="Arial"/>
              <a:buChar char="•"/>
            </a:pPr>
            <a:r>
              <a:rPr lang="en-GB">
                <a:ea typeface="Calibri"/>
                <a:cs typeface="Calibri"/>
              </a:rPr>
              <a:t>Colour limited, professional and meaningful</a:t>
            </a:r>
          </a:p>
          <a:p>
            <a:pPr marL="285750" indent="-285750">
              <a:buFont typeface="Arial"/>
              <a:buChar char="•"/>
            </a:pPr>
            <a:r>
              <a:rPr lang="en-GB">
                <a:ea typeface="Calibri"/>
                <a:cs typeface="Calibri"/>
              </a:rPr>
              <a:t>Accessibility Considerations – contrast, size, colour</a:t>
            </a:r>
          </a:p>
          <a:p>
            <a:pPr marL="285750" indent="-285750">
              <a:buFont typeface="Arial"/>
              <a:buChar char="•"/>
            </a:pPr>
            <a:endParaRPr lang="en-GB">
              <a:ea typeface="Calibri"/>
              <a:cs typeface="Calibri"/>
            </a:endParaRPr>
          </a:p>
        </p:txBody>
      </p:sp>
      <p:pic>
        <p:nvPicPr>
          <p:cNvPr id="11" name="Picture 10" descr="A screenshot of a computer&#10;&#10;AI-generated content may be incorrect.">
            <a:extLst>
              <a:ext uri="{FF2B5EF4-FFF2-40B4-BE49-F238E27FC236}">
                <a16:creationId xmlns:a16="http://schemas.microsoft.com/office/drawing/2014/main" id="{53545B72-23A7-0DE8-51B7-7246ECCDA616}"/>
              </a:ext>
            </a:extLst>
          </p:cNvPr>
          <p:cNvPicPr>
            <a:picLocks noChangeAspect="1"/>
          </p:cNvPicPr>
          <p:nvPr/>
        </p:nvPicPr>
        <p:blipFill>
          <a:blip r:embed="rId3"/>
          <a:srcRect l="27941" t="49743" r="28944" b="487"/>
          <a:stretch>
            <a:fillRect/>
          </a:stretch>
        </p:blipFill>
        <p:spPr>
          <a:xfrm>
            <a:off x="5569278" y="1133108"/>
            <a:ext cx="2843806" cy="1752501"/>
          </a:xfrm>
          <a:prstGeom prst="rect">
            <a:avLst/>
          </a:prstGeom>
        </p:spPr>
      </p:pic>
      <p:sp>
        <p:nvSpPr>
          <p:cNvPr id="10" name="Shape 0">
            <a:extLst>
              <a:ext uri="{FF2B5EF4-FFF2-40B4-BE49-F238E27FC236}">
                <a16:creationId xmlns:a16="http://schemas.microsoft.com/office/drawing/2014/main" id="{1F628DCC-2C4D-23C5-5CF7-2B150CE57D34}"/>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pic>
        <p:nvPicPr>
          <p:cNvPr id="5" name="Picture 4" descr="Nielsen’s 10 Usability Heuristics: The UX Rules Every Designer Should ...">
            <a:extLst>
              <a:ext uri="{FF2B5EF4-FFF2-40B4-BE49-F238E27FC236}">
                <a16:creationId xmlns:a16="http://schemas.microsoft.com/office/drawing/2014/main" id="{8937BB4B-4012-9ED6-5DBC-B28D018A00F1}"/>
              </a:ext>
            </a:extLst>
          </p:cNvPr>
          <p:cNvPicPr>
            <a:picLocks noChangeAspect="1"/>
          </p:cNvPicPr>
          <p:nvPr/>
        </p:nvPicPr>
        <p:blipFill>
          <a:blip r:embed="rId4"/>
          <a:stretch>
            <a:fillRect/>
          </a:stretch>
        </p:blipFill>
        <p:spPr>
          <a:xfrm>
            <a:off x="5554066" y="3050555"/>
            <a:ext cx="2874230" cy="1928000"/>
          </a:xfrm>
          <a:prstGeom prst="rect">
            <a:avLst/>
          </a:prstGeom>
        </p:spPr>
      </p:pic>
      <p:sp>
        <p:nvSpPr>
          <p:cNvPr id="8" name="Text 1">
            <a:extLst>
              <a:ext uri="{FF2B5EF4-FFF2-40B4-BE49-F238E27FC236}">
                <a16:creationId xmlns:a16="http://schemas.microsoft.com/office/drawing/2014/main" id="{F472DE13-F227-0047-49B8-808BE71DAF94}"/>
              </a:ext>
            </a:extLst>
          </p:cNvPr>
          <p:cNvSpPr/>
          <p:nvPr/>
        </p:nvSpPr>
        <p:spPr>
          <a:xfrm>
            <a:off x="1657075" y="114300"/>
            <a:ext cx="7298459" cy="274320"/>
          </a:xfrm>
          <a:prstGeom prst="rect">
            <a:avLst/>
          </a:prstGeom>
          <a:noFill/>
          <a:ln/>
        </p:spPr>
        <p:txBody>
          <a:bodyPr wrap="square" lIns="0" tIns="0" rIns="0" bIns="0" rtlCol="0" anchor="ctr"/>
          <a:lstStyle/>
          <a:p>
            <a:pPr marL="0" indent="0">
              <a:buNone/>
            </a:pPr>
            <a:r>
              <a:rPr lang="en-GB" sz="1000" b="1" kern="0" spc="400" noProof="0">
                <a:solidFill>
                  <a:srgbClr val="A855F7"/>
                </a:solidFill>
                <a:latin typeface="Calibri" pitchFamily="34" charset="0"/>
                <a:ea typeface="Calibri" pitchFamily="34" charset="-122"/>
                <a:cs typeface="Calibri" pitchFamily="34" charset="-120"/>
              </a:rPr>
              <a:t>02  ·  </a:t>
            </a:r>
            <a:r>
              <a:rPr lang="en-GB" sz="1000" b="1" kern="0" spc="400">
                <a:solidFill>
                  <a:srgbClr val="A855F7"/>
                </a:solidFill>
                <a:latin typeface="Calibri" pitchFamily="34" charset="0"/>
                <a:ea typeface="Calibri" pitchFamily="34" charset="-122"/>
                <a:cs typeface="Calibri" pitchFamily="34" charset="-120"/>
              </a:rPr>
              <a:t>Relevant research </a:t>
            </a:r>
            <a:endParaRPr lang="en-GB" sz="1000" noProof="0">
              <a:solidFill>
                <a:srgbClr val="A855F7"/>
              </a:solidFill>
            </a:endParaRPr>
          </a:p>
        </p:txBody>
      </p:sp>
      <p:sp>
        <p:nvSpPr>
          <p:cNvPr id="9" name="Text 2">
            <a:extLst>
              <a:ext uri="{FF2B5EF4-FFF2-40B4-BE49-F238E27FC236}">
                <a16:creationId xmlns:a16="http://schemas.microsoft.com/office/drawing/2014/main" id="{B0DEF755-C651-FC82-F8FB-29B8C9879817}"/>
              </a:ext>
            </a:extLst>
          </p:cNvPr>
          <p:cNvSpPr/>
          <p:nvPr/>
        </p:nvSpPr>
        <p:spPr>
          <a:xfrm>
            <a:off x="1641591" y="282601"/>
            <a:ext cx="10971543" cy="640080"/>
          </a:xfrm>
          <a:prstGeom prst="rect">
            <a:avLst/>
          </a:prstGeom>
          <a:noFill/>
          <a:ln/>
        </p:spPr>
        <p:txBody>
          <a:bodyPr wrap="square" lIns="0" tIns="0" rIns="0" bIns="0" rtlCol="0" anchor="ctr"/>
          <a:lstStyle/>
          <a:p>
            <a:r>
              <a:rPr lang="en-GB" sz="3000" b="1">
                <a:solidFill>
                  <a:srgbClr val="1E2761"/>
                </a:solidFill>
                <a:ea typeface="Calibri"/>
                <a:cs typeface="Calibri"/>
              </a:rPr>
              <a:t>UI  </a:t>
            </a:r>
            <a:r>
              <a:rPr lang="en-GB" sz="3000" b="1">
                <a:solidFill>
                  <a:srgbClr val="1E2761"/>
                </a:solidFill>
              </a:rPr>
              <a:t>Design Fundamentals</a:t>
            </a:r>
            <a:endParaRPr lang="en-US" sz="3000" b="1">
              <a:solidFill>
                <a:srgbClr val="1E2761"/>
              </a:solidFill>
              <a:ea typeface="Calibri"/>
              <a:cs typeface="Calibri"/>
            </a:endParaRPr>
          </a:p>
        </p:txBody>
      </p:sp>
      <p:sp>
        <p:nvSpPr>
          <p:cNvPr id="12" name="Shape 3">
            <a:extLst>
              <a:ext uri="{FF2B5EF4-FFF2-40B4-BE49-F238E27FC236}">
                <a16:creationId xmlns:a16="http://schemas.microsoft.com/office/drawing/2014/main" id="{0497503F-4DD4-A080-6226-B0A702232CEC}"/>
              </a:ext>
            </a:extLst>
          </p:cNvPr>
          <p:cNvSpPr/>
          <p:nvPr/>
        </p:nvSpPr>
        <p:spPr>
          <a:xfrm>
            <a:off x="1641591" y="816662"/>
            <a:ext cx="547384" cy="45720"/>
          </a:xfrm>
          <a:prstGeom prst="rect">
            <a:avLst/>
          </a:prstGeom>
          <a:solidFill>
            <a:srgbClr val="A855F7"/>
          </a:solidFill>
          <a:ln w="12700">
            <a:solidFill>
              <a:srgbClr val="A855F7"/>
            </a:solidFill>
            <a:prstDash val="solid"/>
          </a:ln>
        </p:spPr>
        <p:txBody>
          <a:bodyPr/>
          <a:lstStyle/>
          <a:p>
            <a:endParaRPr lang="en-GB" noProof="0"/>
          </a:p>
        </p:txBody>
      </p:sp>
      <p:sp>
        <p:nvSpPr>
          <p:cNvPr id="13" name="TextBox 12">
            <a:extLst>
              <a:ext uri="{FF2B5EF4-FFF2-40B4-BE49-F238E27FC236}">
                <a16:creationId xmlns:a16="http://schemas.microsoft.com/office/drawing/2014/main" id="{4CBD5DA0-5606-1537-A5AB-84FA877859F3}"/>
              </a:ext>
            </a:extLst>
          </p:cNvPr>
          <p:cNvSpPr txBox="1"/>
          <p:nvPr/>
        </p:nvSpPr>
        <p:spPr>
          <a:xfrm>
            <a:off x="956409" y="-580998"/>
            <a:ext cx="7796871" cy="369332"/>
          </a:xfrm>
          <a:prstGeom prst="rect">
            <a:avLst/>
          </a:prstGeom>
          <a:noFill/>
        </p:spPr>
        <p:txBody>
          <a:bodyPr wrap="square" rtlCol="0">
            <a:spAutoFit/>
          </a:bodyPr>
          <a:lstStyle/>
          <a:p>
            <a:r>
              <a:rPr lang="en-US"/>
              <a:t>A </a:t>
            </a:r>
            <a:r>
              <a:rPr lang="en-US" err="1"/>
              <a:t>liitle</a:t>
            </a:r>
            <a:r>
              <a:rPr lang="en-US"/>
              <a:t> here but not much, </a:t>
            </a:r>
          </a:p>
        </p:txBody>
      </p:sp>
    </p:spTree>
    <p:extLst>
      <p:ext uri="{BB962C8B-B14F-4D97-AF65-F5344CB8AC3E}">
        <p14:creationId xmlns:p14="http://schemas.microsoft.com/office/powerpoint/2010/main" val="365333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42F6-3F17-A1F2-05CC-E99E8840DDF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69069D5-227A-65CF-CDE0-5385BE6EEBFB}"/>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sp>
        <p:nvSpPr>
          <p:cNvPr id="3" name="TextBox 2">
            <a:extLst>
              <a:ext uri="{FF2B5EF4-FFF2-40B4-BE49-F238E27FC236}">
                <a16:creationId xmlns:a16="http://schemas.microsoft.com/office/drawing/2014/main" id="{0D464A4A-0C1C-768E-4D38-B268022E988C}"/>
              </a:ext>
            </a:extLst>
          </p:cNvPr>
          <p:cNvSpPr txBox="1"/>
          <p:nvPr/>
        </p:nvSpPr>
        <p:spPr>
          <a:xfrm>
            <a:off x="190015" y="1004179"/>
            <a:ext cx="4817093"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000" b="1">
                <a:solidFill>
                  <a:srgbClr val="1E2761"/>
                </a:solidFill>
              </a:rPr>
              <a:t>Iteration</a:t>
            </a:r>
            <a:endParaRPr lang="en-GB" sz="3000" b="1">
              <a:solidFill>
                <a:srgbClr val="1E2761"/>
              </a:solidFill>
              <a:ea typeface="Calibri"/>
              <a:cs typeface="Calibri"/>
            </a:endParaRPr>
          </a:p>
          <a:p>
            <a:endParaRPr lang="en-GB">
              <a:ea typeface="Calibri"/>
              <a:cs typeface="Calibri"/>
            </a:endParaRPr>
          </a:p>
          <a:p>
            <a:pPr marL="285750" indent="-285750">
              <a:buFont typeface="Arial"/>
              <a:buChar char="•"/>
            </a:pPr>
            <a:r>
              <a:rPr lang="en-GB">
                <a:ea typeface="Calibri"/>
                <a:cs typeface="Calibri"/>
              </a:rPr>
              <a:t>Communication with front-end development</a:t>
            </a:r>
          </a:p>
          <a:p>
            <a:pPr marL="285750" indent="-285750">
              <a:buFont typeface="Arial"/>
              <a:buChar char="•"/>
            </a:pPr>
            <a:r>
              <a:rPr lang="en-GB">
                <a:ea typeface="Calibri"/>
                <a:cs typeface="Calibri"/>
              </a:rPr>
              <a:t>Adjustments in response to feedback</a:t>
            </a:r>
          </a:p>
          <a:p>
            <a:pPr marL="285750" indent="-285750">
              <a:buFont typeface="Arial"/>
              <a:buChar char="•"/>
            </a:pPr>
            <a:r>
              <a:rPr lang="en-GB">
                <a:ea typeface="Calibri"/>
                <a:cs typeface="Calibri"/>
              </a:rPr>
              <a:t>Scope creep kept in check.</a:t>
            </a:r>
          </a:p>
          <a:p>
            <a:pPr marL="285750" indent="-285750">
              <a:buFont typeface="Arial"/>
              <a:buChar char="•"/>
            </a:pPr>
            <a:r>
              <a:rPr lang="en-GB">
                <a:ea typeface="Calibri"/>
                <a:cs typeface="Calibri"/>
              </a:rPr>
              <a:t>Wireframe let us simulate the user experience for testing without building it. </a:t>
            </a:r>
            <a:endParaRPr lang="en-GB"/>
          </a:p>
          <a:p>
            <a:pPr marL="285750" indent="-285750">
              <a:buFont typeface="Arial"/>
              <a:buChar char="•"/>
            </a:pPr>
            <a:endParaRPr lang="en-GB">
              <a:ea typeface="Calibri"/>
              <a:cs typeface="Calibri"/>
            </a:endParaRPr>
          </a:p>
          <a:p>
            <a:pPr marL="285750" indent="-285750">
              <a:buFont typeface="Arial"/>
              <a:buChar char="•"/>
            </a:pPr>
            <a:endParaRPr lang="en-GB">
              <a:ea typeface="Calibri"/>
              <a:cs typeface="Calibri"/>
            </a:endParaRPr>
          </a:p>
          <a:p>
            <a:r>
              <a:rPr lang="en-GB" sz="3000" b="1">
                <a:solidFill>
                  <a:srgbClr val="1E2761"/>
                </a:solidFill>
                <a:ea typeface="Calibri"/>
                <a:cs typeface="Calibri"/>
              </a:rPr>
              <a:t>Limitations</a:t>
            </a:r>
          </a:p>
          <a:p>
            <a:endParaRPr lang="en-GB" b="1">
              <a:ea typeface="Calibri"/>
              <a:cs typeface="Calibri"/>
            </a:endParaRPr>
          </a:p>
          <a:p>
            <a:pPr marL="285750" indent="-285750">
              <a:buFont typeface="Arial"/>
              <a:buChar char="•"/>
            </a:pPr>
            <a:r>
              <a:rPr lang="en-GB">
                <a:ea typeface="Calibri"/>
                <a:cs typeface="Calibri"/>
              </a:rPr>
              <a:t>No live preview</a:t>
            </a:r>
          </a:p>
          <a:p>
            <a:pPr marL="285750" indent="-285750">
              <a:buFont typeface="Arial"/>
              <a:buChar char="•"/>
            </a:pPr>
            <a:endParaRPr lang="en-GB">
              <a:ea typeface="Calibri"/>
              <a:cs typeface="Calibri"/>
            </a:endParaRPr>
          </a:p>
        </p:txBody>
      </p:sp>
      <p:sp>
        <p:nvSpPr>
          <p:cNvPr id="10" name="Shape 0">
            <a:extLst>
              <a:ext uri="{FF2B5EF4-FFF2-40B4-BE49-F238E27FC236}">
                <a16:creationId xmlns:a16="http://schemas.microsoft.com/office/drawing/2014/main" id="{1D89A69E-07ED-0F2E-EB94-1F9588998A24}"/>
              </a:ext>
            </a:extLst>
          </p:cNvPr>
          <p:cNvSpPr/>
          <p:nvPr/>
        </p:nvSpPr>
        <p:spPr>
          <a:xfrm>
            <a:off x="8823960" y="0"/>
            <a:ext cx="320040" cy="5143500"/>
          </a:xfrm>
          <a:prstGeom prst="rect">
            <a:avLst/>
          </a:prstGeom>
          <a:solidFill>
            <a:srgbClr val="A855F7"/>
          </a:solidFill>
          <a:ln w="12700">
            <a:solidFill>
              <a:srgbClr val="A855F7"/>
            </a:solidFill>
            <a:prstDash val="solid"/>
          </a:ln>
        </p:spPr>
        <p:txBody>
          <a:bodyPr/>
          <a:lstStyle/>
          <a:p>
            <a:endParaRPr lang="en-GB" noProof="0"/>
          </a:p>
        </p:txBody>
      </p:sp>
    </p:spTree>
    <p:extLst>
      <p:ext uri="{BB962C8B-B14F-4D97-AF65-F5344CB8AC3E}">
        <p14:creationId xmlns:p14="http://schemas.microsoft.com/office/powerpoint/2010/main" val="574443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293B3-8D44-B256-0608-7C92B545B62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BA2CF4A-E004-7FF3-5F1A-32B24C1E02B7}"/>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2">
            <a:extLst>
              <a:ext uri="{FF2B5EF4-FFF2-40B4-BE49-F238E27FC236}">
                <a16:creationId xmlns:a16="http://schemas.microsoft.com/office/drawing/2014/main" id="{ED1925F1-CF58-A6FD-FD61-052E0634455E}"/>
              </a:ext>
            </a:extLst>
          </p:cNvPr>
          <p:cNvSpPr/>
          <p:nvPr/>
        </p:nvSpPr>
        <p:spPr>
          <a:xfrm>
            <a:off x="1571223" y="282601"/>
            <a:ext cx="11041912" cy="640080"/>
          </a:xfrm>
          <a:prstGeom prst="rect">
            <a:avLst/>
          </a:prstGeom>
          <a:noFill/>
          <a:ln/>
        </p:spPr>
        <p:txBody>
          <a:bodyPr wrap="square" lIns="0" tIns="0" rIns="0" bIns="0" rtlCol="0" anchor="ctr"/>
          <a:lstStyle/>
          <a:p>
            <a:r>
              <a:rPr lang="en-GB" sz="3000" b="1" noProof="0">
                <a:solidFill>
                  <a:srgbClr val="1E2761"/>
                </a:solidFill>
                <a:ea typeface="Calibri"/>
                <a:cs typeface="Calibri"/>
              </a:rPr>
              <a:t>Alternative backend development</a:t>
            </a:r>
          </a:p>
        </p:txBody>
      </p:sp>
      <p:sp>
        <p:nvSpPr>
          <p:cNvPr id="42" name="Text 3">
            <a:extLst>
              <a:ext uri="{FF2B5EF4-FFF2-40B4-BE49-F238E27FC236}">
                <a16:creationId xmlns:a16="http://schemas.microsoft.com/office/drawing/2014/main" id="{710FBFEB-6B4E-9891-4F99-9D0B0E6655D1}"/>
              </a:ext>
            </a:extLst>
          </p:cNvPr>
          <p:cNvSpPr/>
          <p:nvPr/>
        </p:nvSpPr>
        <p:spPr>
          <a:xfrm>
            <a:off x="365760" y="960120"/>
            <a:ext cx="3931920" cy="347472"/>
          </a:xfrm>
          <a:prstGeom prst="rect">
            <a:avLst/>
          </a:prstGeom>
          <a:noFill/>
          <a:ln/>
        </p:spPr>
        <p:txBody>
          <a:bodyPr wrap="square" lIns="0" tIns="0" rIns="0" bIns="0" rtlCol="0" anchor="ctr"/>
          <a:lstStyle/>
          <a:p>
            <a:pPr marL="0" indent="0">
              <a:buNone/>
            </a:pPr>
            <a:r>
              <a:rPr lang="en-GB" sz="1600" b="1" noProof="0">
                <a:solidFill>
                  <a:srgbClr val="1E2761"/>
                </a:solidFill>
                <a:latin typeface="Calibri" pitchFamily="34" charset="0"/>
                <a:ea typeface="Calibri" pitchFamily="34" charset="-122"/>
                <a:cs typeface="Calibri" pitchFamily="34" charset="-120"/>
              </a:rPr>
              <a:t>Technology Stack</a:t>
            </a:r>
            <a:endParaRPr lang="en-GB" sz="1600" noProof="0"/>
          </a:p>
        </p:txBody>
      </p:sp>
      <p:sp>
        <p:nvSpPr>
          <p:cNvPr id="43" name="Shape 4">
            <a:extLst>
              <a:ext uri="{FF2B5EF4-FFF2-40B4-BE49-F238E27FC236}">
                <a16:creationId xmlns:a16="http://schemas.microsoft.com/office/drawing/2014/main" id="{73FA15EC-6B43-A984-5BAD-F715795468D1}"/>
              </a:ext>
            </a:extLst>
          </p:cNvPr>
          <p:cNvSpPr/>
          <p:nvPr/>
        </p:nvSpPr>
        <p:spPr>
          <a:xfrm>
            <a:off x="365760" y="1417320"/>
            <a:ext cx="3931920" cy="713232"/>
          </a:xfrm>
          <a:prstGeom prst="rect">
            <a:avLst/>
          </a:prstGeom>
          <a:solidFill>
            <a:srgbClr val="F0F4FF"/>
          </a:solidFill>
          <a:ln w="12700">
            <a:solidFill>
              <a:srgbClr val="CADCFC"/>
            </a:solidFill>
            <a:prstDash val="solid"/>
          </a:ln>
        </p:spPr>
        <p:txBody>
          <a:bodyPr/>
          <a:lstStyle/>
          <a:p>
            <a:endParaRPr lang="en-GB" noProof="0"/>
          </a:p>
        </p:txBody>
      </p:sp>
      <p:pic>
        <p:nvPicPr>
          <p:cNvPr id="44" name="Image 0" descr="preencoded.png">
            <a:extLst>
              <a:ext uri="{FF2B5EF4-FFF2-40B4-BE49-F238E27FC236}">
                <a16:creationId xmlns:a16="http://schemas.microsoft.com/office/drawing/2014/main" id="{6F1DC621-8037-0F12-A5B1-8CD3796CA9F4}"/>
              </a:ext>
            </a:extLst>
          </p:cNvPr>
          <p:cNvPicPr>
            <a:picLocks noChangeAspect="1"/>
          </p:cNvPicPr>
          <p:nvPr/>
        </p:nvPicPr>
        <p:blipFill>
          <a:blip r:embed="rId4"/>
          <a:stretch>
            <a:fillRect/>
          </a:stretch>
        </p:blipFill>
        <p:spPr>
          <a:xfrm>
            <a:off x="502920" y="1572768"/>
            <a:ext cx="384048" cy="384048"/>
          </a:xfrm>
          <a:prstGeom prst="rect">
            <a:avLst/>
          </a:prstGeom>
        </p:spPr>
      </p:pic>
      <p:sp>
        <p:nvSpPr>
          <p:cNvPr id="45" name="Text 5">
            <a:extLst>
              <a:ext uri="{FF2B5EF4-FFF2-40B4-BE49-F238E27FC236}">
                <a16:creationId xmlns:a16="http://schemas.microsoft.com/office/drawing/2014/main" id="{F0B04B11-4B6D-C378-B106-904C63E6CDB4}"/>
              </a:ext>
            </a:extLst>
          </p:cNvPr>
          <p:cNvSpPr/>
          <p:nvPr/>
        </p:nvSpPr>
        <p:spPr>
          <a:xfrm>
            <a:off x="1005840" y="1490472"/>
            <a:ext cx="3200400" cy="256032"/>
          </a:xfrm>
          <a:prstGeom prst="rect">
            <a:avLst/>
          </a:prstGeom>
          <a:noFill/>
          <a:ln/>
        </p:spPr>
        <p:txBody>
          <a:bodyPr wrap="square" lIns="0" tIns="0" rIns="0" bIns="0" rtlCol="0" anchor="ctr"/>
          <a:lstStyle/>
          <a:p>
            <a:pPr marL="0" indent="0">
              <a:buNone/>
            </a:pPr>
            <a:r>
              <a:rPr lang="en-GB" sz="1200" b="1" noProof="0">
                <a:solidFill>
                  <a:srgbClr val="1E2761"/>
                </a:solidFill>
                <a:latin typeface="Calibri" pitchFamily="34" charset="0"/>
                <a:ea typeface="Calibri" pitchFamily="34" charset="-122"/>
                <a:cs typeface="Calibri" pitchFamily="34" charset="-120"/>
              </a:rPr>
              <a:t>Python / Flask – run from Git Bash</a:t>
            </a:r>
            <a:endParaRPr lang="en-GB" sz="1200" noProof="0"/>
          </a:p>
        </p:txBody>
      </p:sp>
      <p:sp>
        <p:nvSpPr>
          <p:cNvPr id="46" name="Text 6">
            <a:extLst>
              <a:ext uri="{FF2B5EF4-FFF2-40B4-BE49-F238E27FC236}">
                <a16:creationId xmlns:a16="http://schemas.microsoft.com/office/drawing/2014/main" id="{C4F8CD0F-08CB-93EB-3480-92A286B6CBAE}"/>
              </a:ext>
            </a:extLst>
          </p:cNvPr>
          <p:cNvSpPr/>
          <p:nvPr/>
        </p:nvSpPr>
        <p:spPr>
          <a:xfrm>
            <a:off x="1005840" y="1764792"/>
            <a:ext cx="3200400" cy="292608"/>
          </a:xfrm>
          <a:prstGeom prst="rect">
            <a:avLst/>
          </a:prstGeom>
          <a:noFill/>
          <a:ln/>
        </p:spPr>
        <p:txBody>
          <a:bodyPr wrap="square" lIns="0" tIns="0" rIns="0" bIns="0" rtlCol="0" anchor="ctr"/>
          <a:lstStyle/>
          <a:p>
            <a:pPr marL="0" indent="0">
              <a:buNone/>
            </a:pPr>
            <a:r>
              <a:rPr lang="en-GB" sz="1000" noProof="0">
                <a:solidFill>
                  <a:srgbClr val="0D1B4B"/>
                </a:solidFill>
                <a:latin typeface="Calibri" pitchFamily="34" charset="0"/>
                <a:ea typeface="Calibri" pitchFamily="34" charset="-122"/>
                <a:cs typeface="Calibri" pitchFamily="34" charset="-120"/>
              </a:rPr>
              <a:t>Server-side routing and form handling – app.py</a:t>
            </a:r>
            <a:endParaRPr lang="en-GB" sz="1000" noProof="0"/>
          </a:p>
        </p:txBody>
      </p:sp>
      <p:sp>
        <p:nvSpPr>
          <p:cNvPr id="47" name="Shape 7">
            <a:extLst>
              <a:ext uri="{FF2B5EF4-FFF2-40B4-BE49-F238E27FC236}">
                <a16:creationId xmlns:a16="http://schemas.microsoft.com/office/drawing/2014/main" id="{72D88C75-D9E7-ACD7-CB06-5EF11CC65C9B}"/>
              </a:ext>
            </a:extLst>
          </p:cNvPr>
          <p:cNvSpPr/>
          <p:nvPr/>
        </p:nvSpPr>
        <p:spPr>
          <a:xfrm>
            <a:off x="365760" y="2221992"/>
            <a:ext cx="3931920" cy="713232"/>
          </a:xfrm>
          <a:prstGeom prst="rect">
            <a:avLst/>
          </a:prstGeom>
          <a:solidFill>
            <a:srgbClr val="F0F4FF"/>
          </a:solidFill>
          <a:ln w="12700">
            <a:solidFill>
              <a:srgbClr val="CADCFC"/>
            </a:solidFill>
            <a:prstDash val="solid"/>
          </a:ln>
        </p:spPr>
        <p:txBody>
          <a:bodyPr/>
          <a:lstStyle/>
          <a:p>
            <a:endParaRPr lang="en-GB" noProof="0"/>
          </a:p>
        </p:txBody>
      </p:sp>
      <p:pic>
        <p:nvPicPr>
          <p:cNvPr id="48" name="Image 1" descr="preencoded.png">
            <a:extLst>
              <a:ext uri="{FF2B5EF4-FFF2-40B4-BE49-F238E27FC236}">
                <a16:creationId xmlns:a16="http://schemas.microsoft.com/office/drawing/2014/main" id="{D16C5225-58A3-5F7D-8CCE-9551BD3773A2}"/>
              </a:ext>
            </a:extLst>
          </p:cNvPr>
          <p:cNvPicPr>
            <a:picLocks noChangeAspect="1"/>
          </p:cNvPicPr>
          <p:nvPr/>
        </p:nvPicPr>
        <p:blipFill>
          <a:blip r:embed="rId5"/>
          <a:stretch>
            <a:fillRect/>
          </a:stretch>
        </p:blipFill>
        <p:spPr>
          <a:xfrm>
            <a:off x="502920" y="2377440"/>
            <a:ext cx="384048" cy="384048"/>
          </a:xfrm>
          <a:prstGeom prst="rect">
            <a:avLst/>
          </a:prstGeom>
        </p:spPr>
      </p:pic>
      <p:sp>
        <p:nvSpPr>
          <p:cNvPr id="49" name="Text 8">
            <a:extLst>
              <a:ext uri="{FF2B5EF4-FFF2-40B4-BE49-F238E27FC236}">
                <a16:creationId xmlns:a16="http://schemas.microsoft.com/office/drawing/2014/main" id="{68E4718E-A8D8-3165-53C7-B4626BEA2AFF}"/>
              </a:ext>
            </a:extLst>
          </p:cNvPr>
          <p:cNvSpPr/>
          <p:nvPr/>
        </p:nvSpPr>
        <p:spPr>
          <a:xfrm>
            <a:off x="1005840" y="2295144"/>
            <a:ext cx="3200400" cy="256032"/>
          </a:xfrm>
          <a:prstGeom prst="rect">
            <a:avLst/>
          </a:prstGeom>
          <a:noFill/>
          <a:ln/>
        </p:spPr>
        <p:txBody>
          <a:bodyPr wrap="square" lIns="0" tIns="0" rIns="0" bIns="0" rtlCol="0" anchor="ctr"/>
          <a:lstStyle/>
          <a:p>
            <a:pPr marL="0" indent="0">
              <a:buNone/>
            </a:pPr>
            <a:r>
              <a:rPr lang="en-GB" sz="1200" b="1" noProof="0">
                <a:solidFill>
                  <a:srgbClr val="1E2761"/>
                </a:solidFill>
                <a:latin typeface="Calibri" pitchFamily="34" charset="0"/>
                <a:ea typeface="Calibri" pitchFamily="34" charset="-122"/>
                <a:cs typeface="Calibri" pitchFamily="34" charset="-120"/>
              </a:rPr>
              <a:t>HTML/CSS – (includes tooltips)</a:t>
            </a:r>
            <a:endParaRPr lang="en-GB" sz="1200" noProof="0"/>
          </a:p>
        </p:txBody>
      </p:sp>
      <p:sp>
        <p:nvSpPr>
          <p:cNvPr id="50" name="Text 9">
            <a:extLst>
              <a:ext uri="{FF2B5EF4-FFF2-40B4-BE49-F238E27FC236}">
                <a16:creationId xmlns:a16="http://schemas.microsoft.com/office/drawing/2014/main" id="{591C9609-6740-277D-8FF8-6E2BEE51F0F2}"/>
              </a:ext>
            </a:extLst>
          </p:cNvPr>
          <p:cNvSpPr/>
          <p:nvPr/>
        </p:nvSpPr>
        <p:spPr>
          <a:xfrm>
            <a:off x="1005840" y="2569464"/>
            <a:ext cx="3200400" cy="292608"/>
          </a:xfrm>
          <a:prstGeom prst="rect">
            <a:avLst/>
          </a:prstGeom>
          <a:noFill/>
          <a:ln/>
        </p:spPr>
        <p:txBody>
          <a:bodyPr wrap="square" lIns="0" tIns="0" rIns="0" bIns="0" rtlCol="0" anchor="ctr"/>
          <a:lstStyle/>
          <a:p>
            <a:pPr marL="0" indent="0">
              <a:buNone/>
            </a:pPr>
            <a:r>
              <a:rPr lang="en-GB" sz="1000" noProof="0">
                <a:solidFill>
                  <a:srgbClr val="0D1B4B"/>
                </a:solidFill>
                <a:latin typeface="Calibri" pitchFamily="34" charset="0"/>
                <a:ea typeface="Calibri" pitchFamily="34" charset="-122"/>
                <a:cs typeface="Calibri" pitchFamily="34" charset="-120"/>
              </a:rPr>
              <a:t>Style sheet for the UI – index.html</a:t>
            </a:r>
            <a:endParaRPr lang="en-GB" sz="1000" noProof="0"/>
          </a:p>
        </p:txBody>
      </p:sp>
      <p:sp>
        <p:nvSpPr>
          <p:cNvPr id="51" name="Shape 10">
            <a:extLst>
              <a:ext uri="{FF2B5EF4-FFF2-40B4-BE49-F238E27FC236}">
                <a16:creationId xmlns:a16="http://schemas.microsoft.com/office/drawing/2014/main" id="{BC68CFCB-87B1-CB9A-7B5D-5FACC1AF2322}"/>
              </a:ext>
            </a:extLst>
          </p:cNvPr>
          <p:cNvSpPr/>
          <p:nvPr/>
        </p:nvSpPr>
        <p:spPr>
          <a:xfrm>
            <a:off x="365760" y="3026664"/>
            <a:ext cx="3931920" cy="713232"/>
          </a:xfrm>
          <a:prstGeom prst="rect">
            <a:avLst/>
          </a:prstGeom>
          <a:solidFill>
            <a:srgbClr val="F0F4FF"/>
          </a:solidFill>
          <a:ln w="12700">
            <a:solidFill>
              <a:srgbClr val="CADCFC"/>
            </a:solidFill>
            <a:prstDash val="solid"/>
          </a:ln>
        </p:spPr>
        <p:txBody>
          <a:bodyPr/>
          <a:lstStyle/>
          <a:p>
            <a:endParaRPr lang="en-GB" noProof="0"/>
          </a:p>
        </p:txBody>
      </p:sp>
      <p:pic>
        <p:nvPicPr>
          <p:cNvPr id="52" name="Image 2" descr="preencoded.png">
            <a:extLst>
              <a:ext uri="{FF2B5EF4-FFF2-40B4-BE49-F238E27FC236}">
                <a16:creationId xmlns:a16="http://schemas.microsoft.com/office/drawing/2014/main" id="{58DCA43F-F0FC-EDD0-22CE-817AB80FEF81}"/>
              </a:ext>
            </a:extLst>
          </p:cNvPr>
          <p:cNvPicPr>
            <a:picLocks noChangeAspect="1"/>
          </p:cNvPicPr>
          <p:nvPr/>
        </p:nvPicPr>
        <p:blipFill>
          <a:blip r:embed="rId6"/>
          <a:stretch>
            <a:fillRect/>
          </a:stretch>
        </p:blipFill>
        <p:spPr>
          <a:xfrm>
            <a:off x="502920" y="3182112"/>
            <a:ext cx="384048" cy="384048"/>
          </a:xfrm>
          <a:prstGeom prst="rect">
            <a:avLst/>
          </a:prstGeom>
        </p:spPr>
      </p:pic>
      <p:sp>
        <p:nvSpPr>
          <p:cNvPr id="53" name="Text 11">
            <a:extLst>
              <a:ext uri="{FF2B5EF4-FFF2-40B4-BE49-F238E27FC236}">
                <a16:creationId xmlns:a16="http://schemas.microsoft.com/office/drawing/2014/main" id="{5EBD7317-121C-0B73-734C-D12BC1CCB5DE}"/>
              </a:ext>
            </a:extLst>
          </p:cNvPr>
          <p:cNvSpPr/>
          <p:nvPr/>
        </p:nvSpPr>
        <p:spPr>
          <a:xfrm>
            <a:off x="1005840" y="3099816"/>
            <a:ext cx="3200400" cy="256032"/>
          </a:xfrm>
          <a:prstGeom prst="rect">
            <a:avLst/>
          </a:prstGeom>
          <a:noFill/>
          <a:ln/>
        </p:spPr>
        <p:txBody>
          <a:bodyPr wrap="square" lIns="0" tIns="0" rIns="0" bIns="0" rtlCol="0" anchor="ctr"/>
          <a:lstStyle/>
          <a:p>
            <a:pPr marL="0" indent="0">
              <a:buNone/>
            </a:pPr>
            <a:r>
              <a:rPr lang="en-GB" sz="1200" b="1" noProof="0">
                <a:solidFill>
                  <a:srgbClr val="1E2761"/>
                </a:solidFill>
                <a:latin typeface="Calibri" pitchFamily="34" charset="0"/>
                <a:ea typeface="Calibri" pitchFamily="34" charset="-122"/>
                <a:cs typeface="Calibri" pitchFamily="34" charset="-120"/>
              </a:rPr>
              <a:t>Plotly</a:t>
            </a:r>
            <a:endParaRPr lang="en-GB" sz="1200" noProof="0"/>
          </a:p>
        </p:txBody>
      </p:sp>
      <p:sp>
        <p:nvSpPr>
          <p:cNvPr id="54" name="Text 12">
            <a:extLst>
              <a:ext uri="{FF2B5EF4-FFF2-40B4-BE49-F238E27FC236}">
                <a16:creationId xmlns:a16="http://schemas.microsoft.com/office/drawing/2014/main" id="{BD02DE26-60EA-5A1A-ACB6-FDF5F601E610}"/>
              </a:ext>
            </a:extLst>
          </p:cNvPr>
          <p:cNvSpPr/>
          <p:nvPr/>
        </p:nvSpPr>
        <p:spPr>
          <a:xfrm>
            <a:off x="1005840" y="3374136"/>
            <a:ext cx="3200400" cy="292608"/>
          </a:xfrm>
          <a:prstGeom prst="rect">
            <a:avLst/>
          </a:prstGeom>
          <a:noFill/>
          <a:ln/>
        </p:spPr>
        <p:txBody>
          <a:bodyPr wrap="square" lIns="0" tIns="0" rIns="0" bIns="0" rtlCol="0" anchor="ctr"/>
          <a:lstStyle/>
          <a:p>
            <a:r>
              <a:rPr lang="en-GB" sz="1000">
                <a:solidFill>
                  <a:srgbClr val="0D1B4B"/>
                </a:solidFill>
                <a:latin typeface="Calibri"/>
                <a:ea typeface="Calibri"/>
                <a:cs typeface="Calibri"/>
              </a:rPr>
              <a:t>I5 graphs – plots.py</a:t>
            </a:r>
            <a:endParaRPr lang="en-GB" sz="1000" noProof="0"/>
          </a:p>
        </p:txBody>
      </p:sp>
      <p:sp>
        <p:nvSpPr>
          <p:cNvPr id="55" name="Shape 13">
            <a:extLst>
              <a:ext uri="{FF2B5EF4-FFF2-40B4-BE49-F238E27FC236}">
                <a16:creationId xmlns:a16="http://schemas.microsoft.com/office/drawing/2014/main" id="{60104404-DB3C-6FE4-C0E7-E530737A4134}"/>
              </a:ext>
            </a:extLst>
          </p:cNvPr>
          <p:cNvSpPr/>
          <p:nvPr/>
        </p:nvSpPr>
        <p:spPr>
          <a:xfrm>
            <a:off x="365760" y="3831336"/>
            <a:ext cx="3931920" cy="713232"/>
          </a:xfrm>
          <a:prstGeom prst="rect">
            <a:avLst/>
          </a:prstGeom>
          <a:solidFill>
            <a:srgbClr val="F0F4FF"/>
          </a:solidFill>
          <a:ln w="12700">
            <a:solidFill>
              <a:srgbClr val="CADCFC"/>
            </a:solidFill>
            <a:prstDash val="solid"/>
          </a:ln>
        </p:spPr>
        <p:txBody>
          <a:bodyPr/>
          <a:lstStyle/>
          <a:p>
            <a:endParaRPr lang="en-GB" noProof="0"/>
          </a:p>
        </p:txBody>
      </p:sp>
      <p:pic>
        <p:nvPicPr>
          <p:cNvPr id="56" name="Image 3" descr="preencoded.png">
            <a:extLst>
              <a:ext uri="{FF2B5EF4-FFF2-40B4-BE49-F238E27FC236}">
                <a16:creationId xmlns:a16="http://schemas.microsoft.com/office/drawing/2014/main" id="{6E7F091B-E6EB-ECBB-699B-7452409E361A}"/>
              </a:ext>
            </a:extLst>
          </p:cNvPr>
          <p:cNvPicPr>
            <a:picLocks noChangeAspect="1"/>
          </p:cNvPicPr>
          <p:nvPr/>
        </p:nvPicPr>
        <p:blipFill>
          <a:blip r:embed="rId7"/>
          <a:stretch>
            <a:fillRect/>
          </a:stretch>
        </p:blipFill>
        <p:spPr>
          <a:xfrm>
            <a:off x="502920" y="3986784"/>
            <a:ext cx="384048" cy="384048"/>
          </a:xfrm>
          <a:prstGeom prst="rect">
            <a:avLst/>
          </a:prstGeom>
        </p:spPr>
      </p:pic>
      <p:sp>
        <p:nvSpPr>
          <p:cNvPr id="57" name="Text 14">
            <a:extLst>
              <a:ext uri="{FF2B5EF4-FFF2-40B4-BE49-F238E27FC236}">
                <a16:creationId xmlns:a16="http://schemas.microsoft.com/office/drawing/2014/main" id="{E384FD0A-6D34-FAA3-1063-821428D9A525}"/>
              </a:ext>
            </a:extLst>
          </p:cNvPr>
          <p:cNvSpPr/>
          <p:nvPr/>
        </p:nvSpPr>
        <p:spPr>
          <a:xfrm>
            <a:off x="1005840" y="3904488"/>
            <a:ext cx="3200400" cy="256032"/>
          </a:xfrm>
          <a:prstGeom prst="rect">
            <a:avLst/>
          </a:prstGeom>
          <a:noFill/>
          <a:ln/>
        </p:spPr>
        <p:txBody>
          <a:bodyPr wrap="square" lIns="0" tIns="0" rIns="0" bIns="0" rtlCol="0" anchor="ctr"/>
          <a:lstStyle/>
          <a:p>
            <a:pPr marL="0" indent="0">
              <a:buNone/>
            </a:pPr>
            <a:r>
              <a:rPr lang="en-GB" sz="1200" b="1" noProof="0">
                <a:solidFill>
                  <a:srgbClr val="1E2761"/>
                </a:solidFill>
                <a:latin typeface="Calibri" pitchFamily="34" charset="0"/>
                <a:ea typeface="Calibri" pitchFamily="34" charset="-122"/>
                <a:cs typeface="Calibri" pitchFamily="34" charset="-120"/>
              </a:rPr>
              <a:t>calculate.py</a:t>
            </a:r>
            <a:endParaRPr lang="en-GB" sz="1200" noProof="0"/>
          </a:p>
        </p:txBody>
      </p:sp>
      <p:sp>
        <p:nvSpPr>
          <p:cNvPr id="58" name="Text 15">
            <a:extLst>
              <a:ext uri="{FF2B5EF4-FFF2-40B4-BE49-F238E27FC236}">
                <a16:creationId xmlns:a16="http://schemas.microsoft.com/office/drawing/2014/main" id="{82958913-AB96-739B-80F5-FBA47AC2C3A5}"/>
              </a:ext>
            </a:extLst>
          </p:cNvPr>
          <p:cNvSpPr/>
          <p:nvPr/>
        </p:nvSpPr>
        <p:spPr>
          <a:xfrm>
            <a:off x="1005840" y="4178808"/>
            <a:ext cx="3200400" cy="292608"/>
          </a:xfrm>
          <a:prstGeom prst="rect">
            <a:avLst/>
          </a:prstGeom>
          <a:noFill/>
          <a:ln/>
        </p:spPr>
        <p:txBody>
          <a:bodyPr wrap="square" lIns="0" tIns="0" rIns="0" bIns="0" rtlCol="0" anchor="ctr"/>
          <a:lstStyle/>
          <a:p>
            <a:pPr marL="0" indent="0">
              <a:buNone/>
            </a:pPr>
            <a:r>
              <a:rPr lang="en-GB" sz="1000" noProof="0">
                <a:solidFill>
                  <a:srgbClr val="0D1B4B"/>
                </a:solidFill>
                <a:latin typeface="Calibri" pitchFamily="34" charset="0"/>
                <a:ea typeface="Calibri" pitchFamily="34" charset="-122"/>
                <a:cs typeface="Calibri" pitchFamily="34" charset="-120"/>
              </a:rPr>
              <a:t>All optimisation &amp; simulation logic (unchanged from original model)</a:t>
            </a:r>
            <a:endParaRPr lang="en-GB" sz="1000" noProof="0"/>
          </a:p>
        </p:txBody>
      </p:sp>
      <p:sp>
        <p:nvSpPr>
          <p:cNvPr id="59" name="Shape 16">
            <a:extLst>
              <a:ext uri="{FF2B5EF4-FFF2-40B4-BE49-F238E27FC236}">
                <a16:creationId xmlns:a16="http://schemas.microsoft.com/office/drawing/2014/main" id="{AE8A14E2-57EB-287B-9FD6-3F87875F8558}"/>
              </a:ext>
            </a:extLst>
          </p:cNvPr>
          <p:cNvSpPr/>
          <p:nvPr/>
        </p:nvSpPr>
        <p:spPr>
          <a:xfrm>
            <a:off x="4572000" y="914400"/>
            <a:ext cx="36576" cy="4023360"/>
          </a:xfrm>
          <a:prstGeom prst="rect">
            <a:avLst/>
          </a:prstGeom>
          <a:solidFill>
            <a:srgbClr val="CADCFC"/>
          </a:solidFill>
          <a:ln w="12700">
            <a:solidFill>
              <a:srgbClr val="CADCFC"/>
            </a:solidFill>
            <a:prstDash val="solid"/>
          </a:ln>
        </p:spPr>
        <p:txBody>
          <a:bodyPr/>
          <a:lstStyle/>
          <a:p>
            <a:endParaRPr lang="en-GB" noProof="0"/>
          </a:p>
        </p:txBody>
      </p:sp>
      <p:sp>
        <p:nvSpPr>
          <p:cNvPr id="60" name="Text 17">
            <a:extLst>
              <a:ext uri="{FF2B5EF4-FFF2-40B4-BE49-F238E27FC236}">
                <a16:creationId xmlns:a16="http://schemas.microsoft.com/office/drawing/2014/main" id="{E93977F1-1C3E-8982-D61E-51A11F415604}"/>
              </a:ext>
            </a:extLst>
          </p:cNvPr>
          <p:cNvSpPr/>
          <p:nvPr/>
        </p:nvSpPr>
        <p:spPr>
          <a:xfrm>
            <a:off x="4800600" y="960120"/>
            <a:ext cx="4023360" cy="347472"/>
          </a:xfrm>
          <a:prstGeom prst="rect">
            <a:avLst/>
          </a:prstGeom>
          <a:noFill/>
          <a:ln/>
        </p:spPr>
        <p:txBody>
          <a:bodyPr wrap="square" lIns="0" tIns="0" rIns="0" bIns="0" rtlCol="0" anchor="ctr"/>
          <a:lstStyle/>
          <a:p>
            <a:r>
              <a:rPr lang="en-GB" sz="1600" b="1">
                <a:solidFill>
                  <a:srgbClr val="1E2761"/>
                </a:solidFill>
                <a:ea typeface="Calibri"/>
                <a:cs typeface="Calibri"/>
              </a:rPr>
              <a:t>At a glance</a:t>
            </a:r>
            <a:endParaRPr lang="en-GB" sz="1600" b="1" noProof="0">
              <a:solidFill>
                <a:srgbClr val="1E2761"/>
              </a:solidFill>
              <a:ea typeface="Calibri"/>
              <a:cs typeface="Calibri"/>
            </a:endParaRPr>
          </a:p>
        </p:txBody>
      </p:sp>
      <p:sp>
        <p:nvSpPr>
          <p:cNvPr id="61" name="Shape 18">
            <a:extLst>
              <a:ext uri="{FF2B5EF4-FFF2-40B4-BE49-F238E27FC236}">
                <a16:creationId xmlns:a16="http://schemas.microsoft.com/office/drawing/2014/main" id="{ECBC9F55-4315-D42F-C3AC-04551DC78720}"/>
              </a:ext>
            </a:extLst>
          </p:cNvPr>
          <p:cNvSpPr/>
          <p:nvPr/>
        </p:nvSpPr>
        <p:spPr>
          <a:xfrm>
            <a:off x="4800600" y="1527048"/>
            <a:ext cx="384048" cy="384048"/>
          </a:xfrm>
          <a:prstGeom prst="ellipse">
            <a:avLst/>
          </a:prstGeom>
          <a:solidFill>
            <a:srgbClr val="4F8EF7"/>
          </a:solidFill>
          <a:ln w="12700">
            <a:solidFill>
              <a:srgbClr val="4F8EF7"/>
            </a:solidFill>
            <a:prstDash val="solid"/>
          </a:ln>
        </p:spPr>
        <p:txBody>
          <a:bodyPr/>
          <a:lstStyle/>
          <a:p>
            <a:endParaRPr lang="en-GB" noProof="0"/>
          </a:p>
        </p:txBody>
      </p:sp>
      <p:sp>
        <p:nvSpPr>
          <p:cNvPr id="62" name="Text 19">
            <a:extLst>
              <a:ext uri="{FF2B5EF4-FFF2-40B4-BE49-F238E27FC236}">
                <a16:creationId xmlns:a16="http://schemas.microsoft.com/office/drawing/2014/main" id="{F7932AD3-4466-6293-55B6-9E96C2454EEA}"/>
              </a:ext>
            </a:extLst>
          </p:cNvPr>
          <p:cNvSpPr/>
          <p:nvPr/>
        </p:nvSpPr>
        <p:spPr>
          <a:xfrm>
            <a:off x="4800600" y="1527048"/>
            <a:ext cx="384048" cy="384048"/>
          </a:xfrm>
          <a:prstGeom prst="rect">
            <a:avLst/>
          </a:prstGeom>
          <a:noFill/>
          <a:ln/>
        </p:spPr>
        <p:txBody>
          <a:bodyPr wrap="square" lIns="0" tIns="0" rIns="0" bIns="0" rtlCol="0" anchor="ctr"/>
          <a:lstStyle/>
          <a:p>
            <a:pPr marL="0" indent="0" algn="ctr">
              <a:buNone/>
            </a:pPr>
            <a:endParaRPr lang="en-GB" sz="1300" noProof="0"/>
          </a:p>
        </p:txBody>
      </p:sp>
      <p:sp>
        <p:nvSpPr>
          <p:cNvPr id="63" name="Shape 20">
            <a:extLst>
              <a:ext uri="{FF2B5EF4-FFF2-40B4-BE49-F238E27FC236}">
                <a16:creationId xmlns:a16="http://schemas.microsoft.com/office/drawing/2014/main" id="{B32BC556-96D9-48E0-FAB2-3B924AA09C52}"/>
              </a:ext>
            </a:extLst>
          </p:cNvPr>
          <p:cNvSpPr/>
          <p:nvPr/>
        </p:nvSpPr>
        <p:spPr>
          <a:xfrm>
            <a:off x="4965192" y="1947672"/>
            <a:ext cx="54864" cy="256032"/>
          </a:xfrm>
          <a:prstGeom prst="rect">
            <a:avLst/>
          </a:prstGeom>
          <a:solidFill>
            <a:srgbClr val="CADCFC"/>
          </a:solidFill>
          <a:ln w="12700">
            <a:solidFill>
              <a:srgbClr val="CADCFC"/>
            </a:solidFill>
            <a:prstDash val="solid"/>
          </a:ln>
        </p:spPr>
        <p:txBody>
          <a:bodyPr/>
          <a:lstStyle/>
          <a:p>
            <a:endParaRPr lang="en-GB" noProof="0"/>
          </a:p>
        </p:txBody>
      </p:sp>
      <p:sp>
        <p:nvSpPr>
          <p:cNvPr id="64" name="Text 21">
            <a:extLst>
              <a:ext uri="{FF2B5EF4-FFF2-40B4-BE49-F238E27FC236}">
                <a16:creationId xmlns:a16="http://schemas.microsoft.com/office/drawing/2014/main" id="{179BB30B-2768-040B-D967-218ECEB31548}"/>
              </a:ext>
            </a:extLst>
          </p:cNvPr>
          <p:cNvSpPr/>
          <p:nvPr/>
        </p:nvSpPr>
        <p:spPr>
          <a:xfrm>
            <a:off x="5321808" y="1508760"/>
            <a:ext cx="3474720" cy="457200"/>
          </a:xfrm>
          <a:prstGeom prst="rect">
            <a:avLst/>
          </a:prstGeom>
          <a:noFill/>
          <a:ln/>
        </p:spPr>
        <p:txBody>
          <a:bodyPr wrap="square" lIns="0" tIns="0" rIns="0" bIns="0" rtlCol="0" anchor="ctr"/>
          <a:lstStyle/>
          <a:p>
            <a:pPr marL="0" indent="0">
              <a:buNone/>
            </a:pPr>
            <a:r>
              <a:rPr lang="en-GB" sz="1400" noProof="0">
                <a:solidFill>
                  <a:srgbClr val="0D1B4B"/>
                </a:solidFill>
                <a:latin typeface="Calibri" pitchFamily="34" charset="0"/>
                <a:ea typeface="Calibri" pitchFamily="34" charset="-122"/>
                <a:cs typeface="Calibri" pitchFamily="34" charset="-120"/>
              </a:rPr>
              <a:t>Adapted Tom’s calculations for backend use</a:t>
            </a:r>
            <a:endParaRPr lang="en-GB" sz="1400" noProof="0"/>
          </a:p>
        </p:txBody>
      </p:sp>
      <p:sp>
        <p:nvSpPr>
          <p:cNvPr id="65" name="Shape 22">
            <a:extLst>
              <a:ext uri="{FF2B5EF4-FFF2-40B4-BE49-F238E27FC236}">
                <a16:creationId xmlns:a16="http://schemas.microsoft.com/office/drawing/2014/main" id="{F74FBD72-3D77-02CD-585B-D28632ED2319}"/>
              </a:ext>
            </a:extLst>
          </p:cNvPr>
          <p:cNvSpPr/>
          <p:nvPr/>
        </p:nvSpPr>
        <p:spPr>
          <a:xfrm>
            <a:off x="4800600" y="2240280"/>
            <a:ext cx="384048" cy="384048"/>
          </a:xfrm>
          <a:prstGeom prst="ellipse">
            <a:avLst/>
          </a:prstGeom>
          <a:solidFill>
            <a:srgbClr val="E34BD8"/>
          </a:solidFill>
          <a:ln w="12700">
            <a:solidFill>
              <a:srgbClr val="E34BD8"/>
            </a:solidFill>
            <a:prstDash val="solid"/>
          </a:ln>
        </p:spPr>
        <p:txBody>
          <a:bodyPr/>
          <a:lstStyle/>
          <a:p>
            <a:endParaRPr lang="en-GB" noProof="0"/>
          </a:p>
        </p:txBody>
      </p:sp>
      <p:sp>
        <p:nvSpPr>
          <p:cNvPr id="66" name="Text 23">
            <a:extLst>
              <a:ext uri="{FF2B5EF4-FFF2-40B4-BE49-F238E27FC236}">
                <a16:creationId xmlns:a16="http://schemas.microsoft.com/office/drawing/2014/main" id="{0ACB9E7E-CC0F-BDAD-DC40-7EC16C8146F9}"/>
              </a:ext>
            </a:extLst>
          </p:cNvPr>
          <p:cNvSpPr/>
          <p:nvPr/>
        </p:nvSpPr>
        <p:spPr>
          <a:xfrm>
            <a:off x="4800600" y="2240280"/>
            <a:ext cx="384048" cy="384048"/>
          </a:xfrm>
          <a:prstGeom prst="rect">
            <a:avLst/>
          </a:prstGeom>
          <a:noFill/>
          <a:ln/>
        </p:spPr>
        <p:txBody>
          <a:bodyPr wrap="square" lIns="0" tIns="0" rIns="0" bIns="0" rtlCol="0" anchor="ctr"/>
          <a:lstStyle/>
          <a:p>
            <a:pPr marL="0" indent="0" algn="ctr">
              <a:buNone/>
            </a:pPr>
            <a:endParaRPr lang="en-GB" sz="1300" noProof="0"/>
          </a:p>
        </p:txBody>
      </p:sp>
      <p:sp>
        <p:nvSpPr>
          <p:cNvPr id="67" name="Shape 24">
            <a:extLst>
              <a:ext uri="{FF2B5EF4-FFF2-40B4-BE49-F238E27FC236}">
                <a16:creationId xmlns:a16="http://schemas.microsoft.com/office/drawing/2014/main" id="{8EEB945D-97FF-4BA0-3B41-3FF1F8933E53}"/>
              </a:ext>
            </a:extLst>
          </p:cNvPr>
          <p:cNvSpPr/>
          <p:nvPr/>
        </p:nvSpPr>
        <p:spPr>
          <a:xfrm>
            <a:off x="4965192" y="2660904"/>
            <a:ext cx="54864" cy="256032"/>
          </a:xfrm>
          <a:prstGeom prst="rect">
            <a:avLst/>
          </a:prstGeom>
          <a:solidFill>
            <a:srgbClr val="CADCFC"/>
          </a:solidFill>
          <a:ln w="12700">
            <a:solidFill>
              <a:srgbClr val="CADCFC"/>
            </a:solidFill>
            <a:prstDash val="solid"/>
          </a:ln>
        </p:spPr>
        <p:txBody>
          <a:bodyPr/>
          <a:lstStyle/>
          <a:p>
            <a:endParaRPr lang="en-GB" noProof="0"/>
          </a:p>
        </p:txBody>
      </p:sp>
      <p:sp>
        <p:nvSpPr>
          <p:cNvPr id="68" name="Text 25">
            <a:extLst>
              <a:ext uri="{FF2B5EF4-FFF2-40B4-BE49-F238E27FC236}">
                <a16:creationId xmlns:a16="http://schemas.microsoft.com/office/drawing/2014/main" id="{B6541A0E-B6B5-10C2-5D27-6D7F2D0F196B}"/>
              </a:ext>
            </a:extLst>
          </p:cNvPr>
          <p:cNvSpPr/>
          <p:nvPr/>
        </p:nvSpPr>
        <p:spPr>
          <a:xfrm>
            <a:off x="5376672" y="2180428"/>
            <a:ext cx="3474720" cy="457200"/>
          </a:xfrm>
          <a:prstGeom prst="rect">
            <a:avLst/>
          </a:prstGeom>
          <a:noFill/>
          <a:ln/>
        </p:spPr>
        <p:txBody>
          <a:bodyPr wrap="square" lIns="0" tIns="0" rIns="0" bIns="0" rtlCol="0" anchor="ctr"/>
          <a:lstStyle/>
          <a:p>
            <a:pPr marL="0" indent="0">
              <a:buNone/>
            </a:pPr>
            <a:r>
              <a:rPr lang="en-GB" sz="1400" noProof="0">
                <a:solidFill>
                  <a:srgbClr val="0D1B4B"/>
                </a:solidFill>
                <a:latin typeface="Calibri" pitchFamily="34" charset="0"/>
                <a:ea typeface="Calibri" pitchFamily="34" charset="-122"/>
                <a:cs typeface="Calibri" pitchFamily="34" charset="-120"/>
              </a:rPr>
              <a:t>Four coding files: app.py, calculate.py, mapping.py &amp; plots.py</a:t>
            </a:r>
          </a:p>
          <a:p>
            <a:pPr marL="0" indent="0">
              <a:buNone/>
            </a:pPr>
            <a:r>
              <a:rPr lang="en-GB" sz="1400" noProof="0">
                <a:solidFill>
                  <a:srgbClr val="0D1B4B"/>
                </a:solidFill>
                <a:latin typeface="Calibri" pitchFamily="34" charset="0"/>
                <a:ea typeface="Calibri" pitchFamily="34" charset="-122"/>
                <a:cs typeface="Calibri" pitchFamily="34" charset="-120"/>
              </a:rPr>
              <a:t>+ index.html (in templates folder) </a:t>
            </a:r>
            <a:endParaRPr lang="en-GB" sz="1400" noProof="0"/>
          </a:p>
        </p:txBody>
      </p:sp>
      <p:sp>
        <p:nvSpPr>
          <p:cNvPr id="69" name="Shape 26">
            <a:extLst>
              <a:ext uri="{FF2B5EF4-FFF2-40B4-BE49-F238E27FC236}">
                <a16:creationId xmlns:a16="http://schemas.microsoft.com/office/drawing/2014/main" id="{EC3F7C66-9B36-9748-BBD1-FC38EAFF472A}"/>
              </a:ext>
            </a:extLst>
          </p:cNvPr>
          <p:cNvSpPr/>
          <p:nvPr/>
        </p:nvSpPr>
        <p:spPr>
          <a:xfrm>
            <a:off x="4800600" y="2953512"/>
            <a:ext cx="384048" cy="384048"/>
          </a:xfrm>
          <a:prstGeom prst="ellipse">
            <a:avLst/>
          </a:prstGeom>
          <a:solidFill>
            <a:srgbClr val="9999FF"/>
          </a:solidFill>
          <a:ln w="12700">
            <a:solidFill>
              <a:srgbClr val="9999FF"/>
            </a:solidFill>
            <a:prstDash val="solid"/>
          </a:ln>
        </p:spPr>
        <p:txBody>
          <a:bodyPr/>
          <a:lstStyle/>
          <a:p>
            <a:endParaRPr lang="en-GB" noProof="0"/>
          </a:p>
        </p:txBody>
      </p:sp>
      <p:sp>
        <p:nvSpPr>
          <p:cNvPr id="70" name="Text 27">
            <a:extLst>
              <a:ext uri="{FF2B5EF4-FFF2-40B4-BE49-F238E27FC236}">
                <a16:creationId xmlns:a16="http://schemas.microsoft.com/office/drawing/2014/main" id="{F6A59A96-903C-9F86-1222-122B243E8D74}"/>
              </a:ext>
            </a:extLst>
          </p:cNvPr>
          <p:cNvSpPr/>
          <p:nvPr/>
        </p:nvSpPr>
        <p:spPr>
          <a:xfrm>
            <a:off x="4800600" y="2953512"/>
            <a:ext cx="384048" cy="384048"/>
          </a:xfrm>
          <a:prstGeom prst="rect">
            <a:avLst/>
          </a:prstGeom>
          <a:noFill/>
          <a:ln/>
        </p:spPr>
        <p:txBody>
          <a:bodyPr wrap="square" lIns="0" tIns="0" rIns="0" bIns="0" rtlCol="0" anchor="ctr"/>
          <a:lstStyle/>
          <a:p>
            <a:pPr marL="0" indent="0" algn="ctr">
              <a:buNone/>
            </a:pPr>
            <a:endParaRPr lang="en-GB" sz="1300" noProof="0"/>
          </a:p>
        </p:txBody>
      </p:sp>
      <p:sp>
        <p:nvSpPr>
          <p:cNvPr id="71" name="Shape 28">
            <a:extLst>
              <a:ext uri="{FF2B5EF4-FFF2-40B4-BE49-F238E27FC236}">
                <a16:creationId xmlns:a16="http://schemas.microsoft.com/office/drawing/2014/main" id="{5FCD4734-D1CB-993C-1FBC-22FEB79B8BC8}"/>
              </a:ext>
            </a:extLst>
          </p:cNvPr>
          <p:cNvSpPr/>
          <p:nvPr/>
        </p:nvSpPr>
        <p:spPr>
          <a:xfrm>
            <a:off x="4965192" y="3374136"/>
            <a:ext cx="54864" cy="256032"/>
          </a:xfrm>
          <a:prstGeom prst="rect">
            <a:avLst/>
          </a:prstGeom>
          <a:solidFill>
            <a:srgbClr val="CADCFC"/>
          </a:solidFill>
          <a:ln w="12700">
            <a:solidFill>
              <a:srgbClr val="CADCFC"/>
            </a:solidFill>
            <a:prstDash val="solid"/>
          </a:ln>
        </p:spPr>
        <p:txBody>
          <a:bodyPr/>
          <a:lstStyle/>
          <a:p>
            <a:endParaRPr lang="en-GB" noProof="0"/>
          </a:p>
        </p:txBody>
      </p:sp>
      <p:sp>
        <p:nvSpPr>
          <p:cNvPr id="73" name="Shape 30">
            <a:extLst>
              <a:ext uri="{FF2B5EF4-FFF2-40B4-BE49-F238E27FC236}">
                <a16:creationId xmlns:a16="http://schemas.microsoft.com/office/drawing/2014/main" id="{CBAC3311-0B60-76FF-1DB4-13FDC9A286B9}"/>
              </a:ext>
            </a:extLst>
          </p:cNvPr>
          <p:cNvSpPr/>
          <p:nvPr/>
        </p:nvSpPr>
        <p:spPr>
          <a:xfrm>
            <a:off x="4800600" y="3666744"/>
            <a:ext cx="384048" cy="384048"/>
          </a:xfrm>
          <a:prstGeom prst="ellipse">
            <a:avLst/>
          </a:prstGeom>
          <a:solidFill>
            <a:schemeClr val="accent2">
              <a:lumMod val="60000"/>
              <a:lumOff val="40000"/>
            </a:schemeClr>
          </a:solidFill>
          <a:ln w="12700">
            <a:solidFill>
              <a:schemeClr val="accent2">
                <a:lumMod val="60000"/>
                <a:lumOff val="40000"/>
              </a:schemeClr>
            </a:solidFill>
            <a:prstDash val="solid"/>
          </a:ln>
        </p:spPr>
        <p:txBody>
          <a:bodyPr/>
          <a:lstStyle/>
          <a:p>
            <a:endParaRPr lang="en-GB" noProof="0"/>
          </a:p>
        </p:txBody>
      </p:sp>
      <p:sp>
        <p:nvSpPr>
          <p:cNvPr id="74" name="Text 31">
            <a:extLst>
              <a:ext uri="{FF2B5EF4-FFF2-40B4-BE49-F238E27FC236}">
                <a16:creationId xmlns:a16="http://schemas.microsoft.com/office/drawing/2014/main" id="{8FE13065-4287-F454-E5D5-297368F57804}"/>
              </a:ext>
            </a:extLst>
          </p:cNvPr>
          <p:cNvSpPr/>
          <p:nvPr/>
        </p:nvSpPr>
        <p:spPr>
          <a:xfrm>
            <a:off x="4800600" y="3666744"/>
            <a:ext cx="384048" cy="384048"/>
          </a:xfrm>
          <a:prstGeom prst="rect">
            <a:avLst/>
          </a:prstGeom>
          <a:noFill/>
          <a:ln/>
        </p:spPr>
        <p:txBody>
          <a:bodyPr wrap="square" lIns="0" tIns="0" rIns="0" bIns="0" rtlCol="0" anchor="ctr"/>
          <a:lstStyle/>
          <a:p>
            <a:pPr marL="0" indent="0" algn="ctr">
              <a:buNone/>
            </a:pPr>
            <a:endParaRPr lang="en-GB" sz="1300" noProof="0"/>
          </a:p>
        </p:txBody>
      </p:sp>
      <p:sp>
        <p:nvSpPr>
          <p:cNvPr id="75" name="Shape 32">
            <a:extLst>
              <a:ext uri="{FF2B5EF4-FFF2-40B4-BE49-F238E27FC236}">
                <a16:creationId xmlns:a16="http://schemas.microsoft.com/office/drawing/2014/main" id="{B46DD90C-28FA-9061-AFA5-ECAD229D3BEB}"/>
              </a:ext>
            </a:extLst>
          </p:cNvPr>
          <p:cNvSpPr/>
          <p:nvPr/>
        </p:nvSpPr>
        <p:spPr>
          <a:xfrm>
            <a:off x="4965192" y="4087368"/>
            <a:ext cx="54864" cy="256032"/>
          </a:xfrm>
          <a:prstGeom prst="rect">
            <a:avLst/>
          </a:prstGeom>
          <a:solidFill>
            <a:srgbClr val="CADCFC"/>
          </a:solidFill>
          <a:ln w="12700">
            <a:solidFill>
              <a:srgbClr val="CADCFC"/>
            </a:solidFill>
            <a:prstDash val="solid"/>
          </a:ln>
        </p:spPr>
        <p:txBody>
          <a:bodyPr/>
          <a:lstStyle/>
          <a:p>
            <a:endParaRPr lang="en-GB" noProof="0"/>
          </a:p>
        </p:txBody>
      </p:sp>
      <p:sp>
        <p:nvSpPr>
          <p:cNvPr id="76" name="Text 33">
            <a:extLst>
              <a:ext uri="{FF2B5EF4-FFF2-40B4-BE49-F238E27FC236}">
                <a16:creationId xmlns:a16="http://schemas.microsoft.com/office/drawing/2014/main" id="{A5E40EA8-E7C3-252A-B5E2-4BACC8561553}"/>
              </a:ext>
            </a:extLst>
          </p:cNvPr>
          <p:cNvSpPr/>
          <p:nvPr/>
        </p:nvSpPr>
        <p:spPr>
          <a:xfrm>
            <a:off x="5349240" y="2926080"/>
            <a:ext cx="3474720" cy="457200"/>
          </a:xfrm>
          <a:prstGeom prst="rect">
            <a:avLst/>
          </a:prstGeom>
          <a:noFill/>
          <a:ln/>
        </p:spPr>
        <p:txBody>
          <a:bodyPr wrap="square" lIns="0" tIns="0" rIns="0" bIns="0" rtlCol="0" anchor="ctr"/>
          <a:lstStyle/>
          <a:p>
            <a:pPr marL="0" indent="0">
              <a:buNone/>
            </a:pPr>
            <a:r>
              <a:rPr lang="en-GB" sz="1400" noProof="0">
                <a:solidFill>
                  <a:srgbClr val="0D1B4B"/>
                </a:solidFill>
                <a:latin typeface="Calibri" pitchFamily="34" charset="0"/>
                <a:ea typeface="Calibri" pitchFamily="34" charset="-122"/>
                <a:cs typeface="Calibri" pitchFamily="34" charset="-120"/>
              </a:rPr>
              <a:t>Flask POSTs → calculate.py runs optimisation</a:t>
            </a:r>
            <a:endParaRPr lang="en-GB" sz="1400" noProof="0"/>
          </a:p>
        </p:txBody>
      </p:sp>
      <p:sp>
        <p:nvSpPr>
          <p:cNvPr id="77" name="Shape 34">
            <a:extLst>
              <a:ext uri="{FF2B5EF4-FFF2-40B4-BE49-F238E27FC236}">
                <a16:creationId xmlns:a16="http://schemas.microsoft.com/office/drawing/2014/main" id="{CEA577E9-46F3-C370-3751-61C1DA7D9840}"/>
              </a:ext>
            </a:extLst>
          </p:cNvPr>
          <p:cNvSpPr/>
          <p:nvPr/>
        </p:nvSpPr>
        <p:spPr>
          <a:xfrm>
            <a:off x="4800600" y="4379976"/>
            <a:ext cx="384048" cy="384048"/>
          </a:xfrm>
          <a:prstGeom prst="ellipse">
            <a:avLst/>
          </a:prstGeom>
          <a:solidFill>
            <a:srgbClr val="22C55E"/>
          </a:solidFill>
          <a:ln w="12700">
            <a:solidFill>
              <a:srgbClr val="22C55E"/>
            </a:solidFill>
            <a:prstDash val="solid"/>
          </a:ln>
        </p:spPr>
        <p:txBody>
          <a:bodyPr/>
          <a:lstStyle/>
          <a:p>
            <a:endParaRPr lang="en-GB" noProof="0"/>
          </a:p>
        </p:txBody>
      </p:sp>
      <p:sp>
        <p:nvSpPr>
          <p:cNvPr id="78" name="Text 35">
            <a:extLst>
              <a:ext uri="{FF2B5EF4-FFF2-40B4-BE49-F238E27FC236}">
                <a16:creationId xmlns:a16="http://schemas.microsoft.com/office/drawing/2014/main" id="{BBADAA90-B027-25E8-05C6-09F996800123}"/>
              </a:ext>
            </a:extLst>
          </p:cNvPr>
          <p:cNvSpPr/>
          <p:nvPr/>
        </p:nvSpPr>
        <p:spPr>
          <a:xfrm>
            <a:off x="4800600" y="4379976"/>
            <a:ext cx="384048" cy="384048"/>
          </a:xfrm>
          <a:prstGeom prst="rect">
            <a:avLst/>
          </a:prstGeom>
          <a:noFill/>
          <a:ln/>
        </p:spPr>
        <p:txBody>
          <a:bodyPr wrap="square" lIns="0" tIns="0" rIns="0" bIns="0" rtlCol="0" anchor="ctr"/>
          <a:lstStyle/>
          <a:p>
            <a:pPr marL="0" indent="0" algn="ctr">
              <a:buNone/>
            </a:pPr>
            <a:endParaRPr lang="en-GB" sz="1300" noProof="0"/>
          </a:p>
        </p:txBody>
      </p:sp>
      <p:sp>
        <p:nvSpPr>
          <p:cNvPr id="79" name="Text 36">
            <a:extLst>
              <a:ext uri="{FF2B5EF4-FFF2-40B4-BE49-F238E27FC236}">
                <a16:creationId xmlns:a16="http://schemas.microsoft.com/office/drawing/2014/main" id="{A5A19D9D-7CA5-F4C4-120F-2299F261D14C}"/>
              </a:ext>
            </a:extLst>
          </p:cNvPr>
          <p:cNvSpPr/>
          <p:nvPr/>
        </p:nvSpPr>
        <p:spPr>
          <a:xfrm>
            <a:off x="5321808" y="4361688"/>
            <a:ext cx="3474720" cy="457200"/>
          </a:xfrm>
          <a:prstGeom prst="rect">
            <a:avLst/>
          </a:prstGeom>
          <a:noFill/>
          <a:ln/>
        </p:spPr>
        <p:txBody>
          <a:bodyPr wrap="square" lIns="0" tIns="0" rIns="0" bIns="0" rtlCol="0" anchor="ctr"/>
          <a:lstStyle/>
          <a:p>
            <a:pPr marL="0" indent="0">
              <a:buNone/>
            </a:pPr>
            <a:r>
              <a:rPr lang="en-GB" sz="1400" noProof="0">
                <a:solidFill>
                  <a:srgbClr val="0D1B4B"/>
                </a:solidFill>
                <a:latin typeface="Calibri" pitchFamily="34" charset="0"/>
                <a:ea typeface="Calibri" pitchFamily="34" charset="-122"/>
                <a:cs typeface="Calibri" pitchFamily="34" charset="-120"/>
              </a:rPr>
              <a:t>Results page: weights, Sharpe Ratio, Expected return, MC growth chart, Correlation Heatmap</a:t>
            </a:r>
            <a:endParaRPr lang="en-GB" sz="1400" noProof="0"/>
          </a:p>
        </p:txBody>
      </p:sp>
      <p:sp>
        <p:nvSpPr>
          <p:cNvPr id="80" name="Text 33">
            <a:extLst>
              <a:ext uri="{FF2B5EF4-FFF2-40B4-BE49-F238E27FC236}">
                <a16:creationId xmlns:a16="http://schemas.microsoft.com/office/drawing/2014/main" id="{0CC1C256-D431-7552-27D3-8E65512439E9}"/>
              </a:ext>
            </a:extLst>
          </p:cNvPr>
          <p:cNvSpPr/>
          <p:nvPr/>
        </p:nvSpPr>
        <p:spPr>
          <a:xfrm>
            <a:off x="5400545" y="3617699"/>
            <a:ext cx="3474720" cy="457200"/>
          </a:xfrm>
          <a:prstGeom prst="rect">
            <a:avLst/>
          </a:prstGeom>
          <a:noFill/>
          <a:ln/>
        </p:spPr>
        <p:txBody>
          <a:bodyPr wrap="square" lIns="0" tIns="0" rIns="0" bIns="0" rtlCol="0" anchor="ctr"/>
          <a:lstStyle/>
          <a:p>
            <a:r>
              <a:rPr lang="en-GB" sz="1400" noProof="0">
                <a:solidFill>
                  <a:srgbClr val="0D1B4B"/>
                </a:solidFill>
                <a:latin typeface="Calibri" pitchFamily="34" charset="0"/>
                <a:ea typeface="Calibri" pitchFamily="34" charset="-122"/>
                <a:cs typeface="Calibri" pitchFamily="34" charset="-120"/>
              </a:rPr>
              <a:t>Runs on local host: </a:t>
            </a:r>
            <a:r>
              <a:rPr lang="en-GB" sz="1400" noProof="0">
                <a:hlinkClick r:id="rId8"/>
              </a:rPr>
              <a:t>http://127.0.0.1:5000/</a:t>
            </a:r>
            <a:endParaRPr lang="en-GB" sz="1400" noProof="0"/>
          </a:p>
        </p:txBody>
      </p:sp>
      <p:sp>
        <p:nvSpPr>
          <p:cNvPr id="81" name="Shape 18">
            <a:extLst>
              <a:ext uri="{FF2B5EF4-FFF2-40B4-BE49-F238E27FC236}">
                <a16:creationId xmlns:a16="http://schemas.microsoft.com/office/drawing/2014/main" id="{D925DB11-C637-0481-EAD0-D56266769905}"/>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407025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5E56-F430-45F0-A8E4-6D42D43E8A6D}"/>
            </a:ext>
          </a:extLst>
        </p:cNvPr>
        <p:cNvGrpSpPr/>
        <p:nvPr/>
      </p:nvGrpSpPr>
      <p:grpSpPr>
        <a:xfrm>
          <a:off x="0" y="0"/>
          <a:ext cx="0" cy="0"/>
          <a:chOff x="0" y="0"/>
          <a:chExt cx="0" cy="0"/>
        </a:xfrm>
      </p:grpSpPr>
      <p:sp>
        <p:nvSpPr>
          <p:cNvPr id="7" name="Shape 38">
            <a:extLst>
              <a:ext uri="{FF2B5EF4-FFF2-40B4-BE49-F238E27FC236}">
                <a16:creationId xmlns:a16="http://schemas.microsoft.com/office/drawing/2014/main" id="{BEFC659F-9161-D85C-AAF3-CBF1EA4BBE0F}"/>
              </a:ext>
            </a:extLst>
          </p:cNvPr>
          <p:cNvSpPr/>
          <p:nvPr/>
        </p:nvSpPr>
        <p:spPr>
          <a:xfrm>
            <a:off x="1" y="4316011"/>
            <a:ext cx="5683876" cy="612788"/>
          </a:xfrm>
          <a:prstGeom prst="rect">
            <a:avLst/>
          </a:prstGeom>
          <a:solidFill>
            <a:srgbClr val="1E2761"/>
          </a:solidFill>
          <a:ln w="12700">
            <a:solidFill>
              <a:srgbClr val="1E2761"/>
            </a:solidFill>
            <a:prstDash val="solid"/>
          </a:ln>
        </p:spPr>
        <p:txBody>
          <a:bodyPr/>
          <a:lstStyle/>
          <a:p>
            <a:r>
              <a:rPr lang="en-GB">
                <a:solidFill>
                  <a:srgbClr val="000000"/>
                </a:solidFill>
                <a:ea typeface="Calibri"/>
                <a:cs typeface="Calibri"/>
              </a:rPr>
              <a:t>🚀 </a:t>
            </a:r>
            <a:r>
              <a:rPr lang="en-GB" b="1">
                <a:solidFill>
                  <a:srgbClr val="F59E0B"/>
                </a:solidFill>
                <a:ea typeface="Calibri"/>
                <a:cs typeface="Calibri"/>
              </a:rPr>
              <a:t>Runs on port: </a:t>
            </a:r>
            <a:r>
              <a:rPr lang="en-GB" b="1" i="1">
                <a:solidFill>
                  <a:srgbClr val="F59E0B"/>
                </a:solidFill>
                <a:ea typeface="Calibri"/>
                <a:cs typeface="Calibri"/>
              </a:rPr>
              <a:t> </a:t>
            </a:r>
            <a:endParaRPr lang="en-GB" b="1" noProof="0">
              <a:solidFill>
                <a:srgbClr val="F59E0B"/>
              </a:solidFill>
            </a:endParaRPr>
          </a:p>
        </p:txBody>
      </p:sp>
      <p:pic>
        <p:nvPicPr>
          <p:cNvPr id="2" name="Picture 1">
            <a:extLst>
              <a:ext uri="{FF2B5EF4-FFF2-40B4-BE49-F238E27FC236}">
                <a16:creationId xmlns:a16="http://schemas.microsoft.com/office/drawing/2014/main" id="{73C6759B-FC50-DD67-2C77-F85CB9F87E86}"/>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6" name="TextBox 5">
            <a:extLst>
              <a:ext uri="{FF2B5EF4-FFF2-40B4-BE49-F238E27FC236}">
                <a16:creationId xmlns:a16="http://schemas.microsoft.com/office/drawing/2014/main" id="{BCD33234-7EFB-E146-DBB2-31082BCA64DD}"/>
              </a:ext>
            </a:extLst>
          </p:cNvPr>
          <p:cNvSpPr txBox="1"/>
          <p:nvPr/>
        </p:nvSpPr>
        <p:spPr>
          <a:xfrm>
            <a:off x="1812594" y="4316011"/>
            <a:ext cx="2577921" cy="369332"/>
          </a:xfrm>
          <a:prstGeom prst="rect">
            <a:avLst/>
          </a:prstGeom>
          <a:noFill/>
        </p:spPr>
        <p:txBody>
          <a:bodyPr wrap="square">
            <a:spAutoFit/>
          </a:bodyPr>
          <a:lstStyle/>
          <a:p>
            <a:r>
              <a:rPr lang="en-GB" b="1">
                <a:solidFill>
                  <a:srgbClr val="0EA5E9"/>
                </a:solidFill>
              </a:rPr>
              <a:t>http://127.0.0.1:5000/</a:t>
            </a:r>
          </a:p>
        </p:txBody>
      </p:sp>
      <p:sp>
        <p:nvSpPr>
          <p:cNvPr id="8" name="TextBox 7">
            <a:extLst>
              <a:ext uri="{FF2B5EF4-FFF2-40B4-BE49-F238E27FC236}">
                <a16:creationId xmlns:a16="http://schemas.microsoft.com/office/drawing/2014/main" id="{5E905286-79C4-934C-0C1B-824177281B5A}"/>
              </a:ext>
            </a:extLst>
          </p:cNvPr>
          <p:cNvSpPr txBox="1"/>
          <p:nvPr/>
        </p:nvSpPr>
        <p:spPr>
          <a:xfrm>
            <a:off x="271486" y="4559467"/>
            <a:ext cx="5105444" cy="369332"/>
          </a:xfrm>
          <a:prstGeom prst="rect">
            <a:avLst/>
          </a:prstGeom>
          <a:noFill/>
        </p:spPr>
        <p:txBody>
          <a:bodyPr wrap="square" rtlCol="0">
            <a:spAutoFit/>
          </a:bodyPr>
          <a:lstStyle/>
          <a:p>
            <a:r>
              <a:rPr lang="en-GB" i="1">
                <a:solidFill>
                  <a:schemeClr val="bg1"/>
                </a:solidFill>
              </a:rPr>
              <a:t>Please ask if you’d like to see a live demo at the end</a:t>
            </a:r>
          </a:p>
        </p:txBody>
      </p:sp>
      <p:pic>
        <p:nvPicPr>
          <p:cNvPr id="10" name="Picture 9">
            <a:extLst>
              <a:ext uri="{FF2B5EF4-FFF2-40B4-BE49-F238E27FC236}">
                <a16:creationId xmlns:a16="http://schemas.microsoft.com/office/drawing/2014/main" id="{8DAEC8CA-7E1A-7BB7-BBDA-F5BDD5522909}"/>
              </a:ext>
            </a:extLst>
          </p:cNvPr>
          <p:cNvPicPr>
            <a:picLocks noChangeAspect="1"/>
          </p:cNvPicPr>
          <p:nvPr/>
        </p:nvPicPr>
        <p:blipFill>
          <a:blip r:embed="rId4"/>
          <a:stretch>
            <a:fillRect/>
          </a:stretch>
        </p:blipFill>
        <p:spPr>
          <a:xfrm>
            <a:off x="309461" y="958494"/>
            <a:ext cx="3578505" cy="2829059"/>
          </a:xfrm>
          <a:prstGeom prst="rect">
            <a:avLst/>
          </a:prstGeom>
        </p:spPr>
      </p:pic>
      <p:sp>
        <p:nvSpPr>
          <p:cNvPr id="11" name="Text 2">
            <a:extLst>
              <a:ext uri="{FF2B5EF4-FFF2-40B4-BE49-F238E27FC236}">
                <a16:creationId xmlns:a16="http://schemas.microsoft.com/office/drawing/2014/main" id="{61A5A6BF-40B5-D868-18A0-49772204A277}"/>
              </a:ext>
            </a:extLst>
          </p:cNvPr>
          <p:cNvSpPr/>
          <p:nvPr/>
        </p:nvSpPr>
        <p:spPr>
          <a:xfrm>
            <a:off x="1571223" y="282601"/>
            <a:ext cx="5628067" cy="565202"/>
          </a:xfrm>
          <a:prstGeom prst="rect">
            <a:avLst/>
          </a:prstGeom>
          <a:noFill/>
          <a:ln/>
        </p:spPr>
        <p:txBody>
          <a:bodyPr wrap="square" lIns="0" tIns="0" rIns="0" bIns="0" rtlCol="0" anchor="ctr"/>
          <a:lstStyle/>
          <a:p>
            <a:r>
              <a:rPr lang="en-GB" sz="3000" b="1" noProof="0">
                <a:solidFill>
                  <a:srgbClr val="1E2761"/>
                </a:solidFill>
                <a:ea typeface="Calibri"/>
                <a:cs typeface="Calibri"/>
              </a:rPr>
              <a:t>Alternative UI interface</a:t>
            </a:r>
          </a:p>
        </p:txBody>
      </p:sp>
      <p:pic>
        <p:nvPicPr>
          <p:cNvPr id="15" name="Picture 14">
            <a:extLst>
              <a:ext uri="{FF2B5EF4-FFF2-40B4-BE49-F238E27FC236}">
                <a16:creationId xmlns:a16="http://schemas.microsoft.com/office/drawing/2014/main" id="{911188A6-1CCF-8F8A-39A5-9AA15423F909}"/>
              </a:ext>
            </a:extLst>
          </p:cNvPr>
          <p:cNvPicPr>
            <a:picLocks noChangeAspect="1"/>
          </p:cNvPicPr>
          <p:nvPr/>
        </p:nvPicPr>
        <p:blipFill>
          <a:blip r:embed="rId5"/>
          <a:stretch>
            <a:fillRect/>
          </a:stretch>
        </p:blipFill>
        <p:spPr>
          <a:xfrm>
            <a:off x="5629683" y="0"/>
            <a:ext cx="2761433" cy="5143500"/>
          </a:xfrm>
          <a:prstGeom prst="rect">
            <a:avLst/>
          </a:prstGeom>
        </p:spPr>
      </p:pic>
      <p:sp>
        <p:nvSpPr>
          <p:cNvPr id="3" name="Shape 18">
            <a:extLst>
              <a:ext uri="{FF2B5EF4-FFF2-40B4-BE49-F238E27FC236}">
                <a16:creationId xmlns:a16="http://schemas.microsoft.com/office/drawing/2014/main" id="{E6FDE832-9CC7-55BA-EFD3-12E92204E34C}"/>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1073207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1392-EA3A-7C77-4190-5110A953D57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BB751B3-8E2B-D642-5B57-4994F2F27933}"/>
              </a:ext>
            </a:extLst>
          </p:cNvPr>
          <p:cNvPicPr>
            <a:picLocks noChangeAspect="1"/>
          </p:cNvPicPr>
          <p:nvPr/>
        </p:nvPicPr>
        <p:blipFill>
          <a:blip r:embed="rId3"/>
          <a:srcRect l="13334" t="28243" r="12642" b="31552"/>
          <a:stretch>
            <a:fillRect/>
          </a:stretch>
        </p:blipFill>
        <p:spPr>
          <a:xfrm>
            <a:off x="167000" y="101207"/>
            <a:ext cx="1156241" cy="565202"/>
          </a:xfrm>
          <a:prstGeom prst="rect">
            <a:avLst/>
          </a:prstGeom>
        </p:spPr>
      </p:pic>
      <p:sp>
        <p:nvSpPr>
          <p:cNvPr id="7" name="TextBox 6">
            <a:extLst>
              <a:ext uri="{FF2B5EF4-FFF2-40B4-BE49-F238E27FC236}">
                <a16:creationId xmlns:a16="http://schemas.microsoft.com/office/drawing/2014/main" id="{4143BFB4-2D18-8B1B-737C-E9A2EEA8232E}"/>
              </a:ext>
            </a:extLst>
          </p:cNvPr>
          <p:cNvSpPr txBox="1"/>
          <p:nvPr/>
        </p:nvSpPr>
        <p:spPr>
          <a:xfrm>
            <a:off x="1795328" y="106809"/>
            <a:ext cx="5553343"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000" b="1" i="0" u="none" strike="noStrike" kern="1200" cap="none" spc="0" normalizeH="0" baseline="0" noProof="0">
                <a:ln>
                  <a:noFill/>
                </a:ln>
                <a:solidFill>
                  <a:srgbClr val="1E2761"/>
                </a:solidFill>
                <a:effectLst/>
                <a:uLnTx/>
                <a:uFillTx/>
                <a:latin typeface="Calibri" panose="020F0502020204030204"/>
                <a:ea typeface="Calibri"/>
                <a:cs typeface="Calibri"/>
              </a:rPr>
              <a:t>Alternative Portfolio Results</a:t>
            </a:r>
          </a:p>
        </p:txBody>
      </p:sp>
      <p:pic>
        <p:nvPicPr>
          <p:cNvPr id="9" name="Picture 8">
            <a:extLst>
              <a:ext uri="{FF2B5EF4-FFF2-40B4-BE49-F238E27FC236}">
                <a16:creationId xmlns:a16="http://schemas.microsoft.com/office/drawing/2014/main" id="{A74B1EF6-9D5E-4322-C8F9-0D5F61689E3B}"/>
              </a:ext>
            </a:extLst>
          </p:cNvPr>
          <p:cNvPicPr>
            <a:picLocks noChangeAspect="1"/>
          </p:cNvPicPr>
          <p:nvPr/>
        </p:nvPicPr>
        <p:blipFill>
          <a:blip r:embed="rId4"/>
          <a:stretch>
            <a:fillRect/>
          </a:stretch>
        </p:blipFill>
        <p:spPr>
          <a:xfrm>
            <a:off x="326801" y="682580"/>
            <a:ext cx="2739381" cy="4460920"/>
          </a:xfrm>
          <a:prstGeom prst="rect">
            <a:avLst/>
          </a:prstGeom>
        </p:spPr>
      </p:pic>
      <p:pic>
        <p:nvPicPr>
          <p:cNvPr id="11" name="Picture 10">
            <a:extLst>
              <a:ext uri="{FF2B5EF4-FFF2-40B4-BE49-F238E27FC236}">
                <a16:creationId xmlns:a16="http://schemas.microsoft.com/office/drawing/2014/main" id="{253564FA-C100-02E9-3D7A-62EE839F628B}"/>
              </a:ext>
            </a:extLst>
          </p:cNvPr>
          <p:cNvPicPr>
            <a:picLocks noChangeAspect="1"/>
          </p:cNvPicPr>
          <p:nvPr/>
        </p:nvPicPr>
        <p:blipFill>
          <a:blip r:embed="rId5"/>
          <a:stretch>
            <a:fillRect/>
          </a:stretch>
        </p:blipFill>
        <p:spPr>
          <a:xfrm>
            <a:off x="2352541" y="962391"/>
            <a:ext cx="6397414" cy="2269932"/>
          </a:xfrm>
          <a:prstGeom prst="rect">
            <a:avLst/>
          </a:prstGeom>
        </p:spPr>
      </p:pic>
      <p:sp>
        <p:nvSpPr>
          <p:cNvPr id="4" name="Shape 18">
            <a:extLst>
              <a:ext uri="{FF2B5EF4-FFF2-40B4-BE49-F238E27FC236}">
                <a16:creationId xmlns:a16="http://schemas.microsoft.com/office/drawing/2014/main" id="{F3F04EE3-7240-CA81-AC24-6B1645470BDD}"/>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2304018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CB7E7-BB2E-FB36-010E-FF435E60838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946A1A2-0A09-D87A-4496-31FBD4B26867}"/>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pic>
        <p:nvPicPr>
          <p:cNvPr id="3" name="Picture 2" descr="A screenshot of a graph&#10;&#10;AI-generated content may be incorrect.">
            <a:extLst>
              <a:ext uri="{FF2B5EF4-FFF2-40B4-BE49-F238E27FC236}">
                <a16:creationId xmlns:a16="http://schemas.microsoft.com/office/drawing/2014/main" id="{D360B98A-32BB-612F-6B87-1217C85CBAC6}"/>
              </a:ext>
            </a:extLst>
          </p:cNvPr>
          <p:cNvPicPr>
            <a:picLocks noChangeAspect="1"/>
          </p:cNvPicPr>
          <p:nvPr/>
        </p:nvPicPr>
        <p:blipFill>
          <a:blip r:embed="rId3"/>
          <a:stretch>
            <a:fillRect/>
          </a:stretch>
        </p:blipFill>
        <p:spPr>
          <a:xfrm>
            <a:off x="1344706" y="678802"/>
            <a:ext cx="6886986" cy="4357889"/>
          </a:xfrm>
          <a:prstGeom prst="rect">
            <a:avLst/>
          </a:prstGeom>
        </p:spPr>
      </p:pic>
      <p:sp>
        <p:nvSpPr>
          <p:cNvPr id="4" name="TextBox 3">
            <a:extLst>
              <a:ext uri="{FF2B5EF4-FFF2-40B4-BE49-F238E27FC236}">
                <a16:creationId xmlns:a16="http://schemas.microsoft.com/office/drawing/2014/main" id="{3D39368B-7E7C-EEF9-5B8B-7ACA2494440C}"/>
              </a:ext>
            </a:extLst>
          </p:cNvPr>
          <p:cNvSpPr txBox="1"/>
          <p:nvPr/>
        </p:nvSpPr>
        <p:spPr>
          <a:xfrm>
            <a:off x="1795328" y="106809"/>
            <a:ext cx="5553343"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000" b="1" i="0" u="none" strike="noStrike" kern="1200" cap="none" spc="0" normalizeH="0" baseline="0" noProof="0">
                <a:ln>
                  <a:noFill/>
                </a:ln>
                <a:solidFill>
                  <a:srgbClr val="1E2761"/>
                </a:solidFill>
                <a:effectLst/>
                <a:uLnTx/>
                <a:uFillTx/>
                <a:latin typeface="Calibri" panose="020F0502020204030204"/>
                <a:ea typeface="Calibri"/>
                <a:cs typeface="Calibri"/>
              </a:rPr>
              <a:t>Alternative Portfolio Plots</a:t>
            </a:r>
          </a:p>
        </p:txBody>
      </p:sp>
      <p:sp>
        <p:nvSpPr>
          <p:cNvPr id="5" name="Shape 18">
            <a:extLst>
              <a:ext uri="{FF2B5EF4-FFF2-40B4-BE49-F238E27FC236}">
                <a16:creationId xmlns:a16="http://schemas.microsoft.com/office/drawing/2014/main" id="{CD3EF38C-A15B-772E-A7B2-26CB967D6E36}"/>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2692086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C1466-CA70-7577-8F18-80E3D64447B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02AF58-C010-E445-ECAA-79E7CFBF75AB}"/>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sp>
        <p:nvSpPr>
          <p:cNvPr id="4" name="AutoShape 2" descr="System architecture">
            <a:extLst>
              <a:ext uri="{FF2B5EF4-FFF2-40B4-BE49-F238E27FC236}">
                <a16:creationId xmlns:a16="http://schemas.microsoft.com/office/drawing/2014/main" id="{EAE94B49-E514-E328-57CF-51CAD00C11D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a:p>
        </p:txBody>
      </p:sp>
      <p:pic>
        <p:nvPicPr>
          <p:cNvPr id="6" name="Picture 5">
            <a:extLst>
              <a:ext uri="{FF2B5EF4-FFF2-40B4-BE49-F238E27FC236}">
                <a16:creationId xmlns:a16="http://schemas.microsoft.com/office/drawing/2014/main" id="{44455C6D-669D-B23C-100E-4B410A930BC1}"/>
              </a:ext>
            </a:extLst>
          </p:cNvPr>
          <p:cNvPicPr>
            <a:picLocks noChangeAspect="1"/>
          </p:cNvPicPr>
          <p:nvPr/>
        </p:nvPicPr>
        <p:blipFill>
          <a:blip r:embed="rId3"/>
          <a:stretch>
            <a:fillRect/>
          </a:stretch>
        </p:blipFill>
        <p:spPr>
          <a:xfrm>
            <a:off x="4138594" y="-6151"/>
            <a:ext cx="4368096" cy="5155801"/>
          </a:xfrm>
          <a:prstGeom prst="rect">
            <a:avLst/>
          </a:prstGeom>
        </p:spPr>
      </p:pic>
      <p:sp>
        <p:nvSpPr>
          <p:cNvPr id="7" name="TextBox 6">
            <a:extLst>
              <a:ext uri="{FF2B5EF4-FFF2-40B4-BE49-F238E27FC236}">
                <a16:creationId xmlns:a16="http://schemas.microsoft.com/office/drawing/2014/main" id="{B7632870-0C76-D050-3412-48441FAD9389}"/>
              </a:ext>
            </a:extLst>
          </p:cNvPr>
          <p:cNvSpPr txBox="1"/>
          <p:nvPr/>
        </p:nvSpPr>
        <p:spPr>
          <a:xfrm>
            <a:off x="202031" y="1694586"/>
            <a:ext cx="3936562" cy="1754326"/>
          </a:xfrm>
          <a:prstGeom prst="rect">
            <a:avLst/>
          </a:prstGeom>
          <a:noFill/>
        </p:spPr>
        <p:txBody>
          <a:bodyPr wrap="square" rtlCol="0">
            <a:spAutoFit/>
          </a:bodyPr>
          <a:lstStyle/>
          <a:p>
            <a:r>
              <a:rPr lang="en-GB" noProof="0"/>
              <a:t>At the start of March…</a:t>
            </a:r>
            <a:br>
              <a:rPr lang="en-GB" noProof="0"/>
            </a:br>
            <a:r>
              <a:rPr lang="en-GB" noProof="0"/>
              <a:t>I finalised this system architecture diagram so we had a shared technical structure to build from.</a:t>
            </a:r>
            <a:br>
              <a:rPr lang="en-GB" noProof="0"/>
            </a:br>
            <a:endParaRPr lang="en-GB" noProof="0"/>
          </a:p>
          <a:p>
            <a:r>
              <a:rPr lang="en-GB" noProof="0"/>
              <a:t>This is the system architecture diagram!</a:t>
            </a:r>
          </a:p>
        </p:txBody>
      </p:sp>
      <p:sp>
        <p:nvSpPr>
          <p:cNvPr id="8" name="Oval 7">
            <a:extLst>
              <a:ext uri="{FF2B5EF4-FFF2-40B4-BE49-F238E27FC236}">
                <a16:creationId xmlns:a16="http://schemas.microsoft.com/office/drawing/2014/main" id="{2BE5A1B3-3740-B26B-5A12-D30052207D4D}"/>
              </a:ext>
            </a:extLst>
          </p:cNvPr>
          <p:cNvSpPr/>
          <p:nvPr/>
        </p:nvSpPr>
        <p:spPr>
          <a:xfrm>
            <a:off x="6177017" y="1773382"/>
            <a:ext cx="2570018" cy="326274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0" name="Picture 9">
            <a:extLst>
              <a:ext uri="{FF2B5EF4-FFF2-40B4-BE49-F238E27FC236}">
                <a16:creationId xmlns:a16="http://schemas.microsoft.com/office/drawing/2014/main" id="{48447968-7D42-A90C-9DBC-9312019190CF}"/>
              </a:ext>
            </a:extLst>
          </p:cNvPr>
          <p:cNvPicPr>
            <a:picLocks noChangeAspect="1"/>
          </p:cNvPicPr>
          <p:nvPr/>
        </p:nvPicPr>
        <p:blipFill>
          <a:blip r:embed="rId4"/>
          <a:stretch>
            <a:fillRect/>
          </a:stretch>
        </p:blipFill>
        <p:spPr>
          <a:xfrm>
            <a:off x="4737967" y="12883"/>
            <a:ext cx="3169349" cy="5130617"/>
          </a:xfrm>
          <a:prstGeom prst="rect">
            <a:avLst/>
          </a:prstGeom>
        </p:spPr>
      </p:pic>
      <p:sp>
        <p:nvSpPr>
          <p:cNvPr id="11" name="TextBox 10">
            <a:extLst>
              <a:ext uri="{FF2B5EF4-FFF2-40B4-BE49-F238E27FC236}">
                <a16:creationId xmlns:a16="http://schemas.microsoft.com/office/drawing/2014/main" id="{D0C8CB28-BB43-0ACE-3B7B-90F7E187165D}"/>
              </a:ext>
            </a:extLst>
          </p:cNvPr>
          <p:cNvSpPr txBox="1"/>
          <p:nvPr/>
        </p:nvSpPr>
        <p:spPr>
          <a:xfrm>
            <a:off x="1358273" y="349395"/>
            <a:ext cx="2903744" cy="369332"/>
          </a:xfrm>
          <a:prstGeom prst="rect">
            <a:avLst/>
          </a:prstGeom>
          <a:noFill/>
        </p:spPr>
        <p:txBody>
          <a:bodyPr wrap="none" rtlCol="0">
            <a:spAutoFit/>
          </a:bodyPr>
          <a:lstStyle/>
          <a:p>
            <a:r>
              <a:rPr lang="en-GB" noProof="0"/>
              <a:t>System Architecture Diagram</a:t>
            </a:r>
          </a:p>
        </p:txBody>
      </p:sp>
      <p:sp>
        <p:nvSpPr>
          <p:cNvPr id="13" name="Shape 18">
            <a:extLst>
              <a:ext uri="{FF2B5EF4-FFF2-40B4-BE49-F238E27FC236}">
                <a16:creationId xmlns:a16="http://schemas.microsoft.com/office/drawing/2014/main" id="{F25E4E6D-3029-7DCC-B7C5-F158D01A8DF2}"/>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272259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E26A9-A5B6-A197-B5FA-D902985588C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A3679CD-FA82-6DD5-E43C-B171B3E3B104}"/>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pic>
        <p:nvPicPr>
          <p:cNvPr id="9" name="Picture 8">
            <a:extLst>
              <a:ext uri="{FF2B5EF4-FFF2-40B4-BE49-F238E27FC236}">
                <a16:creationId xmlns:a16="http://schemas.microsoft.com/office/drawing/2014/main" id="{6F7966E6-2F14-E83A-37AA-5972979AA56A}"/>
              </a:ext>
            </a:extLst>
          </p:cNvPr>
          <p:cNvPicPr>
            <a:picLocks noChangeAspect="1"/>
          </p:cNvPicPr>
          <p:nvPr/>
        </p:nvPicPr>
        <p:blipFill>
          <a:blip r:embed="rId4"/>
          <a:stretch>
            <a:fillRect/>
          </a:stretch>
        </p:blipFill>
        <p:spPr>
          <a:xfrm>
            <a:off x="3528818" y="1836909"/>
            <a:ext cx="5472023" cy="1841890"/>
          </a:xfrm>
          <a:prstGeom prst="rect">
            <a:avLst/>
          </a:prstGeom>
        </p:spPr>
      </p:pic>
      <p:sp>
        <p:nvSpPr>
          <p:cNvPr id="10" name="TextBox 9">
            <a:extLst>
              <a:ext uri="{FF2B5EF4-FFF2-40B4-BE49-F238E27FC236}">
                <a16:creationId xmlns:a16="http://schemas.microsoft.com/office/drawing/2014/main" id="{5551E019-79B5-4957-F95E-97A6D90EE325}"/>
              </a:ext>
            </a:extLst>
          </p:cNvPr>
          <p:cNvSpPr txBox="1"/>
          <p:nvPr/>
        </p:nvSpPr>
        <p:spPr>
          <a:xfrm>
            <a:off x="143159" y="1250950"/>
            <a:ext cx="3385659" cy="3293209"/>
          </a:xfrm>
          <a:prstGeom prst="rect">
            <a:avLst/>
          </a:prstGeom>
          <a:noFill/>
        </p:spPr>
        <p:txBody>
          <a:bodyPr wrap="square" rtlCol="0">
            <a:spAutoFit/>
          </a:bodyPr>
          <a:lstStyle/>
          <a:p>
            <a:r>
              <a:rPr lang="en-GB" sz="1600"/>
              <a:t>The frontend sends one JSON request to /calculate after the questionnaire is complete.</a:t>
            </a:r>
          </a:p>
          <a:p>
            <a:br>
              <a:rPr lang="en-GB" sz="1600"/>
            </a:br>
            <a:r>
              <a:rPr lang="en-GB" sz="1600"/>
              <a:t>The request contains the user’s investment amount, horizon in months, risk score, category choices and dividend reinvestment choice.</a:t>
            </a:r>
          </a:p>
          <a:p>
            <a:br>
              <a:rPr lang="en-GB" sz="1600"/>
            </a:br>
            <a:r>
              <a:rPr lang="en-GB" sz="1600"/>
              <a:t>This fixed request shape meant the frontend and backend could be built separately but still connect reliably.</a:t>
            </a:r>
          </a:p>
          <a:p>
            <a:endParaRPr lang="en-GB" sz="1600"/>
          </a:p>
        </p:txBody>
      </p:sp>
      <p:sp>
        <p:nvSpPr>
          <p:cNvPr id="11" name="TextBox 10">
            <a:extLst>
              <a:ext uri="{FF2B5EF4-FFF2-40B4-BE49-F238E27FC236}">
                <a16:creationId xmlns:a16="http://schemas.microsoft.com/office/drawing/2014/main" id="{BE8FC46E-E10F-0011-F5E1-BDC42764B840}"/>
              </a:ext>
            </a:extLst>
          </p:cNvPr>
          <p:cNvSpPr txBox="1"/>
          <p:nvPr/>
        </p:nvSpPr>
        <p:spPr>
          <a:xfrm>
            <a:off x="1562100" y="419100"/>
            <a:ext cx="2191754" cy="369332"/>
          </a:xfrm>
          <a:prstGeom prst="rect">
            <a:avLst/>
          </a:prstGeom>
          <a:noFill/>
        </p:spPr>
        <p:txBody>
          <a:bodyPr wrap="none" rtlCol="0">
            <a:spAutoFit/>
          </a:bodyPr>
          <a:lstStyle/>
          <a:p>
            <a:r>
              <a:rPr lang="en-GB"/>
              <a:t>Backend API Contract</a:t>
            </a:r>
          </a:p>
        </p:txBody>
      </p:sp>
      <p:sp>
        <p:nvSpPr>
          <p:cNvPr id="14" name="Shape 18">
            <a:extLst>
              <a:ext uri="{FF2B5EF4-FFF2-40B4-BE49-F238E27FC236}">
                <a16:creationId xmlns:a16="http://schemas.microsoft.com/office/drawing/2014/main" id="{17F94367-4EA8-3A91-A696-5483525931B7}"/>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3094502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10272-773A-DA72-2BAD-26D3FA33878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F4F44C1-D4F1-A5D9-35FA-5B3321E026B3}"/>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10" name="TextBox 9">
            <a:extLst>
              <a:ext uri="{FF2B5EF4-FFF2-40B4-BE49-F238E27FC236}">
                <a16:creationId xmlns:a16="http://schemas.microsoft.com/office/drawing/2014/main" id="{46C86D04-D3F8-8BE8-8144-9A25811E73A6}"/>
              </a:ext>
            </a:extLst>
          </p:cNvPr>
          <p:cNvSpPr txBox="1"/>
          <p:nvPr/>
        </p:nvSpPr>
        <p:spPr>
          <a:xfrm>
            <a:off x="120650" y="871266"/>
            <a:ext cx="3924300" cy="3539430"/>
          </a:xfrm>
          <a:prstGeom prst="rect">
            <a:avLst/>
          </a:prstGeom>
          <a:noFill/>
        </p:spPr>
        <p:txBody>
          <a:bodyPr wrap="square" rtlCol="0">
            <a:spAutoFit/>
          </a:bodyPr>
          <a:lstStyle/>
          <a:p>
            <a:r>
              <a:rPr lang="en-GB" sz="1600"/>
              <a:t>Before the model runs, the backend checks that the frontend request is usable.</a:t>
            </a:r>
          </a:p>
          <a:p>
            <a:endParaRPr lang="en-GB" sz="1600"/>
          </a:p>
          <a:p>
            <a:r>
              <a:rPr lang="en-GB" sz="1600"/>
              <a:t>Validation checks:</a:t>
            </a:r>
          </a:p>
          <a:p>
            <a:r>
              <a:rPr lang="en-GB" sz="1600"/>
              <a:t>• amount is present and positive</a:t>
            </a:r>
          </a:p>
          <a:p>
            <a:r>
              <a:rPr lang="en-GB" sz="1600"/>
              <a:t>• horizon is a valid month count</a:t>
            </a:r>
          </a:p>
          <a:p>
            <a:r>
              <a:rPr lang="en-GB" sz="1600"/>
              <a:t>• risk score is within the 0-10 range</a:t>
            </a:r>
          </a:p>
          <a:p>
            <a:r>
              <a:rPr lang="en-GB" sz="1600"/>
              <a:t>• selected and excluded categories use allowed names</a:t>
            </a:r>
          </a:p>
          <a:p>
            <a:r>
              <a:rPr lang="en-GB" sz="1600"/>
              <a:t>• the same category cannot be both selected and excluded</a:t>
            </a:r>
          </a:p>
          <a:p>
            <a:endParaRPr lang="en-GB" sz="1600"/>
          </a:p>
          <a:p>
            <a:r>
              <a:rPr lang="en-GB" sz="1600"/>
              <a:t>Valid requests are normalised before being passed into the model.</a:t>
            </a:r>
          </a:p>
        </p:txBody>
      </p:sp>
      <p:sp>
        <p:nvSpPr>
          <p:cNvPr id="11" name="TextBox 10">
            <a:extLst>
              <a:ext uri="{FF2B5EF4-FFF2-40B4-BE49-F238E27FC236}">
                <a16:creationId xmlns:a16="http://schemas.microsoft.com/office/drawing/2014/main" id="{8CCA4D62-D50A-4B4F-D298-7C15796846E2}"/>
              </a:ext>
            </a:extLst>
          </p:cNvPr>
          <p:cNvSpPr txBox="1"/>
          <p:nvPr/>
        </p:nvSpPr>
        <p:spPr>
          <a:xfrm>
            <a:off x="1562100" y="419100"/>
            <a:ext cx="1936043" cy="369332"/>
          </a:xfrm>
          <a:prstGeom prst="rect">
            <a:avLst/>
          </a:prstGeom>
          <a:noFill/>
        </p:spPr>
        <p:txBody>
          <a:bodyPr wrap="none" rtlCol="0">
            <a:spAutoFit/>
          </a:bodyPr>
          <a:lstStyle/>
          <a:p>
            <a:r>
              <a:rPr lang="en-GB"/>
              <a:t>Request Validation</a:t>
            </a:r>
          </a:p>
        </p:txBody>
      </p:sp>
      <p:graphicFrame>
        <p:nvGraphicFramePr>
          <p:cNvPr id="3" name="Diagram 2">
            <a:extLst>
              <a:ext uri="{FF2B5EF4-FFF2-40B4-BE49-F238E27FC236}">
                <a16:creationId xmlns:a16="http://schemas.microsoft.com/office/drawing/2014/main" id="{33CC51CF-DCC4-A6B0-A7B7-7E999D60BFC2}"/>
              </a:ext>
            </a:extLst>
          </p:cNvPr>
          <p:cNvGraphicFramePr/>
          <p:nvPr>
            <p:extLst>
              <p:ext uri="{D42A27DB-BD31-4B8C-83A1-F6EECF244321}">
                <p14:modId xmlns:p14="http://schemas.microsoft.com/office/powerpoint/2010/main" val="703508076"/>
              </p:ext>
            </p:extLst>
          </p:nvPr>
        </p:nvGraphicFramePr>
        <p:xfrm>
          <a:off x="3498143" y="788432"/>
          <a:ext cx="5353050" cy="36946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hape 18">
            <a:extLst>
              <a:ext uri="{FF2B5EF4-FFF2-40B4-BE49-F238E27FC236}">
                <a16:creationId xmlns:a16="http://schemas.microsoft.com/office/drawing/2014/main" id="{0C5B4C66-A9AD-3925-4C00-3E265AB45B84}"/>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2143366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8D0A-D56E-98FB-D950-CBF5580575A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2A5125F-6802-47E2-334D-AB76749CF483}"/>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10" name="TextBox 9">
            <a:extLst>
              <a:ext uri="{FF2B5EF4-FFF2-40B4-BE49-F238E27FC236}">
                <a16:creationId xmlns:a16="http://schemas.microsoft.com/office/drawing/2014/main" id="{0157A923-7EDF-3B58-4F83-98DBD11E1676}"/>
              </a:ext>
            </a:extLst>
          </p:cNvPr>
          <p:cNvSpPr txBox="1"/>
          <p:nvPr/>
        </p:nvSpPr>
        <p:spPr>
          <a:xfrm>
            <a:off x="188465" y="994377"/>
            <a:ext cx="3924300" cy="3539430"/>
          </a:xfrm>
          <a:prstGeom prst="rect">
            <a:avLst/>
          </a:prstGeom>
          <a:noFill/>
        </p:spPr>
        <p:txBody>
          <a:bodyPr wrap="square" rtlCol="0">
            <a:spAutoFit/>
          </a:bodyPr>
          <a:lstStyle/>
          <a:p>
            <a:r>
              <a:rPr lang="en-GB" sz="1600"/>
              <a:t>Tom’s notebook contained the core portfolio model.</a:t>
            </a:r>
          </a:p>
          <a:p>
            <a:endParaRPr lang="en-GB" sz="1600"/>
          </a:p>
          <a:p>
            <a:r>
              <a:rPr lang="en-GB" sz="1600"/>
              <a:t>My backend work was to connect that model into the Flask flow so it could be called from the web app.</a:t>
            </a:r>
          </a:p>
          <a:p>
            <a:endParaRPr lang="en-GB" sz="1600"/>
          </a:p>
          <a:p>
            <a:r>
              <a:rPr lang="en-GB" sz="1600"/>
              <a:t>After validation, the cleaned request is passed into the portfolio algorithm.</a:t>
            </a:r>
          </a:p>
          <a:p>
            <a:endParaRPr lang="en-GB" sz="1600"/>
          </a:p>
          <a:p>
            <a:r>
              <a:rPr lang="en-GB" sz="1600"/>
              <a:t>The backend then carries through:</a:t>
            </a:r>
          </a:p>
          <a:p>
            <a:r>
              <a:rPr lang="en-GB" sz="1600"/>
              <a:t>• optimised allocation weights</a:t>
            </a:r>
          </a:p>
          <a:p>
            <a:r>
              <a:rPr lang="en-GB" sz="1600"/>
              <a:t>• Monte Carlo projection values</a:t>
            </a:r>
          </a:p>
          <a:p>
            <a:r>
              <a:rPr lang="en-GB" sz="1600"/>
              <a:t>• chart data for the frontend</a:t>
            </a:r>
          </a:p>
        </p:txBody>
      </p:sp>
      <p:sp>
        <p:nvSpPr>
          <p:cNvPr id="11" name="TextBox 10">
            <a:extLst>
              <a:ext uri="{FF2B5EF4-FFF2-40B4-BE49-F238E27FC236}">
                <a16:creationId xmlns:a16="http://schemas.microsoft.com/office/drawing/2014/main" id="{5FDB28A9-C02A-C909-7A9B-32E6BF662326}"/>
              </a:ext>
            </a:extLst>
          </p:cNvPr>
          <p:cNvSpPr txBox="1"/>
          <p:nvPr/>
        </p:nvSpPr>
        <p:spPr>
          <a:xfrm>
            <a:off x="1562100" y="419100"/>
            <a:ext cx="1936043" cy="369332"/>
          </a:xfrm>
          <a:prstGeom prst="rect">
            <a:avLst/>
          </a:prstGeom>
          <a:noFill/>
        </p:spPr>
        <p:txBody>
          <a:bodyPr wrap="none" rtlCol="0">
            <a:spAutoFit/>
          </a:bodyPr>
          <a:lstStyle/>
          <a:p>
            <a:r>
              <a:rPr lang="en-GB"/>
              <a:t>Model Integration</a:t>
            </a:r>
          </a:p>
        </p:txBody>
      </p:sp>
      <p:graphicFrame>
        <p:nvGraphicFramePr>
          <p:cNvPr id="5" name="Diagram 4">
            <a:extLst>
              <a:ext uri="{FF2B5EF4-FFF2-40B4-BE49-F238E27FC236}">
                <a16:creationId xmlns:a16="http://schemas.microsoft.com/office/drawing/2014/main" id="{10446E3E-7D6E-FF62-DBDE-D0FADAEB98AE}"/>
              </a:ext>
            </a:extLst>
          </p:cNvPr>
          <p:cNvGraphicFramePr/>
          <p:nvPr>
            <p:extLst>
              <p:ext uri="{D42A27DB-BD31-4B8C-83A1-F6EECF244321}">
                <p14:modId xmlns:p14="http://schemas.microsoft.com/office/powerpoint/2010/main" val="3088707520"/>
              </p:ext>
            </p:extLst>
          </p:nvPr>
        </p:nvGraphicFramePr>
        <p:xfrm>
          <a:off x="3297080" y="732092"/>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hape 18">
            <a:extLst>
              <a:ext uri="{FF2B5EF4-FFF2-40B4-BE49-F238E27FC236}">
                <a16:creationId xmlns:a16="http://schemas.microsoft.com/office/drawing/2014/main" id="{CB0835A3-74C9-899A-B54F-5F76B8C1E6D0}"/>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1187116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7D26-2D83-07B2-C437-53621B4CB7B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26B7DEF-07CF-82D9-1CFE-8C73870D7025}"/>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10" name="TextBox 9">
            <a:extLst>
              <a:ext uri="{FF2B5EF4-FFF2-40B4-BE49-F238E27FC236}">
                <a16:creationId xmlns:a16="http://schemas.microsoft.com/office/drawing/2014/main" id="{9C9D3367-33D1-7842-819A-5F0C4C2E7909}"/>
              </a:ext>
            </a:extLst>
          </p:cNvPr>
          <p:cNvSpPr txBox="1"/>
          <p:nvPr/>
        </p:nvSpPr>
        <p:spPr>
          <a:xfrm>
            <a:off x="188465" y="1368477"/>
            <a:ext cx="3924300" cy="3046988"/>
          </a:xfrm>
          <a:prstGeom prst="rect">
            <a:avLst/>
          </a:prstGeom>
          <a:noFill/>
        </p:spPr>
        <p:txBody>
          <a:bodyPr wrap="square" rtlCol="0">
            <a:spAutoFit/>
          </a:bodyPr>
          <a:lstStyle/>
          <a:p>
            <a:r>
              <a:rPr lang="en-GB" sz="1600"/>
              <a:t>After the model runs, the backend packages the result into one JSON response.</a:t>
            </a:r>
          </a:p>
          <a:p>
            <a:endParaRPr lang="en-GB" sz="1600"/>
          </a:p>
          <a:p>
            <a:r>
              <a:rPr lang="en-GB" sz="1600"/>
              <a:t>The response includes:</a:t>
            </a:r>
          </a:p>
          <a:p>
            <a:r>
              <a:rPr lang="en-GB" sz="1600"/>
              <a:t>• portfolio allocation rows</a:t>
            </a:r>
          </a:p>
          <a:p>
            <a:r>
              <a:rPr lang="en-GB" sz="1600"/>
              <a:t>• summary metrics and Monte Carlo values</a:t>
            </a:r>
          </a:p>
          <a:p>
            <a:r>
              <a:rPr lang="en-GB" sz="1600"/>
              <a:t>• explanation text</a:t>
            </a:r>
          </a:p>
          <a:p>
            <a:r>
              <a:rPr lang="en-GB" sz="1600"/>
              <a:t>• Plotly chart HTML in </a:t>
            </a:r>
            <a:r>
              <a:rPr lang="en-GB" sz="1600" err="1"/>
              <a:t>chart_refs</a:t>
            </a:r>
            <a:endParaRPr lang="en-GB" sz="1600"/>
          </a:p>
          <a:p>
            <a:endParaRPr lang="en-GB" sz="1600"/>
          </a:p>
          <a:p>
            <a:r>
              <a:rPr lang="en-GB" sz="1600"/>
              <a:t>This means the frontend can render the results page without running any model logic itself.</a:t>
            </a:r>
          </a:p>
        </p:txBody>
      </p:sp>
      <p:sp>
        <p:nvSpPr>
          <p:cNvPr id="11" name="TextBox 10">
            <a:extLst>
              <a:ext uri="{FF2B5EF4-FFF2-40B4-BE49-F238E27FC236}">
                <a16:creationId xmlns:a16="http://schemas.microsoft.com/office/drawing/2014/main" id="{DACCE2B0-1DCF-E376-F8E1-3079FC63D113}"/>
              </a:ext>
            </a:extLst>
          </p:cNvPr>
          <p:cNvSpPr txBox="1"/>
          <p:nvPr/>
        </p:nvSpPr>
        <p:spPr>
          <a:xfrm>
            <a:off x="1538853" y="400450"/>
            <a:ext cx="3351559" cy="369332"/>
          </a:xfrm>
          <a:prstGeom prst="rect">
            <a:avLst/>
          </a:prstGeom>
          <a:noFill/>
        </p:spPr>
        <p:txBody>
          <a:bodyPr wrap="square" rtlCol="0">
            <a:spAutoFit/>
          </a:bodyPr>
          <a:lstStyle/>
          <a:p>
            <a:r>
              <a:rPr lang="en-GB"/>
              <a:t>Returning Results to the Frontend</a:t>
            </a:r>
          </a:p>
        </p:txBody>
      </p:sp>
      <p:pic>
        <p:nvPicPr>
          <p:cNvPr id="6" name="Picture 5">
            <a:extLst>
              <a:ext uri="{FF2B5EF4-FFF2-40B4-BE49-F238E27FC236}">
                <a16:creationId xmlns:a16="http://schemas.microsoft.com/office/drawing/2014/main" id="{92DA1FF8-8403-D989-C21E-7FB9E63F541C}"/>
              </a:ext>
            </a:extLst>
          </p:cNvPr>
          <p:cNvPicPr>
            <a:picLocks noChangeAspect="1"/>
          </p:cNvPicPr>
          <p:nvPr/>
        </p:nvPicPr>
        <p:blipFill>
          <a:blip r:embed="rId4"/>
          <a:stretch>
            <a:fillRect/>
          </a:stretch>
        </p:blipFill>
        <p:spPr>
          <a:xfrm>
            <a:off x="3035348" y="3036778"/>
            <a:ext cx="5920187" cy="483939"/>
          </a:xfrm>
          <a:prstGeom prst="rect">
            <a:avLst/>
          </a:prstGeom>
        </p:spPr>
      </p:pic>
      <p:pic>
        <p:nvPicPr>
          <p:cNvPr id="12" name="Picture 11">
            <a:extLst>
              <a:ext uri="{FF2B5EF4-FFF2-40B4-BE49-F238E27FC236}">
                <a16:creationId xmlns:a16="http://schemas.microsoft.com/office/drawing/2014/main" id="{F56FF685-D920-9D23-C95B-EABF08CD6760}"/>
              </a:ext>
            </a:extLst>
          </p:cNvPr>
          <p:cNvPicPr>
            <a:picLocks noChangeAspect="1"/>
          </p:cNvPicPr>
          <p:nvPr/>
        </p:nvPicPr>
        <p:blipFill>
          <a:blip r:embed="rId5"/>
          <a:stretch>
            <a:fillRect/>
          </a:stretch>
        </p:blipFill>
        <p:spPr>
          <a:xfrm>
            <a:off x="1821478" y="4075673"/>
            <a:ext cx="7002482" cy="1067827"/>
          </a:xfrm>
          <a:prstGeom prst="rect">
            <a:avLst/>
          </a:prstGeom>
        </p:spPr>
      </p:pic>
      <p:pic>
        <p:nvPicPr>
          <p:cNvPr id="16" name="Picture 15">
            <a:extLst>
              <a:ext uri="{FF2B5EF4-FFF2-40B4-BE49-F238E27FC236}">
                <a16:creationId xmlns:a16="http://schemas.microsoft.com/office/drawing/2014/main" id="{6D99CDBE-2082-9DF0-B173-5CDCFC0B4E24}"/>
              </a:ext>
            </a:extLst>
          </p:cNvPr>
          <p:cNvPicPr>
            <a:picLocks noChangeAspect="1"/>
          </p:cNvPicPr>
          <p:nvPr/>
        </p:nvPicPr>
        <p:blipFill>
          <a:blip r:embed="rId6"/>
          <a:stretch>
            <a:fillRect/>
          </a:stretch>
        </p:blipFill>
        <p:spPr>
          <a:xfrm>
            <a:off x="5128858" y="-1"/>
            <a:ext cx="2775278" cy="3036779"/>
          </a:xfrm>
          <a:prstGeom prst="rect">
            <a:avLst/>
          </a:prstGeom>
        </p:spPr>
      </p:pic>
      <p:sp>
        <p:nvSpPr>
          <p:cNvPr id="20" name="Shape 18">
            <a:extLst>
              <a:ext uri="{FF2B5EF4-FFF2-40B4-BE49-F238E27FC236}">
                <a16:creationId xmlns:a16="http://schemas.microsoft.com/office/drawing/2014/main" id="{6372DD7B-D92D-AA44-4A8D-C7C5F39C9DBC}"/>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spTree>
    <p:extLst>
      <p:ext uri="{BB962C8B-B14F-4D97-AF65-F5344CB8AC3E}">
        <p14:creationId xmlns:p14="http://schemas.microsoft.com/office/powerpoint/2010/main" val="3924446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052C6-415D-BF2C-E540-9004B7CDA38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E5484DD-FC92-509E-33C4-F00F3B5340C2}"/>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7" name="Text 2">
            <a:extLst>
              <a:ext uri="{FF2B5EF4-FFF2-40B4-BE49-F238E27FC236}">
                <a16:creationId xmlns:a16="http://schemas.microsoft.com/office/drawing/2014/main" id="{00664A2F-DC2D-C456-1E75-A3F2B253EA98}"/>
              </a:ext>
            </a:extLst>
          </p:cNvPr>
          <p:cNvSpPr/>
          <p:nvPr/>
        </p:nvSpPr>
        <p:spPr>
          <a:xfrm>
            <a:off x="1464324" y="155816"/>
            <a:ext cx="6739518" cy="756490"/>
          </a:xfrm>
          <a:prstGeom prst="rect">
            <a:avLst/>
          </a:prstGeom>
          <a:noFill/>
          <a:ln/>
        </p:spPr>
        <p:txBody>
          <a:bodyPr wrap="square" lIns="0" tIns="0" rIns="0" bIns="0" rtlCol="0" anchor="ctr"/>
          <a:lstStyle/>
          <a:p>
            <a:r>
              <a:rPr lang="en-GB" sz="3000" b="1" noProof="0">
                <a:solidFill>
                  <a:srgbClr val="1E2761"/>
                </a:solidFill>
                <a:ea typeface="Calibri"/>
                <a:cs typeface="Calibri"/>
              </a:rPr>
              <a:t>Front end flow diagram – for main version</a:t>
            </a:r>
          </a:p>
        </p:txBody>
      </p:sp>
      <p:sp>
        <p:nvSpPr>
          <p:cNvPr id="61" name="Shape 18">
            <a:extLst>
              <a:ext uri="{FF2B5EF4-FFF2-40B4-BE49-F238E27FC236}">
                <a16:creationId xmlns:a16="http://schemas.microsoft.com/office/drawing/2014/main" id="{2F47BF73-0DA3-E286-D128-42367E592F98}"/>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pic>
        <p:nvPicPr>
          <p:cNvPr id="120" name="Picture 119">
            <a:extLst>
              <a:ext uri="{FF2B5EF4-FFF2-40B4-BE49-F238E27FC236}">
                <a16:creationId xmlns:a16="http://schemas.microsoft.com/office/drawing/2014/main" id="{CB52F672-F8F2-4D42-4D92-25E2325F7D3D}"/>
              </a:ext>
            </a:extLst>
          </p:cNvPr>
          <p:cNvPicPr>
            <a:picLocks noChangeAspect="1"/>
          </p:cNvPicPr>
          <p:nvPr/>
        </p:nvPicPr>
        <p:blipFill>
          <a:blip r:embed="rId4"/>
          <a:stretch>
            <a:fillRect/>
          </a:stretch>
        </p:blipFill>
        <p:spPr>
          <a:xfrm>
            <a:off x="188465" y="1478655"/>
            <a:ext cx="8546920" cy="2997091"/>
          </a:xfrm>
          <a:prstGeom prst="rect">
            <a:avLst/>
          </a:prstGeom>
        </p:spPr>
      </p:pic>
    </p:spTree>
    <p:extLst>
      <p:ext uri="{BB962C8B-B14F-4D97-AF65-F5344CB8AC3E}">
        <p14:creationId xmlns:p14="http://schemas.microsoft.com/office/powerpoint/2010/main" val="3034844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07437-3F60-876A-1C5E-78DE8891874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0E7A382-FFC6-EE6F-AE92-4869AB0B435C}"/>
              </a:ext>
            </a:extLst>
          </p:cNvPr>
          <p:cNvPicPr>
            <a:picLocks noChangeAspect="1"/>
          </p:cNvPicPr>
          <p:nvPr/>
        </p:nvPicPr>
        <p:blipFill>
          <a:blip r:embed="rId2"/>
          <a:srcRect l="13334" t="28243" r="12642" b="31552"/>
          <a:stretch>
            <a:fillRect/>
          </a:stretch>
        </p:blipFill>
        <p:spPr>
          <a:xfrm>
            <a:off x="188465" y="251460"/>
            <a:ext cx="1156241" cy="565202"/>
          </a:xfrm>
          <a:prstGeom prst="rect">
            <a:avLst/>
          </a:prstGeom>
        </p:spPr>
      </p:pic>
      <p:sp>
        <p:nvSpPr>
          <p:cNvPr id="3" name="Text 2">
            <a:extLst>
              <a:ext uri="{FF2B5EF4-FFF2-40B4-BE49-F238E27FC236}">
                <a16:creationId xmlns:a16="http://schemas.microsoft.com/office/drawing/2014/main" id="{5793605D-5A76-3AD4-39A5-8F981BD7B902}"/>
              </a:ext>
            </a:extLst>
          </p:cNvPr>
          <p:cNvSpPr/>
          <p:nvPr/>
        </p:nvSpPr>
        <p:spPr>
          <a:xfrm>
            <a:off x="1751102" y="98077"/>
            <a:ext cx="3726712" cy="803444"/>
          </a:xfrm>
          <a:prstGeom prst="rect">
            <a:avLst/>
          </a:prstGeom>
          <a:noFill/>
          <a:ln/>
        </p:spPr>
        <p:txBody>
          <a:bodyPr wrap="square" lIns="0" tIns="0" rIns="0" bIns="0" rtlCol="0" anchor="ctr"/>
          <a:lstStyle/>
          <a:p>
            <a:r>
              <a:rPr lang="en-GB" sz="3000" b="1" noProof="0">
                <a:solidFill>
                  <a:srgbClr val="1E2761"/>
                </a:solidFill>
                <a:ea typeface="Calibri"/>
                <a:cs typeface="Calibri"/>
              </a:rPr>
              <a:t>Front end</a:t>
            </a:r>
          </a:p>
        </p:txBody>
      </p:sp>
      <p:sp>
        <p:nvSpPr>
          <p:cNvPr id="5" name="Shape 18">
            <a:extLst>
              <a:ext uri="{FF2B5EF4-FFF2-40B4-BE49-F238E27FC236}">
                <a16:creationId xmlns:a16="http://schemas.microsoft.com/office/drawing/2014/main" id="{0510E738-C78A-FDA5-7919-0F5DBB119448}"/>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pic>
        <p:nvPicPr>
          <p:cNvPr id="6" name="Picture 5" descr="A screenshot of a computer&#10;&#10;AI-generated content may be incorrect.">
            <a:extLst>
              <a:ext uri="{FF2B5EF4-FFF2-40B4-BE49-F238E27FC236}">
                <a16:creationId xmlns:a16="http://schemas.microsoft.com/office/drawing/2014/main" id="{415226A9-24AB-A0ED-BE1D-37147761E07C}"/>
              </a:ext>
            </a:extLst>
          </p:cNvPr>
          <p:cNvPicPr>
            <a:picLocks noChangeAspect="1"/>
          </p:cNvPicPr>
          <p:nvPr/>
        </p:nvPicPr>
        <p:blipFill>
          <a:blip r:embed="rId3"/>
          <a:stretch>
            <a:fillRect/>
          </a:stretch>
        </p:blipFill>
        <p:spPr>
          <a:xfrm>
            <a:off x="4062737" y="0"/>
            <a:ext cx="4771015" cy="5143500"/>
          </a:xfrm>
          <a:prstGeom prst="rect">
            <a:avLst/>
          </a:prstGeom>
        </p:spPr>
      </p:pic>
      <p:pic>
        <p:nvPicPr>
          <p:cNvPr id="8" name="Picture 7" descr="A diagram of steps to a user journey&#10;&#10;AI-generated content may be incorrect.">
            <a:extLst>
              <a:ext uri="{FF2B5EF4-FFF2-40B4-BE49-F238E27FC236}">
                <a16:creationId xmlns:a16="http://schemas.microsoft.com/office/drawing/2014/main" id="{5910A989-808A-7B14-99A9-7B9FE3DF2178}"/>
              </a:ext>
            </a:extLst>
          </p:cNvPr>
          <p:cNvPicPr>
            <a:picLocks noChangeAspect="1"/>
          </p:cNvPicPr>
          <p:nvPr/>
        </p:nvPicPr>
        <p:blipFill>
          <a:blip r:embed="rId4"/>
          <a:stretch>
            <a:fillRect/>
          </a:stretch>
        </p:blipFill>
        <p:spPr>
          <a:xfrm>
            <a:off x="311629" y="901551"/>
            <a:ext cx="3301760" cy="2014088"/>
          </a:xfrm>
          <a:prstGeom prst="rect">
            <a:avLst/>
          </a:prstGeom>
        </p:spPr>
      </p:pic>
      <p:sp>
        <p:nvSpPr>
          <p:cNvPr id="10" name="TextBox 9">
            <a:extLst>
              <a:ext uri="{FF2B5EF4-FFF2-40B4-BE49-F238E27FC236}">
                <a16:creationId xmlns:a16="http://schemas.microsoft.com/office/drawing/2014/main" id="{4F0C7108-1319-F4DD-5531-B311C54A5873}"/>
              </a:ext>
            </a:extLst>
          </p:cNvPr>
          <p:cNvSpPr txBox="1"/>
          <p:nvPr/>
        </p:nvSpPr>
        <p:spPr>
          <a:xfrm>
            <a:off x="86264" y="3067769"/>
            <a:ext cx="406519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i="0" cap="all">
                <a:solidFill>
                  <a:srgbClr val="1E2761"/>
                </a:solidFill>
                <a:latin typeface="Calibri"/>
                <a:ea typeface="Calibri"/>
                <a:cs typeface="Calibri"/>
              </a:rPr>
              <a:t>Key </a:t>
            </a:r>
            <a:r>
              <a:rPr lang="en-GB" sz="1400" cap="all">
                <a:solidFill>
                  <a:srgbClr val="1E2761"/>
                </a:solidFill>
                <a:latin typeface="Calibri"/>
                <a:ea typeface="Calibri"/>
                <a:cs typeface="Calibri"/>
              </a:rPr>
              <a:t>frontend </a:t>
            </a:r>
            <a:r>
              <a:rPr lang="en-GB" sz="1400" cap="all" err="1">
                <a:solidFill>
                  <a:srgbClr val="1E2761"/>
                </a:solidFill>
                <a:latin typeface="Calibri"/>
                <a:ea typeface="Calibri"/>
                <a:cs typeface="Calibri"/>
              </a:rPr>
              <a:t>quali</a:t>
            </a:r>
            <a:r>
              <a:rPr lang="en-GB" sz="1400" cap="all">
                <a:solidFill>
                  <a:srgbClr val="1E2761"/>
                </a:solidFill>
                <a:latin typeface="Calibri"/>
                <a:ea typeface="Calibri"/>
                <a:cs typeface="Calibri"/>
              </a:rPr>
              <a:t>ties</a:t>
            </a:r>
            <a:endParaRPr lang="en-GB" sz="1400" cap="all" err="1">
              <a:solidFill>
                <a:srgbClr val="1E2761"/>
              </a:solidFill>
              <a:ea typeface="Calibri"/>
              <a:cs typeface="Calibri"/>
            </a:endParaRPr>
          </a:p>
          <a:p>
            <a:pPr marL="285750" indent="-285750">
              <a:buFont typeface="Arial"/>
              <a:buChar char="•"/>
            </a:pPr>
            <a:r>
              <a:rPr lang="en-US" sz="1400">
                <a:solidFill>
                  <a:srgbClr val="000000"/>
                </a:solidFill>
                <a:ea typeface="+mn-lt"/>
                <a:cs typeface="+mn-lt"/>
              </a:rPr>
              <a:t>Focused experience </a:t>
            </a:r>
            <a:r>
              <a:rPr lang="en-US" sz="1400" b="0" i="0">
                <a:solidFill>
                  <a:srgbClr val="000000"/>
                </a:solidFill>
                <a:latin typeface="Calibri"/>
                <a:ea typeface="Calibri"/>
                <a:cs typeface="Calibri"/>
              </a:rPr>
              <a:t> — no account needed, jump straight into the wizard</a:t>
            </a:r>
          </a:p>
          <a:p>
            <a:pPr marL="285750" indent="-285750">
              <a:buFont typeface="Arial"/>
              <a:buChar char="•"/>
            </a:pPr>
            <a:r>
              <a:rPr lang="en-US" sz="1400" b="0" i="0">
                <a:solidFill>
                  <a:srgbClr val="000000"/>
                </a:solidFill>
                <a:latin typeface="Calibri"/>
                <a:ea typeface="Calibri"/>
                <a:cs typeface="Calibri"/>
              </a:rPr>
              <a:t>Transparent style — dark UI with clear data, no hidden steps</a:t>
            </a:r>
          </a:p>
          <a:p>
            <a:pPr marL="285750" indent="-285750">
              <a:buFont typeface="Arial"/>
              <a:buChar char="•"/>
            </a:pPr>
            <a:r>
              <a:rPr lang="en-US" sz="1400" b="0" i="0">
                <a:solidFill>
                  <a:srgbClr val="000000"/>
                </a:solidFill>
                <a:latin typeface="Calibri"/>
                <a:ea typeface="Calibri"/>
                <a:cs typeface="Calibri"/>
              </a:rPr>
              <a:t>Fully responsive — works on mobile, tablet, and desktop</a:t>
            </a:r>
          </a:p>
          <a:p>
            <a:pPr marL="285750" indent="-285750">
              <a:buFont typeface="Arial"/>
              <a:buChar char="•"/>
            </a:pPr>
            <a:r>
              <a:rPr lang="en-US" sz="1400" b="0" i="0">
                <a:solidFill>
                  <a:srgbClr val="000000"/>
                </a:solidFill>
                <a:latin typeface="Calibri"/>
                <a:ea typeface="Calibri"/>
                <a:cs typeface="Calibri"/>
              </a:rPr>
              <a:t>No login barrier — portfolio appears immediately after completing the flow</a:t>
            </a:r>
          </a:p>
          <a:p>
            <a:pPr algn="ctr"/>
            <a:endParaRPr lang="en-US" sz="1400">
              <a:ea typeface="Calibri"/>
              <a:cs typeface="Calibri"/>
            </a:endParaRPr>
          </a:p>
        </p:txBody>
      </p:sp>
    </p:spTree>
    <p:extLst>
      <p:ext uri="{BB962C8B-B14F-4D97-AF65-F5344CB8AC3E}">
        <p14:creationId xmlns:p14="http://schemas.microsoft.com/office/powerpoint/2010/main" val="217169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49AF3-68C0-828D-FD97-7B60B56C1CF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436111E-8E5B-C97F-867F-39C947F96D30}"/>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5" name="Text 2">
            <a:extLst>
              <a:ext uri="{FF2B5EF4-FFF2-40B4-BE49-F238E27FC236}">
                <a16:creationId xmlns:a16="http://schemas.microsoft.com/office/drawing/2014/main" id="{5541F8D8-7165-B3CA-15C0-2C219CF57046}"/>
              </a:ext>
            </a:extLst>
          </p:cNvPr>
          <p:cNvSpPr/>
          <p:nvPr/>
        </p:nvSpPr>
        <p:spPr>
          <a:xfrm>
            <a:off x="1571223" y="250252"/>
            <a:ext cx="7095328" cy="661646"/>
          </a:xfrm>
          <a:prstGeom prst="rect">
            <a:avLst/>
          </a:prstGeom>
          <a:noFill/>
          <a:ln/>
        </p:spPr>
        <p:txBody>
          <a:bodyPr wrap="square" lIns="0" tIns="0" rIns="0" bIns="0" rtlCol="0" anchor="ctr"/>
          <a:lstStyle/>
          <a:p>
            <a:r>
              <a:rPr lang="en-GB" sz="3000" b="1">
                <a:solidFill>
                  <a:srgbClr val="1E2761"/>
                </a:solidFill>
                <a:ea typeface="Calibri"/>
                <a:cs typeface="Calibri"/>
              </a:rPr>
              <a:t>Frontend Technical Stack and Development Workflow</a:t>
            </a:r>
            <a:endParaRPr lang="en-US"/>
          </a:p>
        </p:txBody>
      </p:sp>
      <p:sp>
        <p:nvSpPr>
          <p:cNvPr id="42" name="Text 3">
            <a:extLst>
              <a:ext uri="{FF2B5EF4-FFF2-40B4-BE49-F238E27FC236}">
                <a16:creationId xmlns:a16="http://schemas.microsoft.com/office/drawing/2014/main" id="{29193EB6-2BD5-D122-6913-0740BBA6844E}"/>
              </a:ext>
            </a:extLst>
          </p:cNvPr>
          <p:cNvSpPr/>
          <p:nvPr/>
        </p:nvSpPr>
        <p:spPr>
          <a:xfrm>
            <a:off x="365760" y="960120"/>
            <a:ext cx="3931920" cy="347472"/>
          </a:xfrm>
          <a:prstGeom prst="rect">
            <a:avLst/>
          </a:prstGeom>
          <a:noFill/>
          <a:ln/>
        </p:spPr>
        <p:txBody>
          <a:bodyPr wrap="square" lIns="0" tIns="0" rIns="0" bIns="0" rtlCol="0" anchor="ctr"/>
          <a:lstStyle/>
          <a:p>
            <a:pPr marL="0" indent="0">
              <a:buNone/>
            </a:pPr>
            <a:r>
              <a:rPr lang="en-GB" sz="1600" b="1" noProof="0">
                <a:solidFill>
                  <a:srgbClr val="1E2761"/>
                </a:solidFill>
                <a:latin typeface="Calibri" pitchFamily="34" charset="0"/>
                <a:ea typeface="Calibri" pitchFamily="34" charset="-122"/>
                <a:cs typeface="Calibri" pitchFamily="34" charset="-120"/>
              </a:rPr>
              <a:t>Technology Stack</a:t>
            </a:r>
            <a:endParaRPr lang="en-GB" sz="1600" noProof="0"/>
          </a:p>
        </p:txBody>
      </p:sp>
      <p:sp>
        <p:nvSpPr>
          <p:cNvPr id="43" name="Shape 4">
            <a:extLst>
              <a:ext uri="{FF2B5EF4-FFF2-40B4-BE49-F238E27FC236}">
                <a16:creationId xmlns:a16="http://schemas.microsoft.com/office/drawing/2014/main" id="{AF7F922B-0563-6C01-776A-2438B34E0F6B}"/>
              </a:ext>
            </a:extLst>
          </p:cNvPr>
          <p:cNvSpPr/>
          <p:nvPr/>
        </p:nvSpPr>
        <p:spPr>
          <a:xfrm>
            <a:off x="365760" y="1417320"/>
            <a:ext cx="3931920" cy="713232"/>
          </a:xfrm>
          <a:prstGeom prst="rect">
            <a:avLst/>
          </a:prstGeom>
          <a:solidFill>
            <a:srgbClr val="F0F4FF"/>
          </a:solidFill>
          <a:ln w="12700">
            <a:solidFill>
              <a:srgbClr val="CADCFC"/>
            </a:solidFill>
            <a:prstDash val="solid"/>
          </a:ln>
        </p:spPr>
        <p:txBody>
          <a:bodyPr/>
          <a:lstStyle/>
          <a:p>
            <a:endParaRPr lang="en-GB" noProof="0"/>
          </a:p>
        </p:txBody>
      </p:sp>
      <p:sp>
        <p:nvSpPr>
          <p:cNvPr id="45" name="Text 5">
            <a:extLst>
              <a:ext uri="{FF2B5EF4-FFF2-40B4-BE49-F238E27FC236}">
                <a16:creationId xmlns:a16="http://schemas.microsoft.com/office/drawing/2014/main" id="{B3B6F7E1-DE3C-37F3-BDE2-9DAE1572813D}"/>
              </a:ext>
            </a:extLst>
          </p:cNvPr>
          <p:cNvSpPr/>
          <p:nvPr/>
        </p:nvSpPr>
        <p:spPr>
          <a:xfrm>
            <a:off x="941142" y="1501255"/>
            <a:ext cx="3265098" cy="557956"/>
          </a:xfrm>
          <a:prstGeom prst="rect">
            <a:avLst/>
          </a:prstGeom>
          <a:noFill/>
          <a:ln/>
        </p:spPr>
        <p:txBody>
          <a:bodyPr wrap="square" lIns="0" tIns="0" rIns="0" bIns="0" rtlCol="0" anchor="ctr"/>
          <a:lstStyle/>
          <a:p>
            <a:pPr marL="0" indent="0">
              <a:buNone/>
            </a:pPr>
            <a:r>
              <a:rPr lang="en-US" sz="1400" b="0" i="0" u="none" strike="noStrike" baseline="0">
                <a:solidFill>
                  <a:srgbClr val="000000"/>
                </a:solidFill>
                <a:latin typeface="Calibri"/>
                <a:ea typeface="Segoe UI"/>
                <a:cs typeface="Segoe UI"/>
              </a:rPr>
              <a:t>Built on React 19, Vite 6, and TypeScript for an optimized, type-safe development experience.</a:t>
            </a:r>
            <a:endParaRPr lang="en-GB" sz="1400" b="1" noProof="0">
              <a:solidFill>
                <a:srgbClr val="1E2761"/>
              </a:solidFill>
              <a:ea typeface="Calibri"/>
              <a:cs typeface="Calibri"/>
            </a:endParaRPr>
          </a:p>
        </p:txBody>
      </p:sp>
      <p:sp>
        <p:nvSpPr>
          <p:cNvPr id="47" name="Shape 7">
            <a:extLst>
              <a:ext uri="{FF2B5EF4-FFF2-40B4-BE49-F238E27FC236}">
                <a16:creationId xmlns:a16="http://schemas.microsoft.com/office/drawing/2014/main" id="{2292FD67-2794-E25F-4B6D-9752E310861B}"/>
              </a:ext>
            </a:extLst>
          </p:cNvPr>
          <p:cNvSpPr/>
          <p:nvPr/>
        </p:nvSpPr>
        <p:spPr>
          <a:xfrm>
            <a:off x="365760" y="2545482"/>
            <a:ext cx="3931920" cy="713232"/>
          </a:xfrm>
          <a:prstGeom prst="rect">
            <a:avLst/>
          </a:prstGeom>
          <a:solidFill>
            <a:srgbClr val="F0F4FF"/>
          </a:solidFill>
          <a:ln w="12700">
            <a:solidFill>
              <a:srgbClr val="CADCFC"/>
            </a:solidFill>
            <a:prstDash val="solid"/>
          </a:ln>
        </p:spPr>
        <p:txBody>
          <a:bodyPr/>
          <a:lstStyle/>
          <a:p>
            <a:endParaRPr lang="en-GB" noProof="0"/>
          </a:p>
        </p:txBody>
      </p:sp>
      <p:sp>
        <p:nvSpPr>
          <p:cNvPr id="49" name="Text 8">
            <a:extLst>
              <a:ext uri="{FF2B5EF4-FFF2-40B4-BE49-F238E27FC236}">
                <a16:creationId xmlns:a16="http://schemas.microsoft.com/office/drawing/2014/main" id="{3776CB74-BF87-DC79-51C2-28B0AD69E5F7}"/>
              </a:ext>
            </a:extLst>
          </p:cNvPr>
          <p:cNvSpPr/>
          <p:nvPr/>
        </p:nvSpPr>
        <p:spPr>
          <a:xfrm>
            <a:off x="962708" y="2597068"/>
            <a:ext cx="3275881" cy="708918"/>
          </a:xfrm>
          <a:prstGeom prst="rect">
            <a:avLst/>
          </a:prstGeom>
          <a:noFill/>
          <a:ln/>
        </p:spPr>
        <p:txBody>
          <a:bodyPr wrap="square" lIns="0" tIns="0" rIns="0" bIns="0" rtlCol="0" anchor="ctr"/>
          <a:lstStyle/>
          <a:p>
            <a:r>
              <a:rPr lang="en-US" sz="1400">
                <a:solidFill>
                  <a:srgbClr val="000000"/>
                </a:solidFill>
                <a:latin typeface="Calibri"/>
                <a:ea typeface="Calibri"/>
                <a:cs typeface="Calibri"/>
              </a:rPr>
              <a:t>Utility-first design using Tailwind </a:t>
            </a:r>
            <a:r>
              <a:rPr lang="en-US" sz="1400" noProof="0">
                <a:solidFill>
                  <a:srgbClr val="000000"/>
                </a:solidFill>
                <a:latin typeface="Calibri"/>
                <a:ea typeface="Calibri"/>
                <a:cs typeface="Calibri"/>
              </a:rPr>
              <a:t>CSS</a:t>
            </a:r>
            <a:r>
              <a:rPr lang="en-US" sz="1400">
                <a:solidFill>
                  <a:srgbClr val="000000"/>
                </a:solidFill>
                <a:latin typeface="Calibri"/>
                <a:ea typeface="Calibri"/>
                <a:cs typeface="Calibri"/>
              </a:rPr>
              <a:t>, enhanced with Framer Motion for fluid entrance animations.</a:t>
            </a:r>
            <a:endParaRPr lang="en-GB" sz="1400">
              <a:ea typeface="Calibri"/>
              <a:cs typeface="Calibri"/>
            </a:endParaRPr>
          </a:p>
        </p:txBody>
      </p:sp>
      <p:sp>
        <p:nvSpPr>
          <p:cNvPr id="59" name="Shape 16">
            <a:extLst>
              <a:ext uri="{FF2B5EF4-FFF2-40B4-BE49-F238E27FC236}">
                <a16:creationId xmlns:a16="http://schemas.microsoft.com/office/drawing/2014/main" id="{71A968FC-15B7-BD66-D660-A4E294F560E2}"/>
              </a:ext>
            </a:extLst>
          </p:cNvPr>
          <p:cNvSpPr/>
          <p:nvPr/>
        </p:nvSpPr>
        <p:spPr>
          <a:xfrm>
            <a:off x="4572000" y="914400"/>
            <a:ext cx="36576" cy="4023360"/>
          </a:xfrm>
          <a:prstGeom prst="rect">
            <a:avLst/>
          </a:prstGeom>
          <a:solidFill>
            <a:srgbClr val="CADCFC"/>
          </a:solidFill>
          <a:ln w="12700">
            <a:solidFill>
              <a:srgbClr val="CADCFC"/>
            </a:solidFill>
            <a:prstDash val="solid"/>
          </a:ln>
        </p:spPr>
        <p:txBody>
          <a:bodyPr/>
          <a:lstStyle/>
          <a:p>
            <a:endParaRPr lang="en-GB" noProof="0"/>
          </a:p>
        </p:txBody>
      </p:sp>
      <p:sp>
        <p:nvSpPr>
          <p:cNvPr id="60" name="Text 17">
            <a:extLst>
              <a:ext uri="{FF2B5EF4-FFF2-40B4-BE49-F238E27FC236}">
                <a16:creationId xmlns:a16="http://schemas.microsoft.com/office/drawing/2014/main" id="{356C7847-7AD8-0031-0D1C-4CDA62A0DEA0}"/>
              </a:ext>
            </a:extLst>
          </p:cNvPr>
          <p:cNvSpPr/>
          <p:nvPr/>
        </p:nvSpPr>
        <p:spPr>
          <a:xfrm>
            <a:off x="4800600" y="960120"/>
            <a:ext cx="4023360" cy="347472"/>
          </a:xfrm>
          <a:prstGeom prst="rect">
            <a:avLst/>
          </a:prstGeom>
          <a:noFill/>
          <a:ln/>
        </p:spPr>
        <p:txBody>
          <a:bodyPr wrap="square" lIns="0" tIns="0" rIns="0" bIns="0" rtlCol="0" anchor="ctr"/>
          <a:lstStyle/>
          <a:p>
            <a:pPr marL="0" indent="0">
              <a:buNone/>
            </a:pPr>
            <a:r>
              <a:rPr lang="en-GB" sz="1600" b="1" noProof="0">
                <a:solidFill>
                  <a:srgbClr val="1E2761"/>
                </a:solidFill>
                <a:latin typeface="Calibri" pitchFamily="34" charset="0"/>
                <a:ea typeface="Calibri" pitchFamily="34" charset="-122"/>
                <a:cs typeface="Calibri" pitchFamily="34" charset="-120"/>
              </a:rPr>
              <a:t>Task</a:t>
            </a:r>
            <a:endParaRPr lang="en-GB" sz="1600" noProof="0"/>
          </a:p>
        </p:txBody>
      </p:sp>
      <p:sp>
        <p:nvSpPr>
          <p:cNvPr id="62" name="Text 19">
            <a:extLst>
              <a:ext uri="{FF2B5EF4-FFF2-40B4-BE49-F238E27FC236}">
                <a16:creationId xmlns:a16="http://schemas.microsoft.com/office/drawing/2014/main" id="{D00AB665-A271-5F44-11D4-233947DFF36B}"/>
              </a:ext>
            </a:extLst>
          </p:cNvPr>
          <p:cNvSpPr/>
          <p:nvPr/>
        </p:nvSpPr>
        <p:spPr>
          <a:xfrm>
            <a:off x="4800600" y="1527048"/>
            <a:ext cx="384048" cy="384048"/>
          </a:xfrm>
          <a:prstGeom prst="rect">
            <a:avLst/>
          </a:prstGeom>
          <a:noFill/>
          <a:ln/>
        </p:spPr>
        <p:txBody>
          <a:bodyPr wrap="square" lIns="0" tIns="0" rIns="0" bIns="0" rtlCol="0" anchor="ctr"/>
          <a:lstStyle/>
          <a:p>
            <a:pPr marL="0" indent="0" algn="ctr">
              <a:buNone/>
            </a:pPr>
            <a:endParaRPr lang="en-GB" sz="1300" noProof="0"/>
          </a:p>
        </p:txBody>
      </p:sp>
      <p:sp>
        <p:nvSpPr>
          <p:cNvPr id="66" name="Text 23">
            <a:extLst>
              <a:ext uri="{FF2B5EF4-FFF2-40B4-BE49-F238E27FC236}">
                <a16:creationId xmlns:a16="http://schemas.microsoft.com/office/drawing/2014/main" id="{EA4F08C0-2D1C-788A-F486-ACA774AE179B}"/>
              </a:ext>
            </a:extLst>
          </p:cNvPr>
          <p:cNvSpPr/>
          <p:nvPr/>
        </p:nvSpPr>
        <p:spPr>
          <a:xfrm>
            <a:off x="4800600" y="2240280"/>
            <a:ext cx="384048" cy="384048"/>
          </a:xfrm>
          <a:prstGeom prst="rect">
            <a:avLst/>
          </a:prstGeom>
          <a:noFill/>
          <a:ln/>
        </p:spPr>
        <p:txBody>
          <a:bodyPr wrap="square" lIns="0" tIns="0" rIns="0" bIns="0" rtlCol="0" anchor="ctr"/>
          <a:lstStyle/>
          <a:p>
            <a:pPr marL="0" indent="0" algn="ctr">
              <a:buNone/>
            </a:pPr>
            <a:endParaRPr lang="en-GB" sz="1300" noProof="0"/>
          </a:p>
        </p:txBody>
      </p:sp>
      <p:sp>
        <p:nvSpPr>
          <p:cNvPr id="74" name="Text 31">
            <a:extLst>
              <a:ext uri="{FF2B5EF4-FFF2-40B4-BE49-F238E27FC236}">
                <a16:creationId xmlns:a16="http://schemas.microsoft.com/office/drawing/2014/main" id="{F3804D21-E472-C8CD-C13B-EEF5EC13DF6D}"/>
              </a:ext>
            </a:extLst>
          </p:cNvPr>
          <p:cNvSpPr/>
          <p:nvPr/>
        </p:nvSpPr>
        <p:spPr>
          <a:xfrm>
            <a:off x="4800600" y="3666744"/>
            <a:ext cx="384048" cy="384048"/>
          </a:xfrm>
          <a:prstGeom prst="rect">
            <a:avLst/>
          </a:prstGeom>
          <a:noFill/>
          <a:ln/>
        </p:spPr>
        <p:txBody>
          <a:bodyPr wrap="square" lIns="0" tIns="0" rIns="0" bIns="0" rtlCol="0" anchor="ctr"/>
          <a:lstStyle/>
          <a:p>
            <a:pPr marL="0" indent="0" algn="ctr">
              <a:buNone/>
            </a:pPr>
            <a:endParaRPr lang="en-GB" sz="1300" noProof="0"/>
          </a:p>
        </p:txBody>
      </p:sp>
      <p:sp>
        <p:nvSpPr>
          <p:cNvPr id="81" name="Shape 18">
            <a:extLst>
              <a:ext uri="{FF2B5EF4-FFF2-40B4-BE49-F238E27FC236}">
                <a16:creationId xmlns:a16="http://schemas.microsoft.com/office/drawing/2014/main" id="{D1BB30BE-F21A-5825-2A32-FE3F7BD093FB}"/>
              </a:ext>
            </a:extLst>
          </p:cNvPr>
          <p:cNvSpPr/>
          <p:nvPr/>
        </p:nvSpPr>
        <p:spPr>
          <a:xfrm>
            <a:off x="8823960" y="0"/>
            <a:ext cx="320040" cy="5143500"/>
          </a:xfrm>
          <a:prstGeom prst="rect">
            <a:avLst/>
          </a:prstGeom>
          <a:solidFill>
            <a:srgbClr val="0EA5E9"/>
          </a:solidFill>
          <a:ln w="12700">
            <a:solidFill>
              <a:srgbClr val="0EA5E9"/>
            </a:solidFill>
            <a:prstDash val="solid"/>
          </a:ln>
        </p:spPr>
        <p:txBody>
          <a:bodyPr/>
          <a:lstStyle/>
          <a:p>
            <a:endParaRPr lang="en-GB" noProof="0"/>
          </a:p>
        </p:txBody>
      </p:sp>
      <p:pic>
        <p:nvPicPr>
          <p:cNvPr id="3" name="Picture 2" descr="A blue and green atom symbol&#10;&#10;AI-generated content may be incorrect.">
            <a:extLst>
              <a:ext uri="{FF2B5EF4-FFF2-40B4-BE49-F238E27FC236}">
                <a16:creationId xmlns:a16="http://schemas.microsoft.com/office/drawing/2014/main" id="{6BA35B55-7645-3661-7177-CEC5E3697DC3}"/>
              </a:ext>
            </a:extLst>
          </p:cNvPr>
          <p:cNvPicPr>
            <a:picLocks noChangeAspect="1"/>
          </p:cNvPicPr>
          <p:nvPr/>
        </p:nvPicPr>
        <p:blipFill>
          <a:blip r:embed="rId4"/>
          <a:stretch>
            <a:fillRect/>
          </a:stretch>
        </p:blipFill>
        <p:spPr>
          <a:xfrm flipH="1">
            <a:off x="454325" y="1556709"/>
            <a:ext cx="482359" cy="444979"/>
          </a:xfrm>
          <a:prstGeom prst="rect">
            <a:avLst/>
          </a:prstGeom>
        </p:spPr>
      </p:pic>
      <p:pic>
        <p:nvPicPr>
          <p:cNvPr id="7" name="Picture 6" descr="A diagram of a program&#10;&#10;AI-generated content may be incorrect.">
            <a:extLst>
              <a:ext uri="{FF2B5EF4-FFF2-40B4-BE49-F238E27FC236}">
                <a16:creationId xmlns:a16="http://schemas.microsoft.com/office/drawing/2014/main" id="{C2D869D4-227E-39AB-BEF3-6808EFADEE9A}"/>
              </a:ext>
            </a:extLst>
          </p:cNvPr>
          <p:cNvPicPr>
            <a:picLocks noChangeAspect="1"/>
          </p:cNvPicPr>
          <p:nvPr/>
        </p:nvPicPr>
        <p:blipFill>
          <a:blip r:embed="rId5"/>
          <a:stretch>
            <a:fillRect/>
          </a:stretch>
        </p:blipFill>
        <p:spPr>
          <a:xfrm>
            <a:off x="4658174" y="1204823"/>
            <a:ext cx="4162425" cy="3467100"/>
          </a:xfrm>
          <a:prstGeom prst="rect">
            <a:avLst/>
          </a:prstGeom>
        </p:spPr>
      </p:pic>
      <p:pic>
        <p:nvPicPr>
          <p:cNvPr id="8" name="Picture 7" descr="A blue and white logo&#10;&#10;AI-generated content may be incorrect.">
            <a:extLst>
              <a:ext uri="{FF2B5EF4-FFF2-40B4-BE49-F238E27FC236}">
                <a16:creationId xmlns:a16="http://schemas.microsoft.com/office/drawing/2014/main" id="{28E1FC42-D2D6-C6D1-1829-97F982935D1E}"/>
              </a:ext>
            </a:extLst>
          </p:cNvPr>
          <p:cNvPicPr>
            <a:picLocks noChangeAspect="1"/>
          </p:cNvPicPr>
          <p:nvPr/>
        </p:nvPicPr>
        <p:blipFill>
          <a:blip r:embed="rId6"/>
          <a:stretch>
            <a:fillRect/>
          </a:stretch>
        </p:blipFill>
        <p:spPr>
          <a:xfrm>
            <a:off x="451448" y="2710490"/>
            <a:ext cx="434197" cy="380282"/>
          </a:xfrm>
          <a:prstGeom prst="rect">
            <a:avLst/>
          </a:prstGeom>
        </p:spPr>
      </p:pic>
      <p:sp>
        <p:nvSpPr>
          <p:cNvPr id="13" name="Shape 7">
            <a:extLst>
              <a:ext uri="{FF2B5EF4-FFF2-40B4-BE49-F238E27FC236}">
                <a16:creationId xmlns:a16="http://schemas.microsoft.com/office/drawing/2014/main" id="{2C39D301-0544-887D-A653-75D8A375943F}"/>
              </a:ext>
            </a:extLst>
          </p:cNvPr>
          <p:cNvSpPr/>
          <p:nvPr/>
        </p:nvSpPr>
        <p:spPr>
          <a:xfrm>
            <a:off x="387325" y="3526737"/>
            <a:ext cx="3931920" cy="713232"/>
          </a:xfrm>
          <a:prstGeom prst="rect">
            <a:avLst/>
          </a:prstGeom>
          <a:solidFill>
            <a:srgbClr val="F0F4FF"/>
          </a:solidFill>
          <a:ln w="12700">
            <a:solidFill>
              <a:srgbClr val="CADCFC"/>
            </a:solidFill>
            <a:prstDash val="solid"/>
          </a:ln>
        </p:spPr>
        <p:txBody>
          <a:bodyPr/>
          <a:lstStyle/>
          <a:p>
            <a:endParaRPr lang="en-GB" noProof="0"/>
          </a:p>
        </p:txBody>
      </p:sp>
      <p:sp>
        <p:nvSpPr>
          <p:cNvPr id="14" name="Text 8">
            <a:extLst>
              <a:ext uri="{FF2B5EF4-FFF2-40B4-BE49-F238E27FC236}">
                <a16:creationId xmlns:a16="http://schemas.microsoft.com/office/drawing/2014/main" id="{161B0296-D756-35E8-8F6D-D92DE69DDD58}"/>
              </a:ext>
            </a:extLst>
          </p:cNvPr>
          <p:cNvSpPr/>
          <p:nvPr/>
        </p:nvSpPr>
        <p:spPr>
          <a:xfrm>
            <a:off x="962708" y="3524408"/>
            <a:ext cx="3265098" cy="708918"/>
          </a:xfrm>
          <a:prstGeom prst="rect">
            <a:avLst/>
          </a:prstGeom>
          <a:noFill/>
          <a:ln/>
        </p:spPr>
        <p:txBody>
          <a:bodyPr wrap="square" lIns="0" tIns="0" rIns="0" bIns="0" rtlCol="0" anchor="ctr"/>
          <a:lstStyle/>
          <a:p>
            <a:r>
              <a:rPr lang="en-US" sz="1200">
                <a:solidFill>
                  <a:srgbClr val="000000"/>
                </a:solidFill>
                <a:ea typeface="+mn-lt"/>
                <a:cs typeface="+mn-lt"/>
              </a:rPr>
              <a:t>Frontend is built as a Component-Based  Application , where reusable components create a dynamic and seamless user experience</a:t>
            </a:r>
            <a:endParaRPr lang="en-US" sz="1200">
              <a:ea typeface="Calibri"/>
              <a:cs typeface="Calibri"/>
            </a:endParaRPr>
          </a:p>
        </p:txBody>
      </p:sp>
      <p:pic>
        <p:nvPicPr>
          <p:cNvPr id="18" name="Picture 17">
            <a:extLst>
              <a:ext uri="{FF2B5EF4-FFF2-40B4-BE49-F238E27FC236}">
                <a16:creationId xmlns:a16="http://schemas.microsoft.com/office/drawing/2014/main" id="{92F69658-BCFD-C593-C75A-5928A6919048}"/>
              </a:ext>
            </a:extLst>
          </p:cNvPr>
          <p:cNvPicPr>
            <a:picLocks noChangeAspect="1"/>
          </p:cNvPicPr>
          <p:nvPr/>
        </p:nvPicPr>
        <p:blipFill>
          <a:blip r:embed="rId7"/>
          <a:stretch>
            <a:fillRect/>
          </a:stretch>
        </p:blipFill>
        <p:spPr>
          <a:xfrm>
            <a:off x="386751" y="3616265"/>
            <a:ext cx="509679" cy="531245"/>
          </a:xfrm>
          <a:prstGeom prst="rect">
            <a:avLst/>
          </a:prstGeom>
        </p:spPr>
      </p:pic>
    </p:spTree>
    <p:extLst>
      <p:ext uri="{BB962C8B-B14F-4D97-AF65-F5344CB8AC3E}">
        <p14:creationId xmlns:p14="http://schemas.microsoft.com/office/powerpoint/2010/main" val="2261039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CA1B7-88BD-69ED-0A11-DE3B2FD2F6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F65C529-FDFE-DE3A-5B39-96FBF10E7D13}"/>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3" name="Text 2">
            <a:extLst>
              <a:ext uri="{FF2B5EF4-FFF2-40B4-BE49-F238E27FC236}">
                <a16:creationId xmlns:a16="http://schemas.microsoft.com/office/drawing/2014/main" id="{ABE413BC-8F55-BAB3-7241-50AFA6A395ED}"/>
              </a:ext>
            </a:extLst>
          </p:cNvPr>
          <p:cNvSpPr/>
          <p:nvPr/>
        </p:nvSpPr>
        <p:spPr>
          <a:xfrm>
            <a:off x="1751102" y="98077"/>
            <a:ext cx="3726712" cy="803444"/>
          </a:xfrm>
          <a:prstGeom prst="rect">
            <a:avLst/>
          </a:prstGeom>
          <a:noFill/>
          <a:ln/>
        </p:spPr>
        <p:txBody>
          <a:bodyPr wrap="square" lIns="0" tIns="0" rIns="0" bIns="0" rtlCol="0" anchor="ctr"/>
          <a:lstStyle/>
          <a:p>
            <a:r>
              <a:rPr lang="en-GB" sz="3000" b="1" noProof="0">
                <a:solidFill>
                  <a:srgbClr val="1E2761"/>
                </a:solidFill>
                <a:ea typeface="Calibri"/>
                <a:cs typeface="Calibri"/>
              </a:rPr>
              <a:t>Agile Methodology</a:t>
            </a:r>
          </a:p>
        </p:txBody>
      </p:sp>
      <p:pic>
        <p:nvPicPr>
          <p:cNvPr id="5" name="Picture 4">
            <a:extLst>
              <a:ext uri="{FF2B5EF4-FFF2-40B4-BE49-F238E27FC236}">
                <a16:creationId xmlns:a16="http://schemas.microsoft.com/office/drawing/2014/main" id="{C7F8B852-DB80-B453-162F-34E59A79F6FD}"/>
              </a:ext>
            </a:extLst>
          </p:cNvPr>
          <p:cNvPicPr>
            <a:picLocks noChangeAspect="1"/>
          </p:cNvPicPr>
          <p:nvPr/>
        </p:nvPicPr>
        <p:blipFill>
          <a:blip r:embed="rId4"/>
          <a:stretch>
            <a:fillRect/>
          </a:stretch>
        </p:blipFill>
        <p:spPr>
          <a:xfrm>
            <a:off x="7110861" y="91244"/>
            <a:ext cx="1371601" cy="1200329"/>
          </a:xfrm>
          <a:prstGeom prst="rect">
            <a:avLst/>
          </a:prstGeom>
        </p:spPr>
      </p:pic>
      <p:sp>
        <p:nvSpPr>
          <p:cNvPr id="6" name="TextBox 5">
            <a:extLst>
              <a:ext uri="{FF2B5EF4-FFF2-40B4-BE49-F238E27FC236}">
                <a16:creationId xmlns:a16="http://schemas.microsoft.com/office/drawing/2014/main" id="{A66B6BA3-0A29-EBB5-8B1C-B7D8DE30A097}"/>
              </a:ext>
            </a:extLst>
          </p:cNvPr>
          <p:cNvSpPr txBox="1"/>
          <p:nvPr/>
        </p:nvSpPr>
        <p:spPr>
          <a:xfrm>
            <a:off x="223234" y="957330"/>
            <a:ext cx="3956404" cy="1200329"/>
          </a:xfrm>
          <a:prstGeom prst="rect">
            <a:avLst/>
          </a:prstGeom>
          <a:noFill/>
        </p:spPr>
        <p:txBody>
          <a:bodyPr wrap="none" rtlCol="0">
            <a:spAutoFit/>
          </a:bodyPr>
          <a:lstStyle/>
          <a:p>
            <a:pPr marL="285750" indent="-285750">
              <a:buFont typeface="Calibri" panose="020F0502020204030204" pitchFamily="34" charset="0"/>
              <a:buChar char="–"/>
            </a:pPr>
            <a:r>
              <a:rPr lang="en-GB" b="1">
                <a:solidFill>
                  <a:srgbClr val="F59E0B"/>
                </a:solidFill>
              </a:rPr>
              <a:t>Regular meetings &amp; progress reports</a:t>
            </a:r>
          </a:p>
          <a:p>
            <a:pPr marL="285750" indent="-285750">
              <a:buFont typeface="Calibri" panose="020F0502020204030204" pitchFamily="34" charset="0"/>
              <a:buChar char="–"/>
            </a:pPr>
            <a:r>
              <a:rPr lang="en-GB" b="1">
                <a:solidFill>
                  <a:srgbClr val="F59E0B"/>
                </a:solidFill>
              </a:rPr>
              <a:t>Gantt chart</a:t>
            </a:r>
          </a:p>
          <a:p>
            <a:pPr marL="285750" indent="-285750">
              <a:buFont typeface="Calibri" panose="020F0502020204030204" pitchFamily="34" charset="0"/>
              <a:buChar char="–"/>
            </a:pPr>
            <a:r>
              <a:rPr lang="en-GB" b="1">
                <a:solidFill>
                  <a:srgbClr val="F59E0B"/>
                </a:solidFill>
              </a:rPr>
              <a:t>Built in contingency</a:t>
            </a:r>
          </a:p>
          <a:p>
            <a:pPr marL="285750" indent="-285750">
              <a:buFont typeface="Calibri" panose="020F0502020204030204" pitchFamily="34" charset="0"/>
              <a:buChar char="–"/>
            </a:pPr>
            <a:r>
              <a:rPr lang="en-GB" b="1">
                <a:solidFill>
                  <a:srgbClr val="F59E0B"/>
                </a:solidFill>
              </a:rPr>
              <a:t>Kanban planner – sprints</a:t>
            </a:r>
          </a:p>
        </p:txBody>
      </p:sp>
      <p:pic>
        <p:nvPicPr>
          <p:cNvPr id="9" name="Picture 8">
            <a:extLst>
              <a:ext uri="{FF2B5EF4-FFF2-40B4-BE49-F238E27FC236}">
                <a16:creationId xmlns:a16="http://schemas.microsoft.com/office/drawing/2014/main" id="{6430DE3E-537F-5D47-B2D1-A664A4C6ACF0}"/>
              </a:ext>
            </a:extLst>
          </p:cNvPr>
          <p:cNvPicPr>
            <a:picLocks noChangeAspect="1"/>
          </p:cNvPicPr>
          <p:nvPr/>
        </p:nvPicPr>
        <p:blipFill>
          <a:blip r:embed="rId5"/>
          <a:stretch>
            <a:fillRect/>
          </a:stretch>
        </p:blipFill>
        <p:spPr>
          <a:xfrm>
            <a:off x="223234" y="2985842"/>
            <a:ext cx="3119484" cy="1906198"/>
          </a:xfrm>
          <a:prstGeom prst="rect">
            <a:avLst/>
          </a:prstGeom>
        </p:spPr>
      </p:pic>
      <p:sp>
        <p:nvSpPr>
          <p:cNvPr id="4" name="Shape 32">
            <a:extLst>
              <a:ext uri="{FF2B5EF4-FFF2-40B4-BE49-F238E27FC236}">
                <a16:creationId xmlns:a16="http://schemas.microsoft.com/office/drawing/2014/main" id="{431E9DE1-2ED4-3F34-0E94-3EBA8EB77965}"/>
              </a:ext>
            </a:extLst>
          </p:cNvPr>
          <p:cNvSpPr/>
          <p:nvPr/>
        </p:nvSpPr>
        <p:spPr>
          <a:xfrm>
            <a:off x="8813158" y="0"/>
            <a:ext cx="330842" cy="5143500"/>
          </a:xfrm>
          <a:prstGeom prst="rect">
            <a:avLst/>
          </a:prstGeom>
          <a:solidFill>
            <a:srgbClr val="14B8A6"/>
          </a:solidFill>
          <a:ln w="12700">
            <a:solidFill>
              <a:srgbClr val="14B8A6"/>
            </a:solidFill>
            <a:prstDash val="solid"/>
          </a:ln>
        </p:spPr>
        <p:txBody>
          <a:bodyPr/>
          <a:lstStyle/>
          <a:p>
            <a:endParaRPr lang="en-GB" noProof="0"/>
          </a:p>
        </p:txBody>
      </p:sp>
      <p:pic>
        <p:nvPicPr>
          <p:cNvPr id="7" name="drawing">
            <a:extLst>
              <a:ext uri="{FF2B5EF4-FFF2-40B4-BE49-F238E27FC236}">
                <a16:creationId xmlns:a16="http://schemas.microsoft.com/office/drawing/2014/main" id="{9C5BA3DD-AB86-D50C-F62F-728C5472065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510566" y="1382816"/>
            <a:ext cx="5549075" cy="3622424"/>
          </a:xfrm>
          <a:prstGeom prst="rect">
            <a:avLst/>
          </a:prstGeom>
        </p:spPr>
      </p:pic>
    </p:spTree>
    <p:extLst>
      <p:ext uri="{BB962C8B-B14F-4D97-AF65-F5344CB8AC3E}">
        <p14:creationId xmlns:p14="http://schemas.microsoft.com/office/powerpoint/2010/main" val="85147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727AD-FCAA-F546-DC53-E9721E27CB8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278DBFC-26D9-B098-FB0D-C2F4E3163233}"/>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3" name="Text 2">
            <a:extLst>
              <a:ext uri="{FF2B5EF4-FFF2-40B4-BE49-F238E27FC236}">
                <a16:creationId xmlns:a16="http://schemas.microsoft.com/office/drawing/2014/main" id="{1225CD61-8A66-0FDA-EF8F-C8F919A7162D}"/>
              </a:ext>
            </a:extLst>
          </p:cNvPr>
          <p:cNvSpPr/>
          <p:nvPr/>
        </p:nvSpPr>
        <p:spPr>
          <a:xfrm>
            <a:off x="1884608" y="98077"/>
            <a:ext cx="5825544" cy="803444"/>
          </a:xfrm>
          <a:prstGeom prst="rect">
            <a:avLst/>
          </a:prstGeom>
          <a:noFill/>
          <a:ln/>
        </p:spPr>
        <p:txBody>
          <a:bodyPr wrap="square" lIns="0" tIns="0" rIns="0" bIns="0" rtlCol="0" anchor="ctr"/>
          <a:lstStyle/>
          <a:p>
            <a:r>
              <a:rPr lang="en-GB" sz="3000" b="1"/>
              <a:t>IGP Team 3 - Contribution matrix</a:t>
            </a:r>
            <a:endParaRPr lang="en-GB" sz="3000"/>
          </a:p>
        </p:txBody>
      </p:sp>
      <p:sp>
        <p:nvSpPr>
          <p:cNvPr id="4" name="Shape 32">
            <a:extLst>
              <a:ext uri="{FF2B5EF4-FFF2-40B4-BE49-F238E27FC236}">
                <a16:creationId xmlns:a16="http://schemas.microsoft.com/office/drawing/2014/main" id="{91A10D2D-632B-181B-184B-884E068F1FD9}"/>
              </a:ext>
            </a:extLst>
          </p:cNvPr>
          <p:cNvSpPr/>
          <p:nvPr/>
        </p:nvSpPr>
        <p:spPr>
          <a:xfrm>
            <a:off x="8813158" y="0"/>
            <a:ext cx="330842" cy="5143500"/>
          </a:xfrm>
          <a:prstGeom prst="rect">
            <a:avLst/>
          </a:prstGeom>
          <a:solidFill>
            <a:srgbClr val="14B8A6"/>
          </a:solidFill>
          <a:ln w="12700">
            <a:solidFill>
              <a:srgbClr val="14B8A6"/>
            </a:solidFill>
            <a:prstDash val="solid"/>
          </a:ln>
        </p:spPr>
        <p:txBody>
          <a:bodyPr/>
          <a:lstStyle/>
          <a:p>
            <a:endParaRPr lang="en-GB" noProof="0"/>
          </a:p>
        </p:txBody>
      </p:sp>
      <p:sp>
        <p:nvSpPr>
          <p:cNvPr id="6" name="Shape 38">
            <a:extLst>
              <a:ext uri="{FF2B5EF4-FFF2-40B4-BE49-F238E27FC236}">
                <a16:creationId xmlns:a16="http://schemas.microsoft.com/office/drawing/2014/main" id="{575A986A-6269-6C06-2FA6-85964ADEEAAF}"/>
              </a:ext>
            </a:extLst>
          </p:cNvPr>
          <p:cNvSpPr/>
          <p:nvPr/>
        </p:nvSpPr>
        <p:spPr>
          <a:xfrm>
            <a:off x="0" y="4384836"/>
            <a:ext cx="5100484" cy="519427"/>
          </a:xfrm>
          <a:prstGeom prst="rect">
            <a:avLst/>
          </a:prstGeom>
          <a:solidFill>
            <a:srgbClr val="1E2761"/>
          </a:solidFill>
          <a:ln w="12700">
            <a:solidFill>
              <a:srgbClr val="1E2761"/>
            </a:solidFill>
            <a:prstDash val="solid"/>
          </a:ln>
        </p:spPr>
        <p:txBody>
          <a:bodyPr/>
          <a:lstStyle/>
          <a:p>
            <a:endParaRPr lang="en-GB" noProof="0"/>
          </a:p>
        </p:txBody>
      </p:sp>
      <p:pic>
        <p:nvPicPr>
          <p:cNvPr id="5" name="Picture 4">
            <a:extLst>
              <a:ext uri="{FF2B5EF4-FFF2-40B4-BE49-F238E27FC236}">
                <a16:creationId xmlns:a16="http://schemas.microsoft.com/office/drawing/2014/main" id="{08ECBC07-63B7-0195-CE15-41ACCF9C6EA6}"/>
              </a:ext>
            </a:extLst>
          </p:cNvPr>
          <p:cNvPicPr>
            <a:picLocks noChangeAspect="1"/>
          </p:cNvPicPr>
          <p:nvPr/>
        </p:nvPicPr>
        <p:blipFill>
          <a:blip r:embed="rId4"/>
          <a:stretch>
            <a:fillRect/>
          </a:stretch>
        </p:blipFill>
        <p:spPr>
          <a:xfrm>
            <a:off x="1841517" y="686984"/>
            <a:ext cx="6968391" cy="4342945"/>
          </a:xfrm>
          <a:prstGeom prst="rect">
            <a:avLst/>
          </a:prstGeom>
        </p:spPr>
      </p:pic>
      <p:sp>
        <p:nvSpPr>
          <p:cNvPr id="9" name="TextBox 8">
            <a:extLst>
              <a:ext uri="{FF2B5EF4-FFF2-40B4-BE49-F238E27FC236}">
                <a16:creationId xmlns:a16="http://schemas.microsoft.com/office/drawing/2014/main" id="{E7CDE508-1AB1-835E-318D-F9292B1728C6}"/>
              </a:ext>
            </a:extLst>
          </p:cNvPr>
          <p:cNvSpPr txBox="1"/>
          <p:nvPr/>
        </p:nvSpPr>
        <p:spPr>
          <a:xfrm>
            <a:off x="133147" y="2231417"/>
            <a:ext cx="1495965" cy="738664"/>
          </a:xfrm>
          <a:prstGeom prst="rect">
            <a:avLst/>
          </a:prstGeom>
          <a:noFill/>
        </p:spPr>
        <p:txBody>
          <a:bodyPr wrap="square">
            <a:spAutoFit/>
          </a:bodyPr>
          <a:lstStyle/>
          <a:p>
            <a:r>
              <a:rPr lang="en-GB" sz="1400" b="1">
                <a:hlinkClick r:id="rId5"/>
              </a:rPr>
              <a:t>IGP Sept25 Team3 / Portfolio · GitLab</a:t>
            </a:r>
            <a:endParaRPr lang="en-GB" sz="1400" b="1"/>
          </a:p>
        </p:txBody>
      </p:sp>
      <p:sp>
        <p:nvSpPr>
          <p:cNvPr id="10" name="TextBox 9">
            <a:extLst>
              <a:ext uri="{FF2B5EF4-FFF2-40B4-BE49-F238E27FC236}">
                <a16:creationId xmlns:a16="http://schemas.microsoft.com/office/drawing/2014/main" id="{2CD66AB5-6428-CF4C-BC3F-78D759F96852}"/>
              </a:ext>
            </a:extLst>
          </p:cNvPr>
          <p:cNvSpPr txBox="1"/>
          <p:nvPr/>
        </p:nvSpPr>
        <p:spPr>
          <a:xfrm>
            <a:off x="112174" y="1884641"/>
            <a:ext cx="1236429" cy="338554"/>
          </a:xfrm>
          <a:prstGeom prst="rect">
            <a:avLst/>
          </a:prstGeom>
          <a:noFill/>
        </p:spPr>
        <p:txBody>
          <a:bodyPr wrap="none" rtlCol="0">
            <a:spAutoFit/>
          </a:bodyPr>
          <a:lstStyle/>
          <a:p>
            <a:r>
              <a:rPr lang="en-GB" sz="1600" b="1">
                <a:solidFill>
                  <a:srgbClr val="F59E0B"/>
                </a:solidFill>
              </a:rPr>
              <a:t>Gitlab Repo:</a:t>
            </a:r>
          </a:p>
        </p:txBody>
      </p:sp>
    </p:spTree>
    <p:extLst>
      <p:ext uri="{BB962C8B-B14F-4D97-AF65-F5344CB8AC3E}">
        <p14:creationId xmlns:p14="http://schemas.microsoft.com/office/powerpoint/2010/main" val="2060548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D988-F516-2CA0-3DD5-4E6131CFA1EC}"/>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8CBEF8F0-DEC9-0ABE-2F8D-206780F2BD4F}"/>
              </a:ext>
            </a:extLst>
          </p:cNvPr>
          <p:cNvPicPr>
            <a:picLocks noChangeAspect="1"/>
          </p:cNvPicPr>
          <p:nvPr/>
        </p:nvPicPr>
        <p:blipFill>
          <a:blip r:embed="rId2"/>
          <a:stretch>
            <a:fillRect/>
          </a:stretch>
        </p:blipFill>
        <p:spPr>
          <a:xfrm>
            <a:off x="5499947" y="3045875"/>
            <a:ext cx="3313211" cy="1971609"/>
          </a:xfrm>
          <a:prstGeom prst="rect">
            <a:avLst/>
          </a:prstGeom>
        </p:spPr>
      </p:pic>
      <p:pic>
        <p:nvPicPr>
          <p:cNvPr id="2" name="Picture 1">
            <a:extLst>
              <a:ext uri="{FF2B5EF4-FFF2-40B4-BE49-F238E27FC236}">
                <a16:creationId xmlns:a16="http://schemas.microsoft.com/office/drawing/2014/main" id="{64698336-3AA2-FE96-7C12-F4CE361A3F5C}"/>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8" name="TextBox 7">
            <a:extLst>
              <a:ext uri="{FF2B5EF4-FFF2-40B4-BE49-F238E27FC236}">
                <a16:creationId xmlns:a16="http://schemas.microsoft.com/office/drawing/2014/main" id="{781ACB24-D8D6-9612-115B-F408C396493C}"/>
              </a:ext>
            </a:extLst>
          </p:cNvPr>
          <p:cNvSpPr txBox="1"/>
          <p:nvPr/>
        </p:nvSpPr>
        <p:spPr>
          <a:xfrm>
            <a:off x="1425200" y="252254"/>
            <a:ext cx="5767651"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000" b="1">
                <a:solidFill>
                  <a:srgbClr val="1E2761"/>
                </a:solidFill>
                <a:latin typeface="Calibri" panose="020F0502020204030204"/>
                <a:ea typeface="Calibri"/>
                <a:cs typeface="Calibri"/>
              </a:rPr>
              <a:t>Finding</a:t>
            </a:r>
            <a:r>
              <a:rPr kumimoji="0" lang="en-GB" sz="3000" b="1" i="0" u="none" strike="noStrike" kern="1200" cap="none" spc="0" normalizeH="0" baseline="0" noProof="0">
                <a:ln>
                  <a:noFill/>
                </a:ln>
                <a:solidFill>
                  <a:srgbClr val="1E2761"/>
                </a:solidFill>
                <a:effectLst/>
                <a:uLnTx/>
                <a:uFillTx/>
                <a:latin typeface="Calibri" panose="020F0502020204030204"/>
                <a:ea typeface="Calibri"/>
                <a:cs typeface="Calibri"/>
              </a:rPr>
              <a:t>s &amp; Reflections</a:t>
            </a:r>
          </a:p>
        </p:txBody>
      </p:sp>
      <p:sp>
        <p:nvSpPr>
          <p:cNvPr id="3" name="Shape 25">
            <a:extLst>
              <a:ext uri="{FF2B5EF4-FFF2-40B4-BE49-F238E27FC236}">
                <a16:creationId xmlns:a16="http://schemas.microsoft.com/office/drawing/2014/main" id="{DD38E7B8-F128-C729-9875-89C9EB4A725B}"/>
              </a:ext>
            </a:extLst>
          </p:cNvPr>
          <p:cNvSpPr/>
          <p:nvPr/>
        </p:nvSpPr>
        <p:spPr>
          <a:xfrm>
            <a:off x="8813158" y="0"/>
            <a:ext cx="330842" cy="5143500"/>
          </a:xfrm>
          <a:prstGeom prst="rect">
            <a:avLst/>
          </a:prstGeom>
          <a:solidFill>
            <a:srgbClr val="22C55E"/>
          </a:solidFill>
          <a:ln w="12700">
            <a:solidFill>
              <a:srgbClr val="22C55E"/>
            </a:solidFill>
            <a:prstDash val="solid"/>
          </a:ln>
        </p:spPr>
        <p:txBody>
          <a:bodyPr/>
          <a:lstStyle/>
          <a:p>
            <a:endParaRPr lang="en-GB" noProof="0"/>
          </a:p>
        </p:txBody>
      </p:sp>
      <p:sp>
        <p:nvSpPr>
          <p:cNvPr id="14" name="TextBox 13">
            <a:extLst>
              <a:ext uri="{FF2B5EF4-FFF2-40B4-BE49-F238E27FC236}">
                <a16:creationId xmlns:a16="http://schemas.microsoft.com/office/drawing/2014/main" id="{B7448C4C-D2A5-34A3-CC72-4E05CD891307}"/>
              </a:ext>
            </a:extLst>
          </p:cNvPr>
          <p:cNvSpPr txBox="1"/>
          <p:nvPr/>
        </p:nvSpPr>
        <p:spPr>
          <a:xfrm>
            <a:off x="188465" y="995266"/>
            <a:ext cx="7810837" cy="2585323"/>
          </a:xfrm>
          <a:prstGeom prst="rect">
            <a:avLst/>
          </a:prstGeom>
          <a:noFill/>
        </p:spPr>
        <p:txBody>
          <a:bodyPr wrap="square" rtlCol="0">
            <a:spAutoFit/>
          </a:bodyPr>
          <a:lstStyle/>
          <a:p>
            <a:pPr marL="285750" indent="-285750">
              <a:buFont typeface="Arial" panose="020B0604020202020204" pitchFamily="34" charset="0"/>
              <a:buChar char="•"/>
            </a:pPr>
            <a:r>
              <a:rPr lang="en-GB"/>
              <a:t>Team worked well together and supported each other</a:t>
            </a:r>
          </a:p>
          <a:p>
            <a:pPr marL="285750" indent="-285750">
              <a:buFont typeface="Arial" panose="020B0604020202020204" pitchFamily="34" charset="0"/>
              <a:buChar char="•"/>
            </a:pPr>
            <a:r>
              <a:rPr lang="en-GB"/>
              <a:t>Learnt how to successfully develop a product from start to finish</a:t>
            </a:r>
          </a:p>
          <a:p>
            <a:pPr marL="742950" lvl="1" indent="-285750">
              <a:buFont typeface="Calibri" panose="020F0502020204030204" pitchFamily="34" charset="0"/>
              <a:buChar char="–"/>
            </a:pPr>
            <a:r>
              <a:rPr lang="en-GB"/>
              <a:t>both </a:t>
            </a:r>
            <a:r>
              <a:rPr lang="en-GB" err="1"/>
              <a:t>robo</a:t>
            </a:r>
            <a:r>
              <a:rPr lang="en-GB"/>
              <a:t>-advisors give comparable outputs</a:t>
            </a:r>
          </a:p>
          <a:p>
            <a:pPr marL="285750" indent="-285750">
              <a:buFont typeface="Arial" panose="020B0604020202020204" pitchFamily="34" charset="0"/>
              <a:buChar char="•"/>
            </a:pPr>
            <a:r>
              <a:rPr lang="en-GB"/>
              <a:t>Some challenges due to sickness absence </a:t>
            </a:r>
          </a:p>
          <a:p>
            <a:pPr marL="285750" indent="-285750">
              <a:buFont typeface="Arial" panose="020B0604020202020204" pitchFamily="34" charset="0"/>
              <a:buChar char="•"/>
            </a:pPr>
            <a:r>
              <a:rPr lang="en-GB"/>
              <a:t>Agile methodology works well for this type of project </a:t>
            </a:r>
          </a:p>
          <a:p>
            <a:pPr marL="742950" lvl="1" indent="-285750">
              <a:buFont typeface="Calibri" panose="020F0502020204030204" pitchFamily="34" charset="0"/>
              <a:buChar char="–"/>
            </a:pPr>
            <a:r>
              <a:rPr lang="en-GB"/>
              <a:t>take account of developments and can incorporate new research</a:t>
            </a:r>
          </a:p>
          <a:p>
            <a:pPr marL="285750" indent="-285750">
              <a:buFont typeface="Arial" panose="020B0604020202020204" pitchFamily="34" charset="0"/>
              <a:buChar char="•"/>
            </a:pPr>
            <a:r>
              <a:rPr lang="en-GB"/>
              <a:t>Research could have been done earlier</a:t>
            </a:r>
          </a:p>
          <a:p>
            <a:pPr marL="742950" lvl="1" indent="-285750">
              <a:buFont typeface="Calibri" panose="020F0502020204030204" pitchFamily="34" charset="0"/>
              <a:buChar char="–"/>
            </a:pPr>
            <a:r>
              <a:rPr lang="en-GB"/>
              <a:t>Started project before exploring personas</a:t>
            </a:r>
          </a:p>
          <a:p>
            <a:pPr marL="742950" lvl="1" indent="-285750">
              <a:buFont typeface="Calibri" panose="020F0502020204030204" pitchFamily="34" charset="0"/>
              <a:buChar char="–"/>
            </a:pPr>
            <a:r>
              <a:rPr lang="en-GB"/>
              <a:t>Some design decisions started before the research was fully developed</a:t>
            </a:r>
          </a:p>
        </p:txBody>
      </p:sp>
    </p:spTree>
    <p:extLst>
      <p:ext uri="{BB962C8B-B14F-4D97-AF65-F5344CB8AC3E}">
        <p14:creationId xmlns:p14="http://schemas.microsoft.com/office/powerpoint/2010/main" val="1254342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80D06-6C5B-B4CF-4578-769268C25E0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40839E-B681-2A07-D261-6B1FA4F9C1A2}"/>
              </a:ext>
            </a:extLst>
          </p:cNvPr>
          <p:cNvPicPr>
            <a:picLocks noChangeAspect="1"/>
          </p:cNvPicPr>
          <p:nvPr/>
        </p:nvPicPr>
        <p:blipFill>
          <a:blip r:embed="rId3"/>
          <a:srcRect l="13334" t="28243" r="12642" b="31552"/>
          <a:stretch>
            <a:fillRect/>
          </a:stretch>
        </p:blipFill>
        <p:spPr>
          <a:xfrm>
            <a:off x="188465" y="251460"/>
            <a:ext cx="1156241" cy="565202"/>
          </a:xfrm>
          <a:prstGeom prst="rect">
            <a:avLst/>
          </a:prstGeom>
        </p:spPr>
      </p:pic>
      <p:sp>
        <p:nvSpPr>
          <p:cNvPr id="8" name="TextBox 7">
            <a:extLst>
              <a:ext uri="{FF2B5EF4-FFF2-40B4-BE49-F238E27FC236}">
                <a16:creationId xmlns:a16="http://schemas.microsoft.com/office/drawing/2014/main" id="{189C6C2B-D528-165B-CDE2-EF3BB5D9ED4A}"/>
              </a:ext>
            </a:extLst>
          </p:cNvPr>
          <p:cNvSpPr txBox="1"/>
          <p:nvPr/>
        </p:nvSpPr>
        <p:spPr>
          <a:xfrm>
            <a:off x="1723623" y="262664"/>
            <a:ext cx="457200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0" b="1">
                <a:solidFill>
                  <a:srgbClr val="1E2761"/>
                </a:solidFill>
                <a:latin typeface="Calibri" panose="020F0502020204030204"/>
                <a:ea typeface="Calibri"/>
                <a:cs typeface="Calibri"/>
              </a:rPr>
              <a:t>Questions</a:t>
            </a:r>
            <a:endParaRPr kumimoji="0" lang="en-GB" sz="6000" b="1" i="0" u="none" strike="noStrike" kern="1200" cap="none" spc="0" normalizeH="0" baseline="0" noProof="0">
              <a:ln>
                <a:noFill/>
              </a:ln>
              <a:solidFill>
                <a:srgbClr val="1E2761"/>
              </a:solidFill>
              <a:effectLst/>
              <a:uLnTx/>
              <a:uFillTx/>
              <a:latin typeface="Calibri" panose="020F0502020204030204"/>
              <a:ea typeface="Calibri"/>
              <a:cs typeface="Calibri"/>
            </a:endParaRPr>
          </a:p>
        </p:txBody>
      </p:sp>
      <p:sp>
        <p:nvSpPr>
          <p:cNvPr id="3" name="Shape 25">
            <a:extLst>
              <a:ext uri="{FF2B5EF4-FFF2-40B4-BE49-F238E27FC236}">
                <a16:creationId xmlns:a16="http://schemas.microsoft.com/office/drawing/2014/main" id="{8F913DB8-7CC5-DCC1-00B3-EFA76FAC92F9}"/>
              </a:ext>
            </a:extLst>
          </p:cNvPr>
          <p:cNvSpPr/>
          <p:nvPr/>
        </p:nvSpPr>
        <p:spPr>
          <a:xfrm>
            <a:off x="8813158" y="0"/>
            <a:ext cx="330842" cy="5143500"/>
          </a:xfrm>
          <a:prstGeom prst="rect">
            <a:avLst/>
          </a:prstGeom>
          <a:solidFill>
            <a:srgbClr val="22C55E"/>
          </a:solidFill>
          <a:ln w="12700">
            <a:solidFill>
              <a:srgbClr val="22C55E"/>
            </a:solidFill>
            <a:prstDash val="solid"/>
          </a:ln>
        </p:spPr>
        <p:txBody>
          <a:bodyPr/>
          <a:lstStyle/>
          <a:p>
            <a:endParaRPr lang="en-GB" noProof="0"/>
          </a:p>
        </p:txBody>
      </p:sp>
      <p:sp>
        <p:nvSpPr>
          <p:cNvPr id="4" name="Shape 38">
            <a:extLst>
              <a:ext uri="{FF2B5EF4-FFF2-40B4-BE49-F238E27FC236}">
                <a16:creationId xmlns:a16="http://schemas.microsoft.com/office/drawing/2014/main" id="{CDCA2678-C40A-1705-95CE-2DCE2556C594}"/>
              </a:ext>
            </a:extLst>
          </p:cNvPr>
          <p:cNvSpPr/>
          <p:nvPr/>
        </p:nvSpPr>
        <p:spPr>
          <a:xfrm>
            <a:off x="188465" y="4140557"/>
            <a:ext cx="8408182" cy="913433"/>
          </a:xfrm>
          <a:prstGeom prst="rect">
            <a:avLst/>
          </a:prstGeom>
          <a:solidFill>
            <a:srgbClr val="1E2761"/>
          </a:solidFill>
          <a:ln w="12700">
            <a:solidFill>
              <a:srgbClr val="1E2761"/>
            </a:solidFill>
            <a:prstDash val="solid"/>
          </a:ln>
        </p:spPr>
        <p:txBody>
          <a:bodyPr/>
          <a:lstStyle/>
          <a:p>
            <a:endParaRPr lang="en-GB" noProof="0"/>
          </a:p>
        </p:txBody>
      </p:sp>
      <p:sp>
        <p:nvSpPr>
          <p:cNvPr id="5" name="Text 39">
            <a:extLst>
              <a:ext uri="{FF2B5EF4-FFF2-40B4-BE49-F238E27FC236}">
                <a16:creationId xmlns:a16="http://schemas.microsoft.com/office/drawing/2014/main" id="{18C317E6-CFB8-F26B-E930-72F521C5AC77}"/>
              </a:ext>
            </a:extLst>
          </p:cNvPr>
          <p:cNvSpPr/>
          <p:nvPr/>
        </p:nvSpPr>
        <p:spPr>
          <a:xfrm>
            <a:off x="285056" y="4416871"/>
            <a:ext cx="8234319" cy="533858"/>
          </a:xfrm>
          <a:prstGeom prst="rect">
            <a:avLst/>
          </a:prstGeom>
          <a:noFill/>
          <a:ln/>
        </p:spPr>
        <p:txBody>
          <a:bodyPr wrap="square" lIns="0" tIns="0" rIns="0" bIns="0" rtlCol="0" anchor="ctr"/>
          <a:lstStyle/>
          <a:p>
            <a:r>
              <a:rPr lang="en-GB" sz="2800" noProof="0">
                <a:solidFill>
                  <a:srgbClr val="000000"/>
                </a:solidFill>
                <a:latin typeface="Calibri"/>
                <a:ea typeface="Calibri"/>
                <a:cs typeface="Calibri"/>
              </a:rPr>
              <a:t>🚀  </a:t>
            </a:r>
            <a:r>
              <a:rPr lang="en-GB" sz="2800" b="1" kern="0" spc="400" noProof="0">
                <a:solidFill>
                  <a:srgbClr val="F59E0B"/>
                </a:solidFill>
                <a:latin typeface="Calibri"/>
                <a:ea typeface="Calibri"/>
                <a:cs typeface="Calibri"/>
              </a:rPr>
              <a:t>LIVE DEMO· </a:t>
            </a:r>
            <a:r>
              <a:rPr lang="en-GB" sz="2800" i="1" noProof="0">
                <a:solidFill>
                  <a:srgbClr val="FFFFFF"/>
                </a:solidFill>
                <a:latin typeface="Calibri"/>
                <a:ea typeface="Calibri"/>
                <a:cs typeface="Calibri"/>
              </a:rPr>
              <a:t>Please ask if you’d like to see a live demo of either version of the </a:t>
            </a:r>
            <a:r>
              <a:rPr lang="en-GB" sz="2800" i="1" noProof="0" err="1">
                <a:solidFill>
                  <a:srgbClr val="FFFFFF"/>
                </a:solidFill>
                <a:latin typeface="Calibri"/>
                <a:ea typeface="Calibri"/>
                <a:cs typeface="Calibri"/>
              </a:rPr>
              <a:t>robo</a:t>
            </a:r>
            <a:r>
              <a:rPr lang="en-GB" sz="2800" i="1" noProof="0">
                <a:solidFill>
                  <a:srgbClr val="FFFFFF"/>
                </a:solidFill>
                <a:latin typeface="Calibri"/>
                <a:ea typeface="Calibri"/>
                <a:cs typeface="Calibri"/>
              </a:rPr>
              <a:t>-advisor. </a:t>
            </a:r>
            <a:endParaRPr lang="en-GB" sz="2800" noProof="0">
              <a:solidFill>
                <a:srgbClr val="00B0F0"/>
              </a:solidFill>
              <a:latin typeface="Calibri"/>
              <a:ea typeface="Calibri"/>
              <a:cs typeface="Calibri"/>
            </a:endParaRPr>
          </a:p>
          <a:p>
            <a:endParaRPr lang="en-GB" sz="1200" i="1" noProof="0">
              <a:solidFill>
                <a:srgbClr val="FFFFFF"/>
              </a:solidFill>
              <a:ea typeface="Calibri"/>
              <a:cs typeface="Calibri"/>
            </a:endParaRPr>
          </a:p>
        </p:txBody>
      </p:sp>
      <p:pic>
        <p:nvPicPr>
          <p:cNvPr id="2050" name="Picture 2" descr="Free Question Mark, Download Free Question Mark png images, Free ...">
            <a:extLst>
              <a:ext uri="{FF2B5EF4-FFF2-40B4-BE49-F238E27FC236}">
                <a16:creationId xmlns:a16="http://schemas.microsoft.com/office/drawing/2014/main" id="{C2E26838-84DB-F6C4-8E15-FA9F862D72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405" r="17975"/>
          <a:stretch>
            <a:fillRect/>
          </a:stretch>
        </p:blipFill>
        <p:spPr bwMode="auto">
          <a:xfrm>
            <a:off x="5911403" y="251460"/>
            <a:ext cx="2414789" cy="3473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921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a842776-79e9-438e-8f78-8921c6636dba">
      <Terms xmlns="http://schemas.microsoft.com/office/infopath/2007/PartnerControls"/>
    </lcf76f155ced4ddcb4097134ff3c332f>
    <TaxCatchAll xmlns="b40a7a46-b57b-462a-8107-32dd1e10e2b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C8436F971C48418867FB92B5824578" ma:contentTypeVersion="11" ma:contentTypeDescription="Create a new document." ma:contentTypeScope="" ma:versionID="c51d2d5bfc5e5afdb94e6a80452e056b">
  <xsd:schema xmlns:xsd="http://www.w3.org/2001/XMLSchema" xmlns:xs="http://www.w3.org/2001/XMLSchema" xmlns:p="http://schemas.microsoft.com/office/2006/metadata/properties" xmlns:ns2="9a842776-79e9-438e-8f78-8921c6636dba" xmlns:ns3="b40a7a46-b57b-462a-8107-32dd1e10e2b8" targetNamespace="http://schemas.microsoft.com/office/2006/metadata/properties" ma:root="true" ma:fieldsID="0c5d04fe03157f8249b80a21f3ad049d" ns2:_="" ns3:_="">
    <xsd:import namespace="9a842776-79e9-438e-8f78-8921c6636dba"/>
    <xsd:import namespace="b40a7a46-b57b-462a-8107-32dd1e10e2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842776-79e9-438e-8f78-8921c6636d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2edd95a-f8c2-4715-9b78-af595b67b1e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0a7a46-b57b-462a-8107-32dd1e10e2b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108ad71-428d-4a05-955b-be7a5c1de2e9}" ma:internalName="TaxCatchAll" ma:showField="CatchAllData" ma:web="b40a7a46-b57b-462a-8107-32dd1e10e2b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FD56F3-AD1C-4F27-A383-3CEB579A187F}">
  <ds:schemaRefs>
    <ds:schemaRef ds:uri="9a842776-79e9-438e-8f78-8921c6636dba"/>
    <ds:schemaRef ds:uri="b40a7a46-b57b-462a-8107-32dd1e10e2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F2969FB-AFAF-4C67-B154-298879ACE7A4}">
  <ds:schemaRefs>
    <ds:schemaRef ds:uri="http://schemas.microsoft.com/sharepoint/v3/contenttype/forms"/>
  </ds:schemaRefs>
</ds:datastoreItem>
</file>

<file path=customXml/itemProps3.xml><?xml version="1.0" encoding="utf-8"?>
<ds:datastoreItem xmlns:ds="http://schemas.openxmlformats.org/officeDocument/2006/customXml" ds:itemID="{0077072F-62DA-4B97-B822-1794CFFBD3B5}">
  <ds:schemaRefs>
    <ds:schemaRef ds:uri="9a842776-79e9-438e-8f78-8921c6636dba"/>
    <ds:schemaRef ds:uri="b40a7a46-b57b-462a-8107-32dd1e10e2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31</Slides>
  <Notes>24</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Optimiser – Kay's Contribution</dc:title>
  <dc:subject>PptxGenJS Presentation</dc:subject>
  <dc:creator>PptxGenJS</dc:creator>
  <cp:revision>2</cp:revision>
  <dcterms:created xsi:type="dcterms:W3CDTF">2026-04-30T21:10:39Z</dcterms:created>
  <dcterms:modified xsi:type="dcterms:W3CDTF">2026-05-05T14:20:36Z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0x01010030C8436F971C48418867FB92B5824578</vt:lpwstr>
  </property>
  <property fmtid="{D5CDD505-2E9C-101B-9397-08002B2CF9AE}" pid="3" name="MediaServiceImageTags">
    <vt:lpwstr/>
  </property>
</Properties>
</file>